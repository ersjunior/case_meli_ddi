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78" r:id="rId4"/>
    <p:sldId id="257" r:id="rId5"/>
    <p:sldId id="260" r:id="rId6"/>
    <p:sldId id="261" r:id="rId7"/>
    <p:sldId id="262" r:id="rId8"/>
    <p:sldId id="272" r:id="rId9"/>
    <p:sldId id="266" r:id="rId10"/>
    <p:sldId id="263" r:id="rId11"/>
    <p:sldId id="264" r:id="rId12"/>
    <p:sldId id="265" r:id="rId13"/>
    <p:sldId id="273" r:id="rId14"/>
    <p:sldId id="267" r:id="rId15"/>
    <p:sldId id="268" r:id="rId16"/>
    <p:sldId id="269" r:id="rId17"/>
    <p:sldId id="270" r:id="rId18"/>
    <p:sldId id="271" r:id="rId19"/>
    <p:sldId id="279" r:id="rId20"/>
    <p:sldId id="274" r:id="rId21"/>
    <p:sldId id="275" r:id="rId22"/>
    <p:sldId id="276" r:id="rId23"/>
    <p:sldId id="280" r:id="rId24"/>
    <p:sldId id="277" r:id="rId2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33"/>
    <a:srgbClr val="F5EB3F"/>
    <a:srgbClr val="84B9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39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SimpleTimelineDefaultColorVariant">
  <dgm:title val="Simple Timeline Default Color Variant"/>
  <dgm:desc val="Simple Timeline Default Color Variant"/>
  <dgm:catLst>
    <dgm:cat type="Other" pri="2"/>
  </dgm:catLst>
  <dgm:styleLbl name="node0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>
        <a:alpha val="0"/>
      </a:schemeClr>
    </dgm:fillClrLst>
    <dgm:linClrLst meth="repeat">
      <a:schemeClr val="accent1">
        <a:alpha val="0"/>
      </a:schemeClr>
    </dgm:linClrLst>
    <dgm:effectClrLst/>
    <dgm:txLinClrLst/>
    <dgm:txFillClrLst meth="repeat">
      <a:schemeClr val="accent1"/>
    </dgm:txFillClrLst>
    <dgm:txEffectClrLst/>
  </dgm:styleLbl>
  <dgm:styleLbl name="node1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 meth="repeat">
      <a:schemeClr val="accent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2">
        <a:alpha val="9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907C661-7189-4999-A7EF-FEC0765C3F7F}" type="doc">
      <dgm:prSet loTypeId="urn:microsoft.com/office/officeart/2024/3/layout/SimpleTimelineDefaultVariant" loCatId="Timeline" qsTypeId="urn:microsoft.com/office/officeart/2005/8/quickstyle/simple1" qsCatId="simple" csTypeId="urn:microsoft.com/office/officeart/2005/8/colors/SimpleTimelineDefaultColorVariant" csCatId="other" phldr="1"/>
      <dgm:spPr/>
      <dgm:t>
        <a:bodyPr/>
        <a:lstStyle/>
        <a:p>
          <a:endParaRPr lang="pt-BR"/>
        </a:p>
      </dgm:t>
    </dgm:pt>
    <dgm:pt modelId="{1E6F1374-BD0F-4666-8617-948576AEC89E}">
      <dgm:prSet/>
      <dgm:spPr/>
      <dgm:t>
        <a:bodyPr/>
        <a:lstStyle/>
        <a:p>
          <a:pPr>
            <a:defRPr b="1"/>
          </a:pPr>
          <a:r>
            <a:rPr lang="pt-BR" dirty="0"/>
            <a:t>Contexto do Desafio</a:t>
          </a:r>
        </a:p>
      </dgm:t>
    </dgm:pt>
    <dgm:pt modelId="{B85F922F-2956-4650-9ECD-0267BBB344B7}" type="parTrans" cxnId="{D33EC3CB-66DE-4413-A311-4E64103CECBE}">
      <dgm:prSet/>
      <dgm:spPr/>
      <dgm:t>
        <a:bodyPr/>
        <a:lstStyle/>
        <a:p>
          <a:endParaRPr lang="pt-BR"/>
        </a:p>
      </dgm:t>
    </dgm:pt>
    <dgm:pt modelId="{09EE6CBD-76A8-40FB-BA81-A3EE0D761B2B}" type="sibTrans" cxnId="{D33EC3CB-66DE-4413-A311-4E64103CECBE}">
      <dgm:prSet/>
      <dgm:spPr/>
      <dgm:t>
        <a:bodyPr/>
        <a:lstStyle/>
        <a:p>
          <a:endParaRPr lang="pt-BR"/>
        </a:p>
      </dgm:t>
    </dgm:pt>
    <dgm:pt modelId="{37D012BD-A8D2-47F0-B7C2-3AC8A6320728}">
      <dgm:prSet custT="1"/>
      <dgm:spPr/>
      <dgm:t>
        <a:bodyPr/>
        <a:lstStyle/>
        <a:p>
          <a:r>
            <a:rPr lang="pt-BR" sz="1000" dirty="0"/>
            <a:t>Reformular o relatório do </a:t>
          </a:r>
          <a:r>
            <a:rPr lang="pt-BR" sz="1000" b="1" dirty="0"/>
            <a:t>Data Driven Index (DDI)</a:t>
          </a:r>
          <a:r>
            <a:rPr lang="pt-BR" sz="1000" b="0" dirty="0"/>
            <a:t>:</a:t>
          </a:r>
          <a:br>
            <a:rPr lang="pt-BR" sz="1000" b="1" dirty="0"/>
          </a:br>
          <a:r>
            <a:rPr lang="pt-BR" sz="1000" b="0" dirty="0"/>
            <a:t>Í</a:t>
          </a:r>
          <a:r>
            <a:rPr lang="pt-BR" sz="1000" dirty="0"/>
            <a:t>ndice que mede o quanto as equipes são orientadas a dados. </a:t>
          </a:r>
          <a:br>
            <a:rPr lang="pt-BR" sz="1000" dirty="0"/>
          </a:br>
          <a:r>
            <a:rPr lang="pt-BR" sz="1000" dirty="0"/>
            <a:t>O trabalho envolve diagnóstico do dashboard atual, definição de métricas, modelagem de dados, escrita de queries SQL e criação de um </a:t>
          </a:r>
          <a:r>
            <a:rPr lang="pt-BR" sz="1000" dirty="0" err="1"/>
            <a:t>mockup</a:t>
          </a:r>
          <a:r>
            <a:rPr lang="pt-BR" sz="1000" dirty="0"/>
            <a:t> de dashboard. </a:t>
          </a:r>
        </a:p>
        <a:p>
          <a:r>
            <a:rPr lang="pt-BR" sz="1000" dirty="0"/>
            <a:t>Os dados são fictícios:</a:t>
          </a:r>
          <a:br>
            <a:rPr lang="pt-BR" sz="1000" dirty="0"/>
          </a:br>
          <a:r>
            <a:rPr lang="pt-BR" sz="1000" b="0" dirty="0"/>
            <a:t>(800 colaboradores, 10 sites, 12 divisões, </a:t>
          </a:r>
          <a:r>
            <a:rPr lang="pt-BR" sz="1000" b="0" dirty="0" err="1"/>
            <a:t>jan</a:t>
          </a:r>
          <a:r>
            <a:rPr lang="pt-BR" sz="1000" b="0" dirty="0"/>
            <a:t>–dez 2025)</a:t>
          </a:r>
          <a:br>
            <a:rPr lang="pt-BR" sz="1000" dirty="0"/>
          </a:br>
          <a:r>
            <a:rPr lang="pt-BR" sz="1000" dirty="0"/>
            <a:t>Fornecidos em dois </a:t>
          </a:r>
          <a:r>
            <a:rPr lang="pt-BR" sz="1000" dirty="0" err="1"/>
            <a:t>CSVs</a:t>
          </a:r>
          <a:r>
            <a:rPr lang="pt-BR" sz="1000" dirty="0"/>
            <a:t>.</a:t>
          </a:r>
        </a:p>
      </dgm:t>
    </dgm:pt>
    <dgm:pt modelId="{47A71F38-FCD8-42C3-9804-890C41D21282}" type="parTrans" cxnId="{EBD7A8C9-49BA-488B-BD40-D40D5CE92342}">
      <dgm:prSet/>
      <dgm:spPr/>
      <dgm:t>
        <a:bodyPr/>
        <a:lstStyle/>
        <a:p>
          <a:endParaRPr lang="pt-BR"/>
        </a:p>
      </dgm:t>
    </dgm:pt>
    <dgm:pt modelId="{744A2374-5017-472D-BE31-C2CF5002F0C7}" type="sibTrans" cxnId="{EBD7A8C9-49BA-488B-BD40-D40D5CE92342}">
      <dgm:prSet/>
      <dgm:spPr/>
      <dgm:t>
        <a:bodyPr/>
        <a:lstStyle/>
        <a:p>
          <a:endParaRPr lang="pt-BR"/>
        </a:p>
      </dgm:t>
    </dgm:pt>
    <dgm:pt modelId="{E759413F-817C-49EE-9F4B-210466F159ED}">
      <dgm:prSet custT="1"/>
      <dgm:spPr/>
      <dgm:t>
        <a:bodyPr/>
        <a:lstStyle/>
        <a:p>
          <a:pPr>
            <a:defRPr b="1"/>
          </a:pPr>
          <a:r>
            <a:rPr lang="pt-BR" sz="1800" dirty="0"/>
            <a:t>Solução Proposta – DDI Reformulado</a:t>
          </a:r>
        </a:p>
      </dgm:t>
    </dgm:pt>
    <dgm:pt modelId="{AA125696-95C8-42DB-A3DA-EBCDB45CB33E}" type="parTrans" cxnId="{E72B1864-800A-42AE-BBF0-22CF6E6D4F34}">
      <dgm:prSet/>
      <dgm:spPr/>
      <dgm:t>
        <a:bodyPr/>
        <a:lstStyle/>
        <a:p>
          <a:endParaRPr lang="pt-BR"/>
        </a:p>
      </dgm:t>
    </dgm:pt>
    <dgm:pt modelId="{DF82E9B9-FAED-4FF8-A1B6-B3217AD49A71}" type="sibTrans" cxnId="{E72B1864-800A-42AE-BBF0-22CF6E6D4F34}">
      <dgm:prSet/>
      <dgm:spPr/>
      <dgm:t>
        <a:bodyPr/>
        <a:lstStyle/>
        <a:p>
          <a:endParaRPr lang="pt-BR"/>
        </a:p>
      </dgm:t>
    </dgm:pt>
    <dgm:pt modelId="{BC0130BD-7548-43E1-AA92-FA27A4DA484D}">
      <dgm:prSet custT="1"/>
      <dgm:spPr/>
      <dgm:t>
        <a:bodyPr/>
        <a:lstStyle/>
        <a:p>
          <a:r>
            <a:rPr lang="pt-BR" sz="1000" dirty="0"/>
            <a:t>A solução abrange cinco frentes: </a:t>
          </a:r>
          <a:br>
            <a:rPr lang="pt-BR" sz="1000" dirty="0"/>
          </a:br>
          <a:r>
            <a:rPr lang="pt-BR" sz="1000" dirty="0"/>
            <a:t>    • Diagnóstico das lacunas do dashboard atual</a:t>
          </a:r>
          <a:br>
            <a:rPr lang="pt-BR" sz="1000" dirty="0"/>
          </a:br>
          <a:r>
            <a:rPr lang="pt-BR" sz="1000" dirty="0"/>
            <a:t>    • Criação de um dicionário de métricas com regras claras de elegibilidade</a:t>
          </a:r>
          <a:br>
            <a:rPr lang="pt-BR" sz="1000" dirty="0"/>
          </a:br>
          <a:r>
            <a:rPr lang="pt-BR" sz="1000" dirty="0"/>
            <a:t>    • Modelagem em camadas Silver/Gold para histórico organizacional</a:t>
          </a:r>
          <a:br>
            <a:rPr lang="pt-BR" sz="1000" dirty="0"/>
          </a:br>
          <a:r>
            <a:rPr lang="pt-BR" sz="1000" dirty="0"/>
            <a:t>    • Queries SQL para calcular:</a:t>
          </a:r>
          <a:br>
            <a:rPr lang="pt-BR" sz="1000" dirty="0"/>
          </a:br>
          <a:r>
            <a:rPr lang="pt-BR" sz="1000" dirty="0"/>
            <a:t>	colaboradores ativos, usuários potenciais e </a:t>
          </a:r>
          <a:r>
            <a:rPr lang="pt-BR" sz="1000" i="1" dirty="0"/>
            <a:t>data-</a:t>
          </a:r>
          <a:r>
            <a:rPr lang="pt-BR" sz="1000" i="1" dirty="0" err="1"/>
            <a:t>driven</a:t>
          </a:r>
          <a:r>
            <a:rPr lang="pt-BR" sz="1000" dirty="0"/>
            <a:t> </a:t>
          </a:r>
          <a:r>
            <a:rPr lang="pt-BR" sz="1000" dirty="0" err="1"/>
            <a:t>users</a:t>
          </a:r>
          <a:br>
            <a:rPr lang="pt-BR" sz="1000" dirty="0"/>
          </a:br>
          <a:r>
            <a:rPr lang="pt-BR" sz="1000" dirty="0"/>
            <a:t>    • </a:t>
          </a:r>
          <a:r>
            <a:rPr lang="pt-BR" sz="1000" dirty="0" err="1"/>
            <a:t>Mockup</a:t>
          </a:r>
          <a:r>
            <a:rPr lang="pt-BR" sz="1000" dirty="0"/>
            <a:t> de dashboard com navegação hierárquica </a:t>
          </a:r>
          <a:br>
            <a:rPr lang="pt-BR" sz="1000" dirty="0"/>
          </a:br>
          <a:r>
            <a:rPr lang="pt-BR" sz="1000" dirty="0"/>
            <a:t>	empresa → site → divisão, mostrando variações </a:t>
          </a:r>
          <a:r>
            <a:rPr lang="pt-BR" sz="1000" dirty="0" err="1"/>
            <a:t>MoM</a:t>
          </a:r>
          <a:r>
            <a:rPr lang="pt-BR" sz="1000" dirty="0"/>
            <a:t> e tendências.</a:t>
          </a:r>
        </a:p>
      </dgm:t>
    </dgm:pt>
    <dgm:pt modelId="{5F08CC58-70EB-4A95-B13E-5BF764362B29}" type="parTrans" cxnId="{C42FAEF4-E5A9-453B-85B4-4FD6BB44B985}">
      <dgm:prSet/>
      <dgm:spPr/>
      <dgm:t>
        <a:bodyPr/>
        <a:lstStyle/>
        <a:p>
          <a:endParaRPr lang="pt-BR"/>
        </a:p>
      </dgm:t>
    </dgm:pt>
    <dgm:pt modelId="{4A09AFDF-2EF5-480B-A27A-641E2F3834DB}" type="sibTrans" cxnId="{C42FAEF4-E5A9-453B-85B4-4FD6BB44B985}">
      <dgm:prSet/>
      <dgm:spPr/>
      <dgm:t>
        <a:bodyPr/>
        <a:lstStyle/>
        <a:p>
          <a:endParaRPr lang="pt-BR"/>
        </a:p>
      </dgm:t>
    </dgm:pt>
    <dgm:pt modelId="{6D0AA302-C9C3-4564-A409-792F7FD47725}" type="pres">
      <dgm:prSet presAssocID="{7907C661-7189-4999-A7EF-FEC0765C3F7F}" presName="root" presStyleCnt="0">
        <dgm:presLayoutVars>
          <dgm:chMax/>
          <dgm:chPref/>
          <dgm:animLvl val="lvl"/>
        </dgm:presLayoutVars>
      </dgm:prSet>
      <dgm:spPr/>
    </dgm:pt>
    <dgm:pt modelId="{E116BE69-BC1C-4FF9-81A3-2AA0FC4DD412}" type="pres">
      <dgm:prSet presAssocID="{7907C661-7189-4999-A7EF-FEC0765C3F7F}" presName="divider" presStyleLbl="alignAcc1" presStyleIdx="0" presStyleCnt="1"/>
      <dgm:spPr>
        <a:solidFill>
          <a:schemeClr val="dk2">
            <a:alpha val="90000"/>
            <a:hueOff val="0"/>
            <a:satOff val="0"/>
            <a:lumOff val="0"/>
            <a:alphaOff val="0"/>
          </a:schemeClr>
        </a:solidFill>
        <a:ln w="12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 w="med" len="med"/>
        </a:ln>
        <a:effectLst/>
      </dgm:spPr>
    </dgm:pt>
    <dgm:pt modelId="{11CFD405-7141-4065-92F0-D656F6A9BE11}" type="pres">
      <dgm:prSet presAssocID="{7907C661-7189-4999-A7EF-FEC0765C3F7F}" presName="nodes" presStyleCnt="0">
        <dgm:presLayoutVars>
          <dgm:chMax/>
          <dgm:chPref/>
          <dgm:animLvl val="lvl"/>
        </dgm:presLayoutVars>
      </dgm:prSet>
      <dgm:spPr/>
    </dgm:pt>
    <dgm:pt modelId="{5B2BB774-68D3-4A7E-9517-00A5D039A7AD}" type="pres">
      <dgm:prSet presAssocID="{1E6F1374-BD0F-4666-8617-948576AEC89E}" presName="composite1" presStyleCnt="0"/>
      <dgm:spPr/>
    </dgm:pt>
    <dgm:pt modelId="{89B333A2-1790-43BE-BB1D-583682B05E2E}" type="pres">
      <dgm:prSet presAssocID="{1E6F1374-BD0F-4666-8617-948576AEC89E}" presName="ConnectorPoint1" presStyleLbl="lnNode1" presStyleIdx="0" presStyleCnt="2"/>
      <dgm:spPr/>
    </dgm:pt>
    <dgm:pt modelId="{A7362CF3-45AF-4489-8C00-F765E89BB0E4}" type="pres">
      <dgm:prSet presAssocID="{1E6F1374-BD0F-4666-8617-948576AEC89E}" presName="DropPinPlaceHolder1" presStyleCnt="0"/>
      <dgm:spPr/>
    </dgm:pt>
    <dgm:pt modelId="{18C53C3E-A9DB-4201-86C7-99A17CB97F0E}" type="pres">
      <dgm:prSet presAssocID="{1E6F1374-BD0F-4666-8617-948576AEC89E}" presName="DropPin1" presStyleLbl="alignNode1" presStyleIdx="0" presStyleCnt="4"/>
      <dgm:spPr/>
    </dgm:pt>
    <dgm:pt modelId="{D7F4ADA1-CED2-4245-80AB-C9ADC54C50C6}" type="pres">
      <dgm:prSet presAssocID="{1E6F1374-BD0F-4666-8617-948576AEC89E}" presName="Ellipse1" presStyleLbl="fgAcc1" presStyleIdx="0" presStyleCnt="2"/>
      <dgm:spPr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gm:spPr>
    </dgm:pt>
    <dgm:pt modelId="{7D46428A-D549-472B-A378-C9919D3773C6}" type="pres">
      <dgm:prSet presAssocID="{1E6F1374-BD0F-4666-8617-948576AEC89E}" presName="L2TextContainer1" presStyleLbl="revTx" presStyleIdx="0" presStyleCnt="2" custScaleX="126097" custLinFactNeighborX="13074" custLinFactNeighborY="-16213">
        <dgm:presLayoutVars>
          <dgm:bulletEnabled val="1"/>
        </dgm:presLayoutVars>
      </dgm:prSet>
      <dgm:spPr/>
    </dgm:pt>
    <dgm:pt modelId="{947C8E59-F1BD-4309-9F23-AB4AA51206FE}" type="pres">
      <dgm:prSet presAssocID="{1E6F1374-BD0F-4666-8617-948576AEC89E}" presName="L1TextContainer1" presStyleLbl="alignNode1" presStyleIdx="1" presStyleCnt="4" custScaleX="137666" custScaleY="60171" custLinFactNeighborX="17640" custLinFactNeighborY="-23345">
        <dgm:presLayoutVars>
          <dgm:chMax val="1"/>
          <dgm:chPref val="1"/>
          <dgm:bulletEnabled val="1"/>
        </dgm:presLayoutVars>
      </dgm:prSet>
      <dgm:spPr/>
    </dgm:pt>
    <dgm:pt modelId="{3BD47FDE-6080-47D8-9F01-1820D5567636}" type="pres">
      <dgm:prSet presAssocID="{1E6F1374-BD0F-4666-8617-948576AEC89E}" presName="ConnectLine1" presStyleLbl="sibTrans1D1" presStyleIdx="0" presStyleCnt="2"/>
      <dgm:spPr/>
    </dgm:pt>
    <dgm:pt modelId="{12798FB0-641C-4241-8A4C-21655E12C559}" type="pres">
      <dgm:prSet presAssocID="{1E6F1374-BD0F-4666-8617-948576AEC89E}" presName="EmptyPlaceHolder1" presStyleCnt="0"/>
      <dgm:spPr/>
    </dgm:pt>
    <dgm:pt modelId="{6C523343-04E2-4423-8EC2-A751DE1CED72}" type="pres">
      <dgm:prSet presAssocID="{09EE6CBD-76A8-40FB-BA81-A3EE0D761B2B}" presName="spaceBetweenRectangles1" presStyleCnt="0"/>
      <dgm:spPr/>
    </dgm:pt>
    <dgm:pt modelId="{B40B80BF-CB12-4062-A80D-2BD9C8E6C7D5}" type="pres">
      <dgm:prSet presAssocID="{E759413F-817C-49EE-9F4B-210466F159ED}" presName="composite1" presStyleCnt="0"/>
      <dgm:spPr/>
    </dgm:pt>
    <dgm:pt modelId="{FDB2A33A-23B3-4859-B4AF-8D5063A33DE4}" type="pres">
      <dgm:prSet presAssocID="{E759413F-817C-49EE-9F4B-210466F159ED}" presName="ConnectorPoint1" presStyleLbl="lnNode1" presStyleIdx="1" presStyleCnt="2"/>
      <dgm:spPr/>
    </dgm:pt>
    <dgm:pt modelId="{07A1BF20-5A37-4CC3-B516-692A919F48A0}" type="pres">
      <dgm:prSet presAssocID="{E759413F-817C-49EE-9F4B-210466F159ED}" presName="DropPinPlaceHolder1" presStyleCnt="0"/>
      <dgm:spPr/>
    </dgm:pt>
    <dgm:pt modelId="{E27E2810-E236-4EB2-B0A8-B2A825055598}" type="pres">
      <dgm:prSet presAssocID="{E759413F-817C-49EE-9F4B-210466F159ED}" presName="DropPin1" presStyleLbl="alignNode1" presStyleIdx="2" presStyleCnt="4"/>
      <dgm:spPr/>
    </dgm:pt>
    <dgm:pt modelId="{6760AB24-594C-4E18-B5A1-A1B2E03AD3F0}" type="pres">
      <dgm:prSet presAssocID="{E759413F-817C-49EE-9F4B-210466F159ED}" presName="Ellipse1" presStyleLbl="fgAcc1" presStyleIdx="1" presStyleCnt="2"/>
      <dgm:spPr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gm:spPr>
    </dgm:pt>
    <dgm:pt modelId="{5EDECD79-000F-4FD7-BB7D-FD933CB12BE3}" type="pres">
      <dgm:prSet presAssocID="{E759413F-817C-49EE-9F4B-210466F159ED}" presName="L2TextContainer1" presStyleLbl="revTx" presStyleIdx="1" presStyleCnt="2" custScaleX="115773" custScaleY="148659" custLinFactNeighborX="-17313" custLinFactNeighborY="-1874">
        <dgm:presLayoutVars>
          <dgm:bulletEnabled val="1"/>
        </dgm:presLayoutVars>
      </dgm:prSet>
      <dgm:spPr/>
    </dgm:pt>
    <dgm:pt modelId="{E8CAE1BF-801A-4829-B674-740E72A57408}" type="pres">
      <dgm:prSet presAssocID="{E759413F-817C-49EE-9F4B-210466F159ED}" presName="L1TextContainer1" presStyleLbl="alignNode1" presStyleIdx="3" presStyleCnt="4" custScaleX="115120" custScaleY="56791" custLinFactNeighborX="-19639" custLinFactNeighborY="-18114">
        <dgm:presLayoutVars>
          <dgm:chMax val="1"/>
          <dgm:chPref val="1"/>
          <dgm:bulletEnabled val="1"/>
        </dgm:presLayoutVars>
      </dgm:prSet>
      <dgm:spPr/>
    </dgm:pt>
    <dgm:pt modelId="{8925D41D-A142-4F88-BE6D-532F0F396482}" type="pres">
      <dgm:prSet presAssocID="{E759413F-817C-49EE-9F4B-210466F159ED}" presName="ConnectLine1" presStyleLbl="sibTrans1D1" presStyleIdx="1" presStyleCnt="2" custLinFactX="-1305802" custLinFactNeighborX="-1400000" custLinFactNeighborY="6857"/>
      <dgm:spPr/>
    </dgm:pt>
    <dgm:pt modelId="{593E0EE5-CFA7-432D-8DD0-A4D3757BD930}" type="pres">
      <dgm:prSet presAssocID="{E759413F-817C-49EE-9F4B-210466F159ED}" presName="EmptyPlaceHolder1" presStyleCnt="0"/>
      <dgm:spPr/>
    </dgm:pt>
  </dgm:ptLst>
  <dgm:cxnLst>
    <dgm:cxn modelId="{B27A0E31-368E-461A-87BE-E1024B5BCDEF}" type="presOf" srcId="{37D012BD-A8D2-47F0-B7C2-3AC8A6320728}" destId="{7D46428A-D549-472B-A378-C9919D3773C6}" srcOrd="0" destOrd="0" presId="urn:microsoft.com/office/officeart/2024/3/layout/SimpleTimelineDefaultVariant"/>
    <dgm:cxn modelId="{E72B1864-800A-42AE-BBF0-22CF6E6D4F34}" srcId="{7907C661-7189-4999-A7EF-FEC0765C3F7F}" destId="{E759413F-817C-49EE-9F4B-210466F159ED}" srcOrd="1" destOrd="0" parTransId="{AA125696-95C8-42DB-A3DA-EBCDB45CB33E}" sibTransId="{DF82E9B9-FAED-4FF8-A1B6-B3217AD49A71}"/>
    <dgm:cxn modelId="{0882A781-C5C9-4074-9F69-E97289E739AC}" type="presOf" srcId="{7907C661-7189-4999-A7EF-FEC0765C3F7F}" destId="{6D0AA302-C9C3-4564-A409-792F7FD47725}" srcOrd="0" destOrd="0" presId="urn:microsoft.com/office/officeart/2024/3/layout/SimpleTimelineDefaultVariant"/>
    <dgm:cxn modelId="{F3E30194-8615-4752-AC43-7298F43DCCB2}" type="presOf" srcId="{E759413F-817C-49EE-9F4B-210466F159ED}" destId="{E8CAE1BF-801A-4829-B674-740E72A57408}" srcOrd="0" destOrd="0" presId="urn:microsoft.com/office/officeart/2024/3/layout/SimpleTimelineDefaultVariant"/>
    <dgm:cxn modelId="{F0455CB9-EF4D-49F4-A0B9-834F6D0B1C01}" type="presOf" srcId="{BC0130BD-7548-43E1-AA92-FA27A4DA484D}" destId="{5EDECD79-000F-4FD7-BB7D-FD933CB12BE3}" srcOrd="0" destOrd="0" presId="urn:microsoft.com/office/officeart/2024/3/layout/SimpleTimelineDefaultVariant"/>
    <dgm:cxn modelId="{EBD7A8C9-49BA-488B-BD40-D40D5CE92342}" srcId="{1E6F1374-BD0F-4666-8617-948576AEC89E}" destId="{37D012BD-A8D2-47F0-B7C2-3AC8A6320728}" srcOrd="0" destOrd="0" parTransId="{47A71F38-FCD8-42C3-9804-890C41D21282}" sibTransId="{744A2374-5017-472D-BE31-C2CF5002F0C7}"/>
    <dgm:cxn modelId="{D33EC3CB-66DE-4413-A311-4E64103CECBE}" srcId="{7907C661-7189-4999-A7EF-FEC0765C3F7F}" destId="{1E6F1374-BD0F-4666-8617-948576AEC89E}" srcOrd="0" destOrd="0" parTransId="{B85F922F-2956-4650-9ECD-0267BBB344B7}" sibTransId="{09EE6CBD-76A8-40FB-BA81-A3EE0D761B2B}"/>
    <dgm:cxn modelId="{C42FAEF4-E5A9-453B-85B4-4FD6BB44B985}" srcId="{E759413F-817C-49EE-9F4B-210466F159ED}" destId="{BC0130BD-7548-43E1-AA92-FA27A4DA484D}" srcOrd="0" destOrd="0" parTransId="{5F08CC58-70EB-4A95-B13E-5BF764362B29}" sibTransId="{4A09AFDF-2EF5-480B-A27A-641E2F3834DB}"/>
    <dgm:cxn modelId="{CB5188F9-870C-4222-BAF3-2574F4119074}" type="presOf" srcId="{1E6F1374-BD0F-4666-8617-948576AEC89E}" destId="{947C8E59-F1BD-4309-9F23-AB4AA51206FE}" srcOrd="0" destOrd="0" presId="urn:microsoft.com/office/officeart/2024/3/layout/SimpleTimelineDefaultVariant"/>
    <dgm:cxn modelId="{4F6D11C1-628B-4134-ABC4-01A05DD9E169}" type="presParOf" srcId="{6D0AA302-C9C3-4564-A409-792F7FD47725}" destId="{E116BE69-BC1C-4FF9-81A3-2AA0FC4DD412}" srcOrd="0" destOrd="0" presId="urn:microsoft.com/office/officeart/2024/3/layout/SimpleTimelineDefaultVariant"/>
    <dgm:cxn modelId="{9FBFABD9-0519-4FF6-A1C4-99D3D862E94C}" type="presParOf" srcId="{6D0AA302-C9C3-4564-A409-792F7FD47725}" destId="{11CFD405-7141-4065-92F0-D656F6A9BE11}" srcOrd="1" destOrd="0" presId="urn:microsoft.com/office/officeart/2024/3/layout/SimpleTimelineDefaultVariant"/>
    <dgm:cxn modelId="{F1ECF9CE-C7CD-4076-BB92-95824947DA5B}" type="presParOf" srcId="{11CFD405-7141-4065-92F0-D656F6A9BE11}" destId="{5B2BB774-68D3-4A7E-9517-00A5D039A7AD}" srcOrd="0" destOrd="0" presId="urn:microsoft.com/office/officeart/2024/3/layout/SimpleTimelineDefaultVariant"/>
    <dgm:cxn modelId="{E83BB17A-F1B6-4FB0-98FF-501CFAC6CD54}" type="presParOf" srcId="{5B2BB774-68D3-4A7E-9517-00A5D039A7AD}" destId="{89B333A2-1790-43BE-BB1D-583682B05E2E}" srcOrd="0" destOrd="0" presId="urn:microsoft.com/office/officeart/2024/3/layout/SimpleTimelineDefaultVariant"/>
    <dgm:cxn modelId="{383CED37-27EB-425A-99F8-08F8F9F49FE8}" type="presParOf" srcId="{5B2BB774-68D3-4A7E-9517-00A5D039A7AD}" destId="{A7362CF3-45AF-4489-8C00-F765E89BB0E4}" srcOrd="1" destOrd="0" presId="urn:microsoft.com/office/officeart/2024/3/layout/SimpleTimelineDefaultVariant"/>
    <dgm:cxn modelId="{41998231-CB3E-4DF7-8CCE-BF031CB27760}" type="presParOf" srcId="{A7362CF3-45AF-4489-8C00-F765E89BB0E4}" destId="{18C53C3E-A9DB-4201-86C7-99A17CB97F0E}" srcOrd="0" destOrd="0" presId="urn:microsoft.com/office/officeart/2024/3/layout/SimpleTimelineDefaultVariant"/>
    <dgm:cxn modelId="{CC9CD6D4-D75B-4C15-B432-91C6D13C76BA}" type="presParOf" srcId="{A7362CF3-45AF-4489-8C00-F765E89BB0E4}" destId="{D7F4ADA1-CED2-4245-80AB-C9ADC54C50C6}" srcOrd="1" destOrd="0" presId="urn:microsoft.com/office/officeart/2024/3/layout/SimpleTimelineDefaultVariant"/>
    <dgm:cxn modelId="{DBD1DD6F-DF84-4198-8726-8BD6324ACEC4}" type="presParOf" srcId="{5B2BB774-68D3-4A7E-9517-00A5D039A7AD}" destId="{7D46428A-D549-472B-A378-C9919D3773C6}" srcOrd="2" destOrd="0" presId="urn:microsoft.com/office/officeart/2024/3/layout/SimpleTimelineDefaultVariant"/>
    <dgm:cxn modelId="{AB0AE901-2A39-4F7D-9F41-A0C18012B684}" type="presParOf" srcId="{5B2BB774-68D3-4A7E-9517-00A5D039A7AD}" destId="{947C8E59-F1BD-4309-9F23-AB4AA51206FE}" srcOrd="3" destOrd="0" presId="urn:microsoft.com/office/officeart/2024/3/layout/SimpleTimelineDefaultVariant"/>
    <dgm:cxn modelId="{5C9BF0C3-7EA9-4DD3-B04A-1B609330CEA3}" type="presParOf" srcId="{5B2BB774-68D3-4A7E-9517-00A5D039A7AD}" destId="{3BD47FDE-6080-47D8-9F01-1820D5567636}" srcOrd="4" destOrd="0" presId="urn:microsoft.com/office/officeart/2024/3/layout/SimpleTimelineDefaultVariant"/>
    <dgm:cxn modelId="{B844FFF1-114D-440A-9340-0B430C4F82A6}" type="presParOf" srcId="{5B2BB774-68D3-4A7E-9517-00A5D039A7AD}" destId="{12798FB0-641C-4241-8A4C-21655E12C559}" srcOrd="5" destOrd="0" presId="urn:microsoft.com/office/officeart/2024/3/layout/SimpleTimelineDefaultVariant"/>
    <dgm:cxn modelId="{67C77821-7175-4E5B-BA8B-CACDD5F99D14}" type="presParOf" srcId="{11CFD405-7141-4065-92F0-D656F6A9BE11}" destId="{6C523343-04E2-4423-8EC2-A751DE1CED72}" srcOrd="1" destOrd="0" presId="urn:microsoft.com/office/officeart/2024/3/layout/SimpleTimelineDefaultVariant"/>
    <dgm:cxn modelId="{39C28282-B87F-4230-BFA1-3D0D1FC11911}" type="presParOf" srcId="{11CFD405-7141-4065-92F0-D656F6A9BE11}" destId="{B40B80BF-CB12-4062-A80D-2BD9C8E6C7D5}" srcOrd="2" destOrd="0" presId="urn:microsoft.com/office/officeart/2024/3/layout/SimpleTimelineDefaultVariant"/>
    <dgm:cxn modelId="{51FE9F37-DD09-497C-9797-9A5FFB920CBE}" type="presParOf" srcId="{B40B80BF-CB12-4062-A80D-2BD9C8E6C7D5}" destId="{FDB2A33A-23B3-4859-B4AF-8D5063A33DE4}" srcOrd="0" destOrd="0" presId="urn:microsoft.com/office/officeart/2024/3/layout/SimpleTimelineDefaultVariant"/>
    <dgm:cxn modelId="{7F2BEC71-EF48-4529-B7BE-EE118C4EC0BE}" type="presParOf" srcId="{B40B80BF-CB12-4062-A80D-2BD9C8E6C7D5}" destId="{07A1BF20-5A37-4CC3-B516-692A919F48A0}" srcOrd="1" destOrd="0" presId="urn:microsoft.com/office/officeart/2024/3/layout/SimpleTimelineDefaultVariant"/>
    <dgm:cxn modelId="{3ECD74E2-9B3C-4E95-91C8-2273E45B6E99}" type="presParOf" srcId="{07A1BF20-5A37-4CC3-B516-692A919F48A0}" destId="{E27E2810-E236-4EB2-B0A8-B2A825055598}" srcOrd="0" destOrd="0" presId="urn:microsoft.com/office/officeart/2024/3/layout/SimpleTimelineDefaultVariant"/>
    <dgm:cxn modelId="{3934C74A-D73C-4585-B257-AB92F6157554}" type="presParOf" srcId="{07A1BF20-5A37-4CC3-B516-692A919F48A0}" destId="{6760AB24-594C-4E18-B5A1-A1B2E03AD3F0}" srcOrd="1" destOrd="0" presId="urn:microsoft.com/office/officeart/2024/3/layout/SimpleTimelineDefaultVariant"/>
    <dgm:cxn modelId="{59A0BAED-058C-468F-B0B7-AF3CE26F9563}" type="presParOf" srcId="{B40B80BF-CB12-4062-A80D-2BD9C8E6C7D5}" destId="{5EDECD79-000F-4FD7-BB7D-FD933CB12BE3}" srcOrd="2" destOrd="0" presId="urn:microsoft.com/office/officeart/2024/3/layout/SimpleTimelineDefaultVariant"/>
    <dgm:cxn modelId="{40950A85-CC3C-4FB3-A495-B249D722564B}" type="presParOf" srcId="{B40B80BF-CB12-4062-A80D-2BD9C8E6C7D5}" destId="{E8CAE1BF-801A-4829-B674-740E72A57408}" srcOrd="3" destOrd="0" presId="urn:microsoft.com/office/officeart/2024/3/layout/SimpleTimelineDefaultVariant"/>
    <dgm:cxn modelId="{C7253EED-16DA-40B7-8250-6D7402DA4B0C}" type="presParOf" srcId="{B40B80BF-CB12-4062-A80D-2BD9C8E6C7D5}" destId="{8925D41D-A142-4F88-BE6D-532F0F396482}" srcOrd="4" destOrd="0" presId="urn:microsoft.com/office/officeart/2024/3/layout/SimpleTimelineDefaultVariant"/>
    <dgm:cxn modelId="{848D6A54-6178-4297-98BB-12CCDA80C037}" type="presParOf" srcId="{B40B80BF-CB12-4062-A80D-2BD9C8E6C7D5}" destId="{593E0EE5-CFA7-432D-8DD0-A4D3757BD930}" srcOrd="5" destOrd="0" presId="urn:microsoft.com/office/officeart/2024/3/layout/SimpleTimelineDefaultVarian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16BE69-BC1C-4FF9-81A3-2AA0FC4DD412}">
      <dsp:nvSpPr>
        <dsp:cNvPr id="0" name=""/>
        <dsp:cNvSpPr/>
      </dsp:nvSpPr>
      <dsp:spPr>
        <a:xfrm>
          <a:off x="0" y="2225783"/>
          <a:ext cx="11029741" cy="0"/>
        </a:xfrm>
        <a:prstGeom prst="line">
          <a:avLst/>
        </a:prstGeom>
        <a:solidFill>
          <a:schemeClr val="dk2">
            <a:alpha val="90000"/>
            <a:hueOff val="0"/>
            <a:satOff val="0"/>
            <a:lumOff val="0"/>
            <a:alphaOff val="0"/>
          </a:schemeClr>
        </a:solidFill>
        <a:ln w="12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 w="med" len="me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46428A-D549-472B-A378-C9919D3773C6}">
      <dsp:nvSpPr>
        <dsp:cNvPr id="0" name=""/>
        <dsp:cNvSpPr/>
      </dsp:nvSpPr>
      <dsp:spPr>
        <a:xfrm>
          <a:off x="762975" y="893141"/>
          <a:ext cx="4712009" cy="11467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Reformular o relatório do </a:t>
          </a:r>
          <a:r>
            <a:rPr lang="pt-BR" sz="1000" b="1" kern="1200" dirty="0"/>
            <a:t>Data Driven Index (DDI)</a:t>
          </a:r>
          <a:r>
            <a:rPr lang="pt-BR" sz="1000" b="0" kern="1200" dirty="0"/>
            <a:t>:</a:t>
          </a:r>
          <a:br>
            <a:rPr lang="pt-BR" sz="1000" b="1" kern="1200" dirty="0"/>
          </a:br>
          <a:r>
            <a:rPr lang="pt-BR" sz="1000" b="0" kern="1200" dirty="0"/>
            <a:t>Í</a:t>
          </a:r>
          <a:r>
            <a:rPr lang="pt-BR" sz="1000" kern="1200" dirty="0"/>
            <a:t>ndice que mede o quanto as equipes são orientadas a dados. </a:t>
          </a:r>
          <a:br>
            <a:rPr lang="pt-BR" sz="1000" kern="1200" dirty="0"/>
          </a:br>
          <a:r>
            <a:rPr lang="pt-BR" sz="1000" kern="1200" dirty="0"/>
            <a:t>O trabalho envolve diagnóstico do dashboard atual, definição de métricas, modelagem de dados, escrita de queries SQL e criação de um </a:t>
          </a:r>
          <a:r>
            <a:rPr lang="pt-BR" sz="1000" kern="1200" dirty="0" err="1"/>
            <a:t>mockup</a:t>
          </a:r>
          <a:r>
            <a:rPr lang="pt-BR" sz="1000" kern="1200" dirty="0"/>
            <a:t> de dashboard. 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Os dados são fictícios:</a:t>
          </a:r>
          <a:br>
            <a:rPr lang="pt-BR" sz="1000" kern="1200" dirty="0"/>
          </a:br>
          <a:r>
            <a:rPr lang="pt-BR" sz="1000" b="0" kern="1200" dirty="0"/>
            <a:t>(800 colaboradores, 10 sites, 12 divisões, </a:t>
          </a:r>
          <a:r>
            <a:rPr lang="pt-BR" sz="1000" b="0" kern="1200" dirty="0" err="1"/>
            <a:t>jan</a:t>
          </a:r>
          <a:r>
            <a:rPr lang="pt-BR" sz="1000" b="0" kern="1200" dirty="0"/>
            <a:t>–dez 2025)</a:t>
          </a:r>
          <a:br>
            <a:rPr lang="pt-BR" sz="1000" kern="1200" dirty="0"/>
          </a:br>
          <a:r>
            <a:rPr lang="pt-BR" sz="1000" kern="1200" dirty="0"/>
            <a:t>Fornecidos em dois </a:t>
          </a:r>
          <a:r>
            <a:rPr lang="pt-BR" sz="1000" kern="1200" dirty="0" err="1"/>
            <a:t>CSVs</a:t>
          </a:r>
          <a:r>
            <a:rPr lang="pt-BR" sz="1000" kern="1200" dirty="0"/>
            <a:t>.</a:t>
          </a:r>
        </a:p>
      </dsp:txBody>
      <dsp:txXfrm>
        <a:off x="762975" y="893141"/>
        <a:ext cx="4712009" cy="1146723"/>
      </dsp:txXfrm>
    </dsp:sp>
    <dsp:sp modelId="{947C8E59-F1BD-4309-9F23-AB4AA51206FE}">
      <dsp:nvSpPr>
        <dsp:cNvPr id="0" name=""/>
        <dsp:cNvSpPr/>
      </dsp:nvSpPr>
      <dsp:spPr>
        <a:xfrm>
          <a:off x="717442" y="460244"/>
          <a:ext cx="5144321" cy="359997"/>
        </a:xfrm>
        <a:prstGeom prst="rect">
          <a:avLst/>
        </a:prstGeom>
        <a:solidFill>
          <a:schemeClr val="accent1">
            <a:alpha val="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BR" sz="2000" kern="1200" dirty="0"/>
            <a:t>Contexto do Desafio</a:t>
          </a:r>
        </a:p>
      </dsp:txBody>
      <dsp:txXfrm>
        <a:off x="717442" y="460244"/>
        <a:ext cx="5144321" cy="359997"/>
      </dsp:txXfrm>
    </dsp:sp>
    <dsp:sp modelId="{3BD47FDE-6080-47D8-9F01-1820D5567636}">
      <dsp:nvSpPr>
        <dsp:cNvPr id="0" name=""/>
        <dsp:cNvSpPr/>
      </dsp:nvSpPr>
      <dsp:spPr>
        <a:xfrm>
          <a:off x="530541" y="445156"/>
          <a:ext cx="0" cy="1780626"/>
        </a:xfrm>
        <a:prstGeom prst="line">
          <a:avLst/>
        </a:pr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9B333A2-1790-43BE-BB1D-583682B05E2E}">
      <dsp:nvSpPr>
        <dsp:cNvPr id="0" name=""/>
        <dsp:cNvSpPr/>
      </dsp:nvSpPr>
      <dsp:spPr>
        <a:xfrm>
          <a:off x="477300" y="2172542"/>
          <a:ext cx="106481" cy="10648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DECD79-000F-4FD7-BB7D-FD933CB12BE3}">
      <dsp:nvSpPr>
        <dsp:cNvPr id="0" name=""/>
        <dsp:cNvSpPr/>
      </dsp:nvSpPr>
      <dsp:spPr>
        <a:xfrm>
          <a:off x="5990591" y="2666091"/>
          <a:ext cx="4326221" cy="14400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A solução abrange cinco frentes: </a:t>
          </a:r>
          <a:br>
            <a:rPr lang="pt-BR" sz="1000" kern="1200" dirty="0"/>
          </a:br>
          <a:r>
            <a:rPr lang="pt-BR" sz="1000" kern="1200" dirty="0"/>
            <a:t>    • Diagnóstico das lacunas do dashboard atual</a:t>
          </a:r>
          <a:br>
            <a:rPr lang="pt-BR" sz="1000" kern="1200" dirty="0"/>
          </a:br>
          <a:r>
            <a:rPr lang="pt-BR" sz="1000" kern="1200" dirty="0"/>
            <a:t>    • Criação de um dicionário de métricas com regras claras de elegibilidade</a:t>
          </a:r>
          <a:br>
            <a:rPr lang="pt-BR" sz="1000" kern="1200" dirty="0"/>
          </a:br>
          <a:r>
            <a:rPr lang="pt-BR" sz="1000" kern="1200" dirty="0"/>
            <a:t>    • Modelagem em camadas Silver/Gold para histórico organizacional</a:t>
          </a:r>
          <a:br>
            <a:rPr lang="pt-BR" sz="1000" kern="1200" dirty="0"/>
          </a:br>
          <a:r>
            <a:rPr lang="pt-BR" sz="1000" kern="1200" dirty="0"/>
            <a:t>    • Queries SQL para calcular:</a:t>
          </a:r>
          <a:br>
            <a:rPr lang="pt-BR" sz="1000" kern="1200" dirty="0"/>
          </a:br>
          <a:r>
            <a:rPr lang="pt-BR" sz="1000" kern="1200" dirty="0"/>
            <a:t>	colaboradores ativos, usuários potenciais e </a:t>
          </a:r>
          <a:r>
            <a:rPr lang="pt-BR" sz="1000" i="1" kern="1200" dirty="0"/>
            <a:t>data-</a:t>
          </a:r>
          <a:r>
            <a:rPr lang="pt-BR" sz="1000" i="1" kern="1200" dirty="0" err="1"/>
            <a:t>driven</a:t>
          </a:r>
          <a:r>
            <a:rPr lang="pt-BR" sz="1000" kern="1200" dirty="0"/>
            <a:t> </a:t>
          </a:r>
          <a:r>
            <a:rPr lang="pt-BR" sz="1000" kern="1200" dirty="0" err="1"/>
            <a:t>users</a:t>
          </a:r>
          <a:br>
            <a:rPr lang="pt-BR" sz="1000" kern="1200" dirty="0"/>
          </a:br>
          <a:r>
            <a:rPr lang="pt-BR" sz="1000" kern="1200" dirty="0"/>
            <a:t>    • </a:t>
          </a:r>
          <a:r>
            <a:rPr lang="pt-BR" sz="1000" kern="1200" dirty="0" err="1"/>
            <a:t>Mockup</a:t>
          </a:r>
          <a:r>
            <a:rPr lang="pt-BR" sz="1000" kern="1200" dirty="0"/>
            <a:t> de dashboard com navegação hierárquica </a:t>
          </a:r>
          <a:br>
            <a:rPr lang="pt-BR" sz="1000" kern="1200" dirty="0"/>
          </a:br>
          <a:r>
            <a:rPr lang="pt-BR" sz="1000" kern="1200" dirty="0"/>
            <a:t>	empresa → site → divisão, mostrando variações </a:t>
          </a:r>
          <a:r>
            <a:rPr lang="pt-BR" sz="1000" kern="1200" dirty="0" err="1"/>
            <a:t>MoM</a:t>
          </a:r>
          <a:r>
            <a:rPr lang="pt-BR" sz="1000" kern="1200" dirty="0"/>
            <a:t> e tendências.</a:t>
          </a:r>
        </a:p>
      </dsp:txBody>
      <dsp:txXfrm>
        <a:off x="5990591" y="2666091"/>
        <a:ext cx="4326221" cy="1440001"/>
      </dsp:txXfrm>
    </dsp:sp>
    <dsp:sp modelId="{E8CAE1BF-801A-4829-B674-740E72A57408}">
      <dsp:nvSpPr>
        <dsp:cNvPr id="0" name=""/>
        <dsp:cNvSpPr/>
      </dsp:nvSpPr>
      <dsp:spPr>
        <a:xfrm>
          <a:off x="5915874" y="2308137"/>
          <a:ext cx="4301819" cy="359999"/>
        </a:xfrm>
        <a:prstGeom prst="rect">
          <a:avLst/>
        </a:prstGeom>
        <a:solidFill>
          <a:schemeClr val="accent1">
            <a:alpha val="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BR" sz="1800" kern="1200" dirty="0"/>
            <a:t>Solução Proposta – DDI Reformulado</a:t>
          </a:r>
        </a:p>
      </dsp:txBody>
      <dsp:txXfrm>
        <a:off x="5915874" y="2308137"/>
        <a:ext cx="4301819" cy="359999"/>
      </dsp:txXfrm>
    </dsp:sp>
    <dsp:sp modelId="{8925D41D-A142-4F88-BE6D-532F0F396482}">
      <dsp:nvSpPr>
        <dsp:cNvPr id="0" name=""/>
        <dsp:cNvSpPr/>
      </dsp:nvSpPr>
      <dsp:spPr>
        <a:xfrm>
          <a:off x="5726680" y="2230045"/>
          <a:ext cx="0" cy="1780626"/>
        </a:xfrm>
        <a:prstGeom prst="line">
          <a:avLst/>
        </a:pr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DB2A33A-23B3-4859-B4AF-8D5063A33DE4}">
      <dsp:nvSpPr>
        <dsp:cNvPr id="0" name=""/>
        <dsp:cNvSpPr/>
      </dsp:nvSpPr>
      <dsp:spPr>
        <a:xfrm>
          <a:off x="5673439" y="2176805"/>
          <a:ext cx="106481" cy="10648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3/layout/SimpleTimelineDefaultVariant">
  <dgm:title val="Simple Timeline"/>
  <dgm:desc val="Displays events in chronological order. Each event should have a date or name up to medium length and the option to add a description that can be medium or a bit longer in length."/>
  <dgm:catLst>
    <dgm:cat type="timeline" pri="500"/>
    <dgm:cat type="process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chMax/>
      <dgm:chPref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 styleLbl="alignAcc1">
      <dgm:alg type="sp"/>
      <dgm:choose name="ArrowShape">
        <dgm:if name="ArrowShapeLTR" func="var" arg="dir" op="equ" val="norm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 w="12050">
                    <a:solidFill>
                      <a:srgbClr val="000000"/>
                    </a:solidFill>
                    <a:tailEnd type="arrow" w="med" len="med"/>
                  </a:ln>
                </dgm1612:spPr>
              </a:ext>
            </dgm:extLst>
          </dgm:shape>
        </dgm:if>
        <dgm:else name="ArrowShapeRTL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>
                    <a:solidFill>
                      <a:srgbClr val="000000"/>
                    </a:solidFill>
                    <a:headEnd type="arrow" w="med" len="med"/>
                  </a:ln>
                </dgm1612:spPr>
              </a:ext>
            </dgm:extLst>
          </dgm:shape>
        </dgm:else>
      </dgm:choose>
      <dgm:presOf/>
      <dgm:constrLst/>
      <dgm:ruleLst/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23"/>
                        <dgm:constr type="h" for="ch" forName="ConnectorPoint1" refType="h" refFor="ch" refForName="DropPinPlaceHolder1" fact="0.23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h" fact="0.178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t" for="ch" forName="L1TextContainer1" refType="h" fact="0.01"/>
                        <dgm:constr type="b" for="ch" forName="L1TextContainer1" refType="h" fact="0.178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 fact="0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23"/>
                        <dgm:constr type="h" for="ch" forName="ConnectorPoint1" refType="h" refFor="ch" refForName="DropPinPlaceHolder1" fact="0.23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h" fact="0.728"/>
                        <dgm:constr type="t" for="ch" forName="L1TextContainer1" refType="h" fact="0.55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b" refFor="ch" refForName="DropPinPlaceHolder1"/>
                        <dgm:constr type="t" for="ch" forName="L2TextContainer1" refType="h" fact="0.728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ConnectorPoint1" refType="h" refFor="ch" refForName="DropPinPlaceHolder1" fact="0.23"/>
                        <dgm:constr type="h" for="ch" forName="ConnectorPoint1" refType="h" refFor="ch" refForName="DropPinPlaceHolder1" fact="0.23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h" fact="0.178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t" for="ch" forName="L1TextContainer1" refType="h" fact="0.01"/>
                        <dgm:constr type="b" for="ch" forName="L1TextContainer1" refType="h" fact="0.178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 fact="0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ConnectorPoint1" refType="h" refFor="ch" refForName="DropPinPlaceHolder1" fact="0.23"/>
                        <dgm:constr type="h" for="ch" forName="ConnectorPoint1" refType="h" refFor="ch" refForName="DropPinPlaceHolder1" fact="0.23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h" fact="0.728"/>
                        <dgm:constr type="t" for="ch" forName="L1TextContainer1" refType="h" fact="0.55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b" refFor="ch" refForName="DropPinPlaceHolder1"/>
                        <dgm:constr type="t" for="ch" forName="L2TextContainer1" refType="h" fact="0.728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ConnectorPoint1" styleLbl="lnNode1" moveWith="ConnectLine1">
                <dgm:alg type="sp"/>
                <dgm:shape xmlns:r="http://schemas.openxmlformats.org/officeDocument/2006/relationships" type="ellipse" r:blip="" zOrderOff="10">
                  <dgm:adjLst/>
                </dgm:shape>
                <dgm:presOf/>
                <dgm:constrLst>
                  <dgm:constr type="w" refType="h" op="equ"/>
                </dgm:constrLst>
              </dgm:layoutNod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 fact="0"/>
                  <dgm:constr type="h" for="ch" forName="DropPin1" refType="h" fact="0"/>
                  <dgm:constr type="ctrX" for="ch" forName="DropPin1" refType="w" fact="0"/>
                  <dgm:constr type="ctrY" for="ch" forName="DropPin1" refType="h" fact="0"/>
                  <dgm:constr type="w" for="ch" forName="Ellipse1" refType="w" refFor="ch" refForName="DropPin1" fact="0"/>
                  <dgm:constr type="h" for="ch" forName="Ellipse1" refType="w" refFor="ch" refForName="DropPin1" fact="0"/>
                  <dgm:constr type="ctrX" for="ch" forName="Ellipse1" refType="ctrX" refFor="ch" refForName="DropPin1" fact="0"/>
                  <dgm:constr type="ctrY" for="ch" forName="Ellipse1" refType="ctrY" refFor="ch" refForName="DropPin1" fact="0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if>
                  <dgm:else name="Name88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5" fact="NaN" max="NaN"/>
                </dgm:ruleLst>
              </dgm:layoutNode>
              <dgm:layoutNode name="L1TextContainer1" styleLbl="alignNode1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  <dgm:layoutNode name="ConnectLine1" styleLbl="sibTrans1D1">
                <dgm:alg type="sp"/>
                <dgm:shape xmlns:r="http://schemas.openxmlformats.org/officeDocument/2006/relationships" type="line" r:blip="">
                  <dgm:adjLst/>
                </dgm:shape>
                <dgm:presOf/>
                <dgm:constrLst/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23"/>
                        <dgm:constr type="h" for="ch" forName="ConnectorPoint" refType="h" refFor="ch" refForName="DropPinPlaceHolder" fact="0.23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h" fact="0.178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t" for="ch" forName="L1TextContainer" refType="h" fact="0.01"/>
                        <dgm:constr type="b" for="ch" forName="L1TextContainer" refType="h" fact="0.178"/>
                        <dgm:constr type="w" for="ch" forName="ConnectLine" fact="2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 fact="0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23"/>
                        <dgm:constr type="h" for="ch" forName="ConnectorPoint" refType="h" refFor="ch" refForName="DropPinPlaceHolder" fact="0.23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h" fact="0.728"/>
                        <dgm:constr type="t" for="ch" forName="L1TextContainer" refType="h" fact="0.55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b" refFor="ch" refForName="DropPinPlaceHolder"/>
                        <dgm:constr type="t" for="ch" forName="L2TextContainer" refType="h" fact="0.728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ConnectorPoint" refType="h" refFor="ch" refForName="DropPinPlaceHolder" fact="0.23"/>
                        <dgm:constr type="h" for="ch" forName="ConnectorPoint" refType="h" refFor="ch" refForName="DropPinPlaceHolder" fact="0.23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h" fact="0.178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t" for="ch" forName="L1TextContainer" refType="h" fact="0.01"/>
                        <dgm:constr type="b" for="ch" forName="L1TextContainer" refType="h" fact="0.178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 fact="0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ConnectorPoint" refType="h" refFor="ch" refForName="DropPinPlaceHolder" fact="0.23"/>
                        <dgm:constr type="h" for="ch" forName="ConnectorPoint" refType="h" refFor="ch" refForName="DropPinPlaceHolder" fact="0.23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h" fact="0.728"/>
                        <dgm:constr type="t" for="ch" forName="L1TextContainer" refType="h" fact="0.55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b" refFor="ch" refForName="DropPinPlaceHolder"/>
                        <dgm:constr type="t" for="ch" forName="L2TextContainer" refType="h" fact="0.728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ConnectorPoint" styleLbl="lnNode1" moveWith="ConnectLine">
                <dgm:alg type="sp"/>
                <dgm:shape xmlns:r="http://schemas.openxmlformats.org/officeDocument/2006/relationships" type="ellipse" r:blip="" zOrderOff="10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6350"/>
                      </dgm1612:spPr>
                    </a:ext>
                  </dgm:extLst>
                </dgm:shape>
                <dgm:presOf/>
                <dgm:constrLst>
                  <dgm:constr type="w" refType="h" op="equ"/>
                </dgm:constrLst>
              </dgm:layoutNod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 fact="0"/>
                  <dgm:constr type="h" for="ch" forName="DropPin" refType="h" fact="0"/>
                  <dgm:constr type="ctrX" for="ch" forName="DropPin" refType="w" fact="0"/>
                  <dgm:constr type="ctrY" for="ch" forName="DropPin" refType="h" fact="0"/>
                  <dgm:constr type="w" for="ch" forName="Ellipse" refType="w" refFor="ch" refForName="DropPin" fact="0"/>
                  <dgm:constr type="h" for="ch" forName="Ellipse" refType="w" refFor="ch" refForName="DropPin" fact="0"/>
                  <dgm:constr type="ctrX" for="ch" forName="Ellipse" refType="ctrX" refFor="ch" refForName="DropPin" fact="0"/>
                  <dgm:constr type="ctrY" for="ch" forName="Ellipse" refType="ctrY" refFor="ch" refForName="DropPin" fact="0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if>
                  <dgm:else name="Name88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5" fact="NaN" max="NaN"/>
                </dgm:ruleLst>
              </dgm:layoutNode>
              <dgm:layoutNode name="L1TextContainer" styleLbl="alignNode1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  <dgm:layoutNode name="ConnectLine" styleLbl="sibTrans1D1">
                <dgm:alg type="sp"/>
                <dgm:shape xmlns:r="http://schemas.openxmlformats.org/officeDocument/2006/relationships" type="line" r:blip="">
                  <dgm:adjLst/>
                </dgm:shape>
                <dgm:presOf/>
                <dgm:constrLst/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6E6E10-1B04-9996-E155-444EDFB6E3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D1EC004-58D2-E25B-C056-5A9EE9517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76F90AC-BCEE-76C9-B8D6-C25974D6F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90E61-7B09-42AE-BDB3-6414A4ED00CA}" type="datetimeFigureOut">
              <a:rPr lang="pt-BR" smtClean="0"/>
              <a:t>21/04/2026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52805AE-F91E-D094-DE81-87CB24E06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BBE8BA9-27E7-EA96-E385-DD9B3C0A0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BB11E-D9B3-4C85-9D9B-48FF3EAFB6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4263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46C4C5-CFAB-E9D9-8E5E-40D4F6651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D6EDD09-5C30-B60D-9197-46EE48D0B0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2000E2C-5EB3-0E7E-5497-8B3CF7A37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90E61-7B09-42AE-BDB3-6414A4ED00CA}" type="datetimeFigureOut">
              <a:rPr lang="pt-BR" smtClean="0"/>
              <a:t>21/04/2026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294329C-D9F7-A113-2CEF-A5555095F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628BA61-C0EF-6383-FD1D-4D1754CFC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BB11E-D9B3-4C85-9D9B-48FF3EAFB6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1074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773749-BAE0-E6B1-3620-39C5FACE6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550ADE4-B423-91C1-FD70-8D74438D43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06AB358-7FF1-2B3E-4A9E-34BD8D04C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90E61-7B09-42AE-BDB3-6414A4ED00CA}" type="datetimeFigureOut">
              <a:rPr lang="pt-BR" smtClean="0"/>
              <a:t>21/04/2026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5BCC4A5-3847-A324-F00D-2E827A135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E58CA4C-9D7B-5DDC-289E-F87CD7880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BB11E-D9B3-4C85-9D9B-48FF3EAFB6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8907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DB6DA0-28FE-2CA8-0503-95B36AB91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9C81AC6-0C46-1FFC-811E-B267976F3D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32B673-7342-BDF3-1102-18EBD1E88D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AC1988C-3270-919D-4474-E76E449A7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90E61-7B09-42AE-BDB3-6414A4ED00CA}" type="datetimeFigureOut">
              <a:rPr lang="pt-BR" smtClean="0"/>
              <a:t>21/04/2026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1AC051F-0A11-ECB7-6731-3D0058062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D0C5C91-87C8-6ACE-2925-0BB1DE6FE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BB11E-D9B3-4C85-9D9B-48FF3EAFB6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3001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B67F0D-53E5-F504-7A46-16FB90725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473578D-C1AD-3ADD-A625-8D06BB411D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C6ED392-5FFE-8619-2CAE-30817EA598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DF7A65F-735E-660B-29B1-6282AA13AC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950D3DD-545D-BDFD-936F-F980774B2C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F2E09AA-DD84-D19B-4352-6FA1F91AC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90E61-7B09-42AE-BDB3-6414A4ED00CA}" type="datetimeFigureOut">
              <a:rPr lang="pt-BR" smtClean="0"/>
              <a:t>21/04/2026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9A86BD5-0C73-EE7E-7F7B-519C544BC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E7CCCFD-D3EC-E9DF-9343-2B61CF2C3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BB11E-D9B3-4C85-9D9B-48FF3EAFB6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5449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AC7387-BCBE-2BDB-7C91-E5FB51E2B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5E21946-DD1F-A032-8CD9-4841ABD3E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90E61-7B09-42AE-BDB3-6414A4ED00CA}" type="datetimeFigureOut">
              <a:rPr lang="pt-BR" smtClean="0"/>
              <a:t>21/04/2026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419D5E6-8B0A-241A-7A6C-100268DAF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86A99E7-4EBA-A627-E2B5-C4992416F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BB11E-D9B3-4C85-9D9B-48FF3EAFB6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2536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3B5C323-7B51-A5A1-F5C5-51D50A5AB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90E61-7B09-42AE-BDB3-6414A4ED00CA}" type="datetimeFigureOut">
              <a:rPr lang="pt-BR" smtClean="0"/>
              <a:t>21/04/2026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F13414F-EFB1-631D-D751-6154DAC46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677C949-4480-560A-AD83-CE62EDFB0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BB11E-D9B3-4C85-9D9B-48FF3EAFB6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6434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B269D1-A86D-1C11-29D5-1C607A96B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913F700-8C34-A64F-036D-5DE618775A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8BC4A42-A64A-BC3F-62F5-F87339BF8F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69952C4-EED8-EAC4-BE34-B21D3F45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90E61-7B09-42AE-BDB3-6414A4ED00CA}" type="datetimeFigureOut">
              <a:rPr lang="pt-BR" smtClean="0"/>
              <a:t>21/04/2026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F9B3252-9D86-94E5-3934-7DD1FEC91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24E80B3-78D1-58E0-ACEC-EA1A2A5F6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BB11E-D9B3-4C85-9D9B-48FF3EAFB6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153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A4EA23-38BF-1C93-AAD5-FE5588307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AB34931-D20A-94D0-9DC4-96BAE078EB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75EEA4D-3A68-0FFA-A9D3-52CD53F11A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024C867-EE32-66BE-0F8A-6B09078F4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90E61-7B09-42AE-BDB3-6414A4ED00CA}" type="datetimeFigureOut">
              <a:rPr lang="pt-BR" smtClean="0"/>
              <a:t>21/04/2026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A9D08E4-B996-205B-57F8-2780CE295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5980ECF-38AB-0A41-96FC-975B56F7C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BB11E-D9B3-4C85-9D9B-48FF3EAFB6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1599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1AEC0A-F5D6-88D3-1735-CD2E024CD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526AC4B-3607-8553-49B8-1D1D4F242E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62D5FB3-C2A4-197D-2466-7A45E3C1F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90E61-7B09-42AE-BDB3-6414A4ED00CA}" type="datetimeFigureOut">
              <a:rPr lang="pt-BR" smtClean="0"/>
              <a:t>21/04/2026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FDE66CF-E8A8-ABF5-0AE0-0D8BF5D6B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25C3FB8-FA62-B4F5-7F7A-B2A9B3273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BB11E-D9B3-4C85-9D9B-48FF3EAFB6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3137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1829C1D-CAF8-6207-384E-A34BC12864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26509A0-9D90-E0B6-D715-86A4FC1F75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36362E1-E379-6708-004B-8A7EE8F58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90E61-7B09-42AE-BDB3-6414A4ED00CA}" type="datetimeFigureOut">
              <a:rPr lang="pt-BR" smtClean="0"/>
              <a:t>21/04/2026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A1226D7-C87C-F8E7-3DE7-40C44B880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0E9A3DF-33AC-5406-EA2B-E890FA26B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BB11E-D9B3-4C85-9D9B-48FF3EAFB6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2770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91E1EB8-8CC0-A161-C385-0F7E1C5A5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68D5133-21AC-7903-E35C-BE8331819A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EB0052-E28D-5E2B-3528-3E1B5927BA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790E61-7B09-42AE-BDB3-6414A4ED00CA}" type="datetimeFigureOut">
              <a:rPr lang="pt-BR" smtClean="0"/>
              <a:t>21/04/2026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2AEADD-D70B-A5B7-D2BB-4F052FF325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BF1A2AC-EFFD-C1B1-8E46-D2B30BF669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ABB11E-D9B3-4C85-9D9B-48FF3EAFB6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6555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ersjunior/case_meli_ddi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view?r=eyJrIjoiZmU4Mjg0M2QtNmM5ZS00MjgyLTg4MzMtYjU4MTJmMzU2YmJlIiwidCI6ImM3M2JkNjAwLTUxNzMtNDAxZC05YmRjLTUzZTg1YTI5NGNiMiJ9" TargetMode="External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ersjunior/case_meli_ddi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65763C13-09CB-8876-D79E-ACC9F10A81E7}"/>
              </a:ext>
            </a:extLst>
          </p:cNvPr>
          <p:cNvSpPr/>
          <p:nvPr/>
        </p:nvSpPr>
        <p:spPr>
          <a:xfrm>
            <a:off x="168602" y="2509035"/>
            <a:ext cx="4281268" cy="17490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23000">
                <a:srgbClr val="84B9EB"/>
              </a:gs>
              <a:gs pos="54000">
                <a:srgbClr val="F5EB3F"/>
              </a:gs>
            </a:gsLst>
            <a:lin ang="0" scaled="1"/>
            <a:tileRect/>
          </a:gradFill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739B15D-7BA8-1E37-2C10-D25F6D736DB2}"/>
              </a:ext>
            </a:extLst>
          </p:cNvPr>
          <p:cNvSpPr txBox="1"/>
          <p:nvPr/>
        </p:nvSpPr>
        <p:spPr>
          <a:xfrm>
            <a:off x="168602" y="2683936"/>
            <a:ext cx="456746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</a:rPr>
              <a:t>Desafio técnico</a:t>
            </a:r>
          </a:p>
          <a:p>
            <a:r>
              <a:rPr lang="pt-BR" sz="3200" b="1" dirty="0">
                <a:solidFill>
                  <a:schemeClr val="bg1"/>
                </a:solidFill>
              </a:rPr>
              <a:t>Intelligence &amp; Analitycs</a:t>
            </a: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54239BBD-F17A-8FBC-250C-5C11F9CF14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70" y="1621729"/>
            <a:ext cx="2843932" cy="799856"/>
          </a:xfrm>
          <a:prstGeom prst="rect">
            <a:avLst/>
          </a:prstGeom>
        </p:spPr>
      </p:pic>
      <p:sp>
        <p:nvSpPr>
          <p:cNvPr id="16" name="Shape 1">
            <a:extLst>
              <a:ext uri="{FF2B5EF4-FFF2-40B4-BE49-F238E27FC236}">
                <a16:creationId xmlns:a16="http://schemas.microsoft.com/office/drawing/2014/main" id="{B3A4304E-5D16-D4D8-7A95-70EE12F88409}"/>
              </a:ext>
            </a:extLst>
          </p:cNvPr>
          <p:cNvSpPr/>
          <p:nvPr/>
        </p:nvSpPr>
        <p:spPr>
          <a:xfrm>
            <a:off x="6814348" y="3847800"/>
            <a:ext cx="5818850" cy="5818850"/>
          </a:xfrm>
          <a:prstGeom prst="ellipse">
            <a:avLst/>
          </a:prstGeom>
          <a:solidFill>
            <a:srgbClr val="F5EB3F">
              <a:alpha val="45000"/>
            </a:srgbClr>
          </a:solidFill>
          <a:ln w="12700">
            <a:solidFill>
              <a:srgbClr val="1659A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7" name="Shape 2">
            <a:extLst>
              <a:ext uri="{FF2B5EF4-FFF2-40B4-BE49-F238E27FC236}">
                <a16:creationId xmlns:a16="http://schemas.microsoft.com/office/drawing/2014/main" id="{7ED0D9AF-DFDE-8285-67A4-651E1FCAD4F0}"/>
              </a:ext>
            </a:extLst>
          </p:cNvPr>
          <p:cNvSpPr/>
          <p:nvPr/>
        </p:nvSpPr>
        <p:spPr>
          <a:xfrm>
            <a:off x="8836137" y="1810599"/>
            <a:ext cx="5174634" cy="5174634"/>
          </a:xfrm>
          <a:prstGeom prst="ellipse">
            <a:avLst/>
          </a:prstGeom>
          <a:solidFill>
            <a:srgbClr val="84B9EB">
              <a:alpha val="50000"/>
            </a:srgbClr>
          </a:solidFill>
          <a:ln w="12700">
            <a:solidFill>
              <a:srgbClr val="FFE60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3"/>
          <p:cNvSpPr/>
          <p:nvPr/>
        </p:nvSpPr>
        <p:spPr>
          <a:xfrm>
            <a:off x="1056890" y="3638043"/>
            <a:ext cx="250469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500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DRIVEN INDEX</a:t>
            </a:r>
            <a:endParaRPr lang="en-US" sz="1300" dirty="0"/>
          </a:p>
        </p:txBody>
      </p:sp>
      <p:sp>
        <p:nvSpPr>
          <p:cNvPr id="19" name="Text 10"/>
          <p:cNvSpPr/>
          <p:nvPr/>
        </p:nvSpPr>
        <p:spPr>
          <a:xfrm>
            <a:off x="168602" y="6529626"/>
            <a:ext cx="3881194" cy="2275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A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Agenda: Produto &amp; Métricas · Modelagem · SQL · Visualização · Avaliação</a:t>
            </a:r>
            <a:endParaRPr lang="en-US" sz="1000" dirty="0"/>
          </a:p>
        </p:txBody>
      </p:sp>
      <p:sp>
        <p:nvSpPr>
          <p:cNvPr id="21" name="Shape 0">
            <a:extLst>
              <a:ext uri="{FF2B5EF4-FFF2-40B4-BE49-F238E27FC236}">
                <a16:creationId xmlns:a16="http://schemas.microsoft.com/office/drawing/2014/main" id="{2E535970-DA3C-4215-26EC-754C20C1FB96}"/>
              </a:ext>
            </a:extLst>
          </p:cNvPr>
          <p:cNvSpPr/>
          <p:nvPr/>
        </p:nvSpPr>
        <p:spPr>
          <a:xfrm>
            <a:off x="0" y="0"/>
            <a:ext cx="49065" cy="6858000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52543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53CF00F-82D0-0DBA-75D5-1D01B4526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Espaço Reservado para Conteúdo 4">
            <a:extLst>
              <a:ext uri="{FF2B5EF4-FFF2-40B4-BE49-F238E27FC236}">
                <a16:creationId xmlns:a16="http://schemas.microsoft.com/office/drawing/2014/main" id="{79A12CD5-B200-4BBA-8E83-13692EB1FA1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86649485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StackedSequentialRowTable"/>
                  </p202:designTagLst>
                </p202:designPr>
              </p:ext>
            </p:extLst>
          </p:nvPr>
        </p:nvGraphicFramePr>
        <p:xfrm>
          <a:off x="987728" y="1378291"/>
          <a:ext cx="10216544" cy="4728625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2307098">
                  <a:extLst>
                    <a:ext uri="{9D8B030D-6E8A-4147-A177-3AD203B41FA5}">
                      <a16:colId xmlns:a16="http://schemas.microsoft.com/office/drawing/2014/main" val="1621025098"/>
                    </a:ext>
                  </a:extLst>
                </a:gridCol>
                <a:gridCol w="7909446">
                  <a:extLst>
                    <a:ext uri="{9D8B030D-6E8A-4147-A177-3AD203B41FA5}">
                      <a16:colId xmlns:a16="http://schemas.microsoft.com/office/drawing/2014/main" val="3369155325"/>
                    </a:ext>
                  </a:extLst>
                </a:gridCol>
              </a:tblGrid>
              <a:tr h="9457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300" b="1" cap="none" spc="0" dirty="0">
                          <a:solidFill>
                            <a:schemeClr val="accent1"/>
                          </a:solidFill>
                        </a:rPr>
                        <a:t>01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2100" b="0" cap="none" spc="0" dirty="0">
                          <a:solidFill>
                            <a:schemeClr val="tx1"/>
                          </a:solidFill>
                        </a:rPr>
                        <a:t>Introdução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2319256"/>
                  </a:ext>
                </a:extLst>
              </a:tr>
              <a:tr h="9457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300" b="1" cap="none" spc="0">
                          <a:solidFill>
                            <a:schemeClr val="accent1"/>
                          </a:solidFill>
                        </a:rPr>
                        <a:t>02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100" b="0" cap="none" spc="0" dirty="0">
                          <a:solidFill>
                            <a:schemeClr val="tx1"/>
                          </a:solidFill>
                        </a:rPr>
                        <a:t>Produto – Métricas – Governança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3308310"/>
                  </a:ext>
                </a:extLst>
              </a:tr>
              <a:tr h="9457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300" b="1" cap="none" spc="0">
                          <a:solidFill>
                            <a:schemeClr val="accent1"/>
                          </a:solidFill>
                        </a:rPr>
                        <a:t>03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2100" b="0" cap="none" spc="0" dirty="0">
                          <a:solidFill>
                            <a:schemeClr val="tx1"/>
                          </a:solidFill>
                        </a:rPr>
                        <a:t>Modelagem – SQL – Visualização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8675155"/>
                  </a:ext>
                </a:extLst>
              </a:tr>
              <a:tr h="9457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300" b="1" cap="none" spc="0" dirty="0">
                          <a:solidFill>
                            <a:schemeClr val="accent1"/>
                          </a:solidFill>
                        </a:rPr>
                        <a:t>04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2100" b="0" cap="none" spc="0" dirty="0">
                          <a:solidFill>
                            <a:schemeClr val="tx1"/>
                          </a:solidFill>
                        </a:rPr>
                        <a:t>Avaliação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7564418"/>
                  </a:ext>
                </a:extLst>
              </a:tr>
              <a:tr h="9457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300" b="1" cap="none" spc="0" dirty="0">
                          <a:solidFill>
                            <a:schemeClr val="accent1"/>
                          </a:solidFill>
                        </a:rPr>
                        <a:t>05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2100" b="0" cap="none" spc="0" dirty="0">
                          <a:solidFill>
                            <a:schemeClr val="tx1"/>
                          </a:solidFill>
                        </a:rPr>
                        <a:t>Encerramento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0343699"/>
                  </a:ext>
                </a:extLst>
              </a:tr>
            </a:tbl>
          </a:graphicData>
        </a:graphic>
      </p:graphicFrame>
      <p:grpSp>
        <p:nvGrpSpPr>
          <p:cNvPr id="11" name="Agrupar 10">
            <a:extLst>
              <a:ext uri="{FF2B5EF4-FFF2-40B4-BE49-F238E27FC236}">
                <a16:creationId xmlns:a16="http://schemas.microsoft.com/office/drawing/2014/main" id="{0F403ED0-0A05-841D-3A33-8EAFB09C4F08}"/>
              </a:ext>
            </a:extLst>
          </p:cNvPr>
          <p:cNvGrpSpPr/>
          <p:nvPr/>
        </p:nvGrpSpPr>
        <p:grpSpPr>
          <a:xfrm>
            <a:off x="0" y="-2"/>
            <a:ext cx="12192000" cy="787791"/>
            <a:chOff x="0" y="-1"/>
            <a:chExt cx="12192000" cy="787791"/>
          </a:xfrm>
        </p:grpSpPr>
        <p:grpSp>
          <p:nvGrpSpPr>
            <p:cNvPr id="4" name="Agrupar 3">
              <a:extLst>
                <a:ext uri="{FF2B5EF4-FFF2-40B4-BE49-F238E27FC236}">
                  <a16:creationId xmlns:a16="http://schemas.microsoft.com/office/drawing/2014/main" id="{3C32B7D7-D254-88A4-8BAC-76BD9A17D1C4}"/>
                </a:ext>
              </a:extLst>
            </p:cNvPr>
            <p:cNvGrpSpPr/>
            <p:nvPr/>
          </p:nvGrpSpPr>
          <p:grpSpPr>
            <a:xfrm>
              <a:off x="0" y="-1"/>
              <a:ext cx="12192000" cy="787791"/>
              <a:chOff x="0" y="-1"/>
              <a:chExt cx="12192000" cy="787791"/>
            </a:xfrm>
          </p:grpSpPr>
          <p:sp>
            <p:nvSpPr>
              <p:cNvPr id="7" name="Shape 0">
                <a:extLst>
                  <a:ext uri="{FF2B5EF4-FFF2-40B4-BE49-F238E27FC236}">
                    <a16:creationId xmlns:a16="http://schemas.microsoft.com/office/drawing/2014/main" id="{CEAAFE5D-A302-0605-415D-50F4C006C50F}"/>
                  </a:ext>
                </a:extLst>
              </p:cNvPr>
              <p:cNvSpPr/>
              <p:nvPr/>
            </p:nvSpPr>
            <p:spPr>
              <a:xfrm>
                <a:off x="0" y="-1"/>
                <a:ext cx="12192000" cy="787791"/>
              </a:xfrm>
              <a:prstGeom prst="rect">
                <a:avLst/>
              </a:prstGeom>
              <a:solidFill>
                <a:srgbClr val="333333"/>
              </a:solidFill>
              <a:ln w="12700">
                <a:solidFill>
                  <a:srgbClr val="333333"/>
                </a:solidFill>
                <a:prstDash val="solid"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" name="Retângulo: Cantos Arredondados 7">
                <a:extLst>
                  <a:ext uri="{FF2B5EF4-FFF2-40B4-BE49-F238E27FC236}">
                    <a16:creationId xmlns:a16="http://schemas.microsoft.com/office/drawing/2014/main" id="{0709C382-E20D-795F-D713-50A011C08EA1}"/>
                  </a:ext>
                </a:extLst>
              </p:cNvPr>
              <p:cNvSpPr/>
              <p:nvPr/>
            </p:nvSpPr>
            <p:spPr>
              <a:xfrm>
                <a:off x="9835375" y="306443"/>
                <a:ext cx="1987681" cy="175290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23000">
                    <a:srgbClr val="84B9EB"/>
                  </a:gs>
                  <a:gs pos="54000">
                    <a:srgbClr val="F5EB3F"/>
                  </a:gs>
                </a:gsLst>
                <a:lin ang="0" scaled="1"/>
                <a:tileRect/>
              </a:gradFill>
              <a:ln>
                <a:solidFill>
                  <a:srgbClr val="3333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D341CE25-43E8-A746-21C2-4C33207FC9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7756" y="213902"/>
              <a:ext cx="1279943" cy="359984"/>
            </a:xfrm>
            <a:prstGeom prst="rect">
              <a:avLst/>
            </a:prstGeom>
          </p:spPr>
        </p:pic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4F92C223-0B8F-D078-AB31-4767266A5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4640" y="72739"/>
            <a:ext cx="2224222" cy="642310"/>
          </a:xfrm>
        </p:spPr>
        <p:txBody>
          <a:bodyPr anchor="t">
            <a:normAutofit fontScale="90000"/>
          </a:bodyPr>
          <a:lstStyle/>
          <a:p>
            <a:r>
              <a:rPr lang="pt-BR" dirty="0">
                <a:solidFill>
                  <a:schemeClr val="bg1"/>
                </a:solidFill>
              </a:rPr>
              <a:t>| </a:t>
            </a:r>
            <a:r>
              <a:rPr lang="pt-BR" sz="3100" dirty="0">
                <a:solidFill>
                  <a:schemeClr val="bg1"/>
                </a:solidFill>
              </a:rPr>
              <a:t>Agenda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12" name="Shape 0">
            <a:extLst>
              <a:ext uri="{FF2B5EF4-FFF2-40B4-BE49-F238E27FC236}">
                <a16:creationId xmlns:a16="http://schemas.microsoft.com/office/drawing/2014/main" id="{13BF8B16-7E2B-C8B9-2023-9AA0C0E8AEE7}"/>
              </a:ext>
            </a:extLst>
          </p:cNvPr>
          <p:cNvSpPr/>
          <p:nvPr/>
        </p:nvSpPr>
        <p:spPr>
          <a:xfrm>
            <a:off x="0" y="0"/>
            <a:ext cx="61913" cy="787789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9443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aixaDeTexto 22">
            <a:extLst>
              <a:ext uri="{FF2B5EF4-FFF2-40B4-BE49-F238E27FC236}">
                <a16:creationId xmlns:a16="http://schemas.microsoft.com/office/drawing/2014/main" id="{7DC8E417-1937-C8A8-DD51-01D0A094A7DA}"/>
              </a:ext>
            </a:extLst>
          </p:cNvPr>
          <p:cNvSpPr txBox="1"/>
          <p:nvPr/>
        </p:nvSpPr>
        <p:spPr>
          <a:xfrm>
            <a:off x="2329167" y="4412177"/>
            <a:ext cx="753366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 repositório está disponível em: </a:t>
            </a:r>
          </a:p>
          <a:p>
            <a:pPr algn="ctr"/>
            <a:r>
              <a:rPr lang="en-US" sz="3200" dirty="0">
                <a:solidFill>
                  <a:srgbClr val="6A85A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/>
              </a:rPr>
              <a:t>https://github.com/ersjunior/case_meli_ddi</a:t>
            </a:r>
            <a:endParaRPr lang="pt-BR" sz="3200" dirty="0"/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373932F3-9414-D8F1-EDAC-CA765B1D979E}"/>
              </a:ext>
            </a:extLst>
          </p:cNvPr>
          <p:cNvGrpSpPr/>
          <p:nvPr/>
        </p:nvGrpSpPr>
        <p:grpSpPr>
          <a:xfrm>
            <a:off x="0" y="-2"/>
            <a:ext cx="12192000" cy="787791"/>
            <a:chOff x="0" y="-1"/>
            <a:chExt cx="12192000" cy="787791"/>
          </a:xfrm>
        </p:grpSpPr>
        <p:grpSp>
          <p:nvGrpSpPr>
            <p:cNvPr id="5" name="Agrupar 4">
              <a:extLst>
                <a:ext uri="{FF2B5EF4-FFF2-40B4-BE49-F238E27FC236}">
                  <a16:creationId xmlns:a16="http://schemas.microsoft.com/office/drawing/2014/main" id="{91D81099-C083-0BDD-7DC1-E456A539CD44}"/>
                </a:ext>
              </a:extLst>
            </p:cNvPr>
            <p:cNvGrpSpPr/>
            <p:nvPr/>
          </p:nvGrpSpPr>
          <p:grpSpPr>
            <a:xfrm>
              <a:off x="0" y="-1"/>
              <a:ext cx="12192000" cy="787791"/>
              <a:chOff x="0" y="-1"/>
              <a:chExt cx="12192000" cy="787791"/>
            </a:xfrm>
          </p:grpSpPr>
          <p:sp>
            <p:nvSpPr>
              <p:cNvPr id="7" name="Shape 0">
                <a:extLst>
                  <a:ext uri="{FF2B5EF4-FFF2-40B4-BE49-F238E27FC236}">
                    <a16:creationId xmlns:a16="http://schemas.microsoft.com/office/drawing/2014/main" id="{BE085F29-6497-FA8B-33A2-52DEBC0D2EAC}"/>
                  </a:ext>
                </a:extLst>
              </p:cNvPr>
              <p:cNvSpPr/>
              <p:nvPr/>
            </p:nvSpPr>
            <p:spPr>
              <a:xfrm>
                <a:off x="0" y="-1"/>
                <a:ext cx="12192000" cy="787791"/>
              </a:xfrm>
              <a:prstGeom prst="rect">
                <a:avLst/>
              </a:prstGeom>
              <a:solidFill>
                <a:srgbClr val="333333"/>
              </a:solidFill>
              <a:ln w="12700">
                <a:solidFill>
                  <a:srgbClr val="333333"/>
                </a:solidFill>
                <a:prstDash val="solid"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" name="Retângulo: Cantos Arredondados 7">
                <a:extLst>
                  <a:ext uri="{FF2B5EF4-FFF2-40B4-BE49-F238E27FC236}">
                    <a16:creationId xmlns:a16="http://schemas.microsoft.com/office/drawing/2014/main" id="{701E986B-EF6C-FAF0-2FE4-73E4C57D6A48}"/>
                  </a:ext>
                </a:extLst>
              </p:cNvPr>
              <p:cNvSpPr/>
              <p:nvPr/>
            </p:nvSpPr>
            <p:spPr>
              <a:xfrm>
                <a:off x="9835375" y="306443"/>
                <a:ext cx="1987681" cy="175290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23000">
                    <a:srgbClr val="84B9EB"/>
                  </a:gs>
                  <a:gs pos="54000">
                    <a:srgbClr val="F5EB3F"/>
                  </a:gs>
                </a:gsLst>
                <a:lin ang="0" scaled="1"/>
                <a:tileRect/>
              </a:gradFill>
              <a:ln>
                <a:solidFill>
                  <a:srgbClr val="3333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3E6BA5A3-76F7-A30C-0FCB-7AD0F42C10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7756" y="213902"/>
              <a:ext cx="1279943" cy="359984"/>
            </a:xfrm>
            <a:prstGeom prst="rect">
              <a:avLst/>
            </a:prstGeom>
          </p:spPr>
        </p:pic>
      </p:grpSp>
      <p:sp>
        <p:nvSpPr>
          <p:cNvPr id="9" name="Shape 0">
            <a:extLst>
              <a:ext uri="{FF2B5EF4-FFF2-40B4-BE49-F238E27FC236}">
                <a16:creationId xmlns:a16="http://schemas.microsoft.com/office/drawing/2014/main" id="{122EEF04-8BD8-32DA-6529-FCBC44EB3459}"/>
              </a:ext>
            </a:extLst>
          </p:cNvPr>
          <p:cNvSpPr/>
          <p:nvPr/>
        </p:nvSpPr>
        <p:spPr>
          <a:xfrm>
            <a:off x="0" y="0"/>
            <a:ext cx="61913" cy="787789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026" name="Picture 2" descr="GitHub Logo: valor, história, PNG">
            <a:extLst>
              <a:ext uri="{FF2B5EF4-FFF2-40B4-BE49-F238E27FC236}">
                <a16:creationId xmlns:a16="http://schemas.microsoft.com/office/drawing/2014/main" id="{3D236E8B-4B0A-D675-7288-6F970A5ACB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8369" y="2060879"/>
            <a:ext cx="3515259" cy="1977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39477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53CF00F-82D0-0DBA-75D5-1D01B4526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AE8A64CB-EED4-CDC6-DC5E-D370DC23B4CA}"/>
              </a:ext>
            </a:extLst>
          </p:cNvPr>
          <p:cNvGrpSpPr/>
          <p:nvPr/>
        </p:nvGrpSpPr>
        <p:grpSpPr>
          <a:xfrm>
            <a:off x="0" y="-2"/>
            <a:ext cx="12192000" cy="787791"/>
            <a:chOff x="0" y="-1"/>
            <a:chExt cx="12192000" cy="787791"/>
          </a:xfrm>
        </p:grpSpPr>
        <p:grpSp>
          <p:nvGrpSpPr>
            <p:cNvPr id="15" name="Agrupar 14">
              <a:extLst>
                <a:ext uri="{FF2B5EF4-FFF2-40B4-BE49-F238E27FC236}">
                  <a16:creationId xmlns:a16="http://schemas.microsoft.com/office/drawing/2014/main" id="{DF794E9F-2A52-F605-E800-B3669A6703C5}"/>
                </a:ext>
              </a:extLst>
            </p:cNvPr>
            <p:cNvGrpSpPr/>
            <p:nvPr/>
          </p:nvGrpSpPr>
          <p:grpSpPr>
            <a:xfrm>
              <a:off x="0" y="-1"/>
              <a:ext cx="12192000" cy="787791"/>
              <a:chOff x="0" y="-1"/>
              <a:chExt cx="12192000" cy="787791"/>
            </a:xfrm>
          </p:grpSpPr>
          <p:sp>
            <p:nvSpPr>
              <p:cNvPr id="17" name="Shape 0">
                <a:extLst>
                  <a:ext uri="{FF2B5EF4-FFF2-40B4-BE49-F238E27FC236}">
                    <a16:creationId xmlns:a16="http://schemas.microsoft.com/office/drawing/2014/main" id="{305DC400-B09E-8911-8871-AE0B190AC0BB}"/>
                  </a:ext>
                </a:extLst>
              </p:cNvPr>
              <p:cNvSpPr/>
              <p:nvPr/>
            </p:nvSpPr>
            <p:spPr>
              <a:xfrm>
                <a:off x="0" y="-1"/>
                <a:ext cx="12192000" cy="787791"/>
              </a:xfrm>
              <a:prstGeom prst="rect">
                <a:avLst/>
              </a:prstGeom>
              <a:solidFill>
                <a:srgbClr val="333333"/>
              </a:solidFill>
              <a:ln w="12700">
                <a:solidFill>
                  <a:srgbClr val="333333"/>
                </a:solidFill>
                <a:prstDash val="solid"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8" name="Retângulo: Cantos Arredondados 17">
                <a:extLst>
                  <a:ext uri="{FF2B5EF4-FFF2-40B4-BE49-F238E27FC236}">
                    <a16:creationId xmlns:a16="http://schemas.microsoft.com/office/drawing/2014/main" id="{316BB6DF-61A3-EDE9-C1E7-E8FA3B7462D8}"/>
                  </a:ext>
                </a:extLst>
              </p:cNvPr>
              <p:cNvSpPr/>
              <p:nvPr/>
            </p:nvSpPr>
            <p:spPr>
              <a:xfrm>
                <a:off x="9835375" y="306443"/>
                <a:ext cx="1987681" cy="175290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23000">
                    <a:srgbClr val="84B9EB"/>
                  </a:gs>
                  <a:gs pos="54000">
                    <a:srgbClr val="F5EB3F"/>
                  </a:gs>
                </a:gsLst>
                <a:lin ang="0" scaled="1"/>
                <a:tileRect/>
              </a:gradFill>
              <a:ln>
                <a:solidFill>
                  <a:srgbClr val="3333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pic>
          <p:nvPicPr>
            <p:cNvPr id="16" name="Imagem 15">
              <a:extLst>
                <a:ext uri="{FF2B5EF4-FFF2-40B4-BE49-F238E27FC236}">
                  <a16:creationId xmlns:a16="http://schemas.microsoft.com/office/drawing/2014/main" id="{07B75D3D-0CE5-78B7-F878-2A699A25BD4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7756" y="213902"/>
              <a:ext cx="1279943" cy="359984"/>
            </a:xfrm>
            <a:prstGeom prst="rect">
              <a:avLst/>
            </a:prstGeom>
          </p:spPr>
        </p:pic>
      </p:grpSp>
      <p:sp>
        <p:nvSpPr>
          <p:cNvPr id="19" name="Título 1">
            <a:extLst>
              <a:ext uri="{FF2B5EF4-FFF2-40B4-BE49-F238E27FC236}">
                <a16:creationId xmlns:a16="http://schemas.microsoft.com/office/drawing/2014/main" id="{EDEA01E0-E30F-17E1-16DB-6F26EF4ED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4636" y="72739"/>
            <a:ext cx="2093246" cy="642310"/>
          </a:xfrm>
        </p:spPr>
        <p:txBody>
          <a:bodyPr anchor="t">
            <a:normAutofit fontScale="90000"/>
          </a:bodyPr>
          <a:lstStyle/>
          <a:p>
            <a:r>
              <a:rPr lang="pt-BR" dirty="0">
                <a:solidFill>
                  <a:schemeClr val="bg1"/>
                </a:solidFill>
              </a:rPr>
              <a:t>| </a:t>
            </a:r>
            <a:r>
              <a:rPr lang="pt-BR" sz="3100" dirty="0">
                <a:solidFill>
                  <a:schemeClr val="bg1"/>
                </a:solidFill>
              </a:rPr>
              <a:t>Introdução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0" name="Shape 0">
            <a:extLst>
              <a:ext uri="{FF2B5EF4-FFF2-40B4-BE49-F238E27FC236}">
                <a16:creationId xmlns:a16="http://schemas.microsoft.com/office/drawing/2014/main" id="{0D8FB40D-DAEA-0EF6-5365-C34414377EC6}"/>
              </a:ext>
            </a:extLst>
          </p:cNvPr>
          <p:cNvSpPr/>
          <p:nvPr/>
        </p:nvSpPr>
        <p:spPr>
          <a:xfrm>
            <a:off x="0" y="0"/>
            <a:ext cx="61913" cy="787789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ítulo 1">
            <a:extLst>
              <a:ext uri="{FF2B5EF4-FFF2-40B4-BE49-F238E27FC236}">
                <a16:creationId xmlns:a16="http://schemas.microsoft.com/office/drawing/2014/main" id="{3B9E9A9D-9356-D1E2-28A5-1FAEAC0D4E95}"/>
              </a:ext>
            </a:extLst>
          </p:cNvPr>
          <p:cNvSpPr txBox="1">
            <a:spLocks/>
          </p:cNvSpPr>
          <p:nvPr/>
        </p:nvSpPr>
        <p:spPr>
          <a:xfrm>
            <a:off x="1511104" y="1158276"/>
            <a:ext cx="9160475" cy="6561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/>
              <a:t>Desafio Analista de Dados – Mercado Livre</a:t>
            </a:r>
            <a:endParaRPr lang="pt-BR" dirty="0"/>
          </a:p>
        </p:txBody>
      </p:sp>
      <p:graphicFrame>
        <p:nvGraphicFramePr>
          <p:cNvPr id="22" name="Espaço Reservado para Conteúdo 4">
            <a:extLst>
              <a:ext uri="{FF2B5EF4-FFF2-40B4-BE49-F238E27FC236}">
                <a16:creationId xmlns:a16="http://schemas.microsoft.com/office/drawing/2014/main" id="{B81B7C39-92B6-F6E8-A166-FCC9C3BB0D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6476763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SmartArt"/>
                    <p202:designTag name="ARCH:1:VSVAR" val="Timeline"/>
                  </p202:designTagLst>
                </p202:designPr>
              </p:ext>
            </p:extLst>
          </p:nvPr>
        </p:nvGraphicFramePr>
        <p:xfrm>
          <a:off x="576472" y="2184933"/>
          <a:ext cx="11029741" cy="44515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094727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C2FCA-4644-F65A-B2B3-BEE17FF61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Agrupar 13">
            <a:extLst>
              <a:ext uri="{FF2B5EF4-FFF2-40B4-BE49-F238E27FC236}">
                <a16:creationId xmlns:a16="http://schemas.microsoft.com/office/drawing/2014/main" id="{488BEC15-3996-FB75-F3B9-33CC34D18BB8}"/>
              </a:ext>
            </a:extLst>
          </p:cNvPr>
          <p:cNvGrpSpPr/>
          <p:nvPr/>
        </p:nvGrpSpPr>
        <p:grpSpPr>
          <a:xfrm>
            <a:off x="0" y="-2"/>
            <a:ext cx="12192000" cy="787791"/>
            <a:chOff x="0" y="-1"/>
            <a:chExt cx="12192000" cy="787791"/>
          </a:xfrm>
        </p:grpSpPr>
        <p:grpSp>
          <p:nvGrpSpPr>
            <p:cNvPr id="15" name="Agrupar 14">
              <a:extLst>
                <a:ext uri="{FF2B5EF4-FFF2-40B4-BE49-F238E27FC236}">
                  <a16:creationId xmlns:a16="http://schemas.microsoft.com/office/drawing/2014/main" id="{56C92FFD-598B-1ADF-1563-25E906006B16}"/>
                </a:ext>
              </a:extLst>
            </p:cNvPr>
            <p:cNvGrpSpPr/>
            <p:nvPr/>
          </p:nvGrpSpPr>
          <p:grpSpPr>
            <a:xfrm>
              <a:off x="0" y="-1"/>
              <a:ext cx="12192000" cy="787791"/>
              <a:chOff x="0" y="-1"/>
              <a:chExt cx="12192000" cy="787791"/>
            </a:xfrm>
          </p:grpSpPr>
          <p:sp>
            <p:nvSpPr>
              <p:cNvPr id="17" name="Shape 0">
                <a:extLst>
                  <a:ext uri="{FF2B5EF4-FFF2-40B4-BE49-F238E27FC236}">
                    <a16:creationId xmlns:a16="http://schemas.microsoft.com/office/drawing/2014/main" id="{E52F1DB7-AFE9-E3BD-29E9-78B0ABC286DB}"/>
                  </a:ext>
                </a:extLst>
              </p:cNvPr>
              <p:cNvSpPr/>
              <p:nvPr/>
            </p:nvSpPr>
            <p:spPr>
              <a:xfrm>
                <a:off x="0" y="-1"/>
                <a:ext cx="12192000" cy="787791"/>
              </a:xfrm>
              <a:prstGeom prst="rect">
                <a:avLst/>
              </a:prstGeom>
              <a:solidFill>
                <a:srgbClr val="333333"/>
              </a:solidFill>
              <a:ln w="12700">
                <a:solidFill>
                  <a:srgbClr val="333333"/>
                </a:solidFill>
                <a:prstDash val="solid"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8" name="Retângulo: Cantos Arredondados 17">
                <a:extLst>
                  <a:ext uri="{FF2B5EF4-FFF2-40B4-BE49-F238E27FC236}">
                    <a16:creationId xmlns:a16="http://schemas.microsoft.com/office/drawing/2014/main" id="{3772C3F5-6490-973A-F3C4-1D877AB15C27}"/>
                  </a:ext>
                </a:extLst>
              </p:cNvPr>
              <p:cNvSpPr/>
              <p:nvPr/>
            </p:nvSpPr>
            <p:spPr>
              <a:xfrm>
                <a:off x="9835375" y="306443"/>
                <a:ext cx="1987681" cy="175290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23000">
                    <a:srgbClr val="84B9EB"/>
                  </a:gs>
                  <a:gs pos="54000">
                    <a:srgbClr val="F5EB3F"/>
                  </a:gs>
                </a:gsLst>
                <a:lin ang="0" scaled="1"/>
                <a:tileRect/>
              </a:gradFill>
              <a:ln>
                <a:solidFill>
                  <a:srgbClr val="3333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pic>
          <p:nvPicPr>
            <p:cNvPr id="16" name="Imagem 15">
              <a:extLst>
                <a:ext uri="{FF2B5EF4-FFF2-40B4-BE49-F238E27FC236}">
                  <a16:creationId xmlns:a16="http://schemas.microsoft.com/office/drawing/2014/main" id="{71427812-E33B-A860-EDB3-66A9A5BC3D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7756" y="213902"/>
              <a:ext cx="1279943" cy="359984"/>
            </a:xfrm>
            <a:prstGeom prst="rect">
              <a:avLst/>
            </a:prstGeom>
          </p:spPr>
        </p:pic>
      </p:grpSp>
      <p:sp>
        <p:nvSpPr>
          <p:cNvPr id="19" name="Título 1">
            <a:extLst>
              <a:ext uri="{FF2B5EF4-FFF2-40B4-BE49-F238E27FC236}">
                <a16:creationId xmlns:a16="http://schemas.microsoft.com/office/drawing/2014/main" id="{BB0CFE4D-4ACB-04FC-CD58-23CA937D5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4636" y="72739"/>
            <a:ext cx="2093246" cy="642310"/>
          </a:xfrm>
        </p:spPr>
        <p:txBody>
          <a:bodyPr anchor="t">
            <a:normAutofit fontScale="90000"/>
          </a:bodyPr>
          <a:lstStyle/>
          <a:p>
            <a:r>
              <a:rPr lang="pt-BR" dirty="0">
                <a:solidFill>
                  <a:schemeClr val="bg1"/>
                </a:solidFill>
              </a:rPr>
              <a:t>| </a:t>
            </a:r>
            <a:r>
              <a:rPr lang="pt-BR" sz="3100" dirty="0">
                <a:solidFill>
                  <a:schemeClr val="bg1"/>
                </a:solidFill>
              </a:rPr>
              <a:t>Produto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10E8D5A2-DCF6-A9F8-54D3-6D15DAA42DD3}"/>
              </a:ext>
            </a:extLst>
          </p:cNvPr>
          <p:cNvSpPr/>
          <p:nvPr/>
        </p:nvSpPr>
        <p:spPr>
          <a:xfrm>
            <a:off x="0" y="0"/>
            <a:ext cx="61913" cy="787789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grpSp>
        <p:nvGrpSpPr>
          <p:cNvPr id="54" name="Agrupar 53">
            <a:extLst>
              <a:ext uri="{FF2B5EF4-FFF2-40B4-BE49-F238E27FC236}">
                <a16:creationId xmlns:a16="http://schemas.microsoft.com/office/drawing/2014/main" id="{BB013E09-F7F6-E849-D2A8-1EC4AE4A79FB}"/>
              </a:ext>
            </a:extLst>
          </p:cNvPr>
          <p:cNvGrpSpPr/>
          <p:nvPr/>
        </p:nvGrpSpPr>
        <p:grpSpPr>
          <a:xfrm>
            <a:off x="347756" y="1101954"/>
            <a:ext cx="8741664" cy="594360"/>
            <a:chOff x="347756" y="1802320"/>
            <a:chExt cx="8741664" cy="594360"/>
          </a:xfrm>
        </p:grpSpPr>
        <p:sp>
          <p:nvSpPr>
            <p:cNvPr id="6" name="Shape 4">
              <a:extLst>
                <a:ext uri="{FF2B5EF4-FFF2-40B4-BE49-F238E27FC236}">
                  <a16:creationId xmlns:a16="http://schemas.microsoft.com/office/drawing/2014/main" id="{0EF331DF-D91B-24C3-C1A0-47CD60F7DB7B}"/>
                </a:ext>
              </a:extLst>
            </p:cNvPr>
            <p:cNvSpPr/>
            <p:nvPr/>
          </p:nvSpPr>
          <p:spPr>
            <a:xfrm>
              <a:off x="347756" y="1802320"/>
              <a:ext cx="1691640" cy="594360"/>
            </a:xfrm>
            <a:prstGeom prst="rect">
              <a:avLst/>
            </a:prstGeom>
            <a:solidFill>
              <a:srgbClr val="333333"/>
            </a:solidFill>
            <a:ln w="12700">
              <a:solidFill>
                <a:srgbClr val="1A2B4A"/>
              </a:solidFill>
              <a:prstDash val="solid"/>
            </a:ln>
          </p:spPr>
          <p:txBody>
            <a:bodyPr/>
            <a:lstStyle/>
            <a:p>
              <a:endParaRPr lang="pt-BR" dirty="0">
                <a:solidFill>
                  <a:srgbClr val="F5EB3F"/>
                </a:solidFill>
              </a:endParaRPr>
            </a:p>
          </p:txBody>
        </p:sp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78EA2138-62B7-0A4A-02AB-CEEE1CADE8C6}"/>
                </a:ext>
              </a:extLst>
            </p:cNvPr>
            <p:cNvSpPr/>
            <p:nvPr/>
          </p:nvSpPr>
          <p:spPr>
            <a:xfrm>
              <a:off x="347756" y="1802320"/>
              <a:ext cx="1691640" cy="5943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5EB3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Universo base</a:t>
              </a:r>
              <a:endParaRPr lang="en-US" sz="1200" dirty="0">
                <a:solidFill>
                  <a:srgbClr val="F5EB3F"/>
                </a:solidFill>
              </a:endParaRPr>
            </a:p>
          </p:txBody>
        </p:sp>
        <p:sp>
          <p:nvSpPr>
            <p:cNvPr id="8" name="Shape 6">
              <a:extLst>
                <a:ext uri="{FF2B5EF4-FFF2-40B4-BE49-F238E27FC236}">
                  <a16:creationId xmlns:a16="http://schemas.microsoft.com/office/drawing/2014/main" id="{DE13E100-378F-A31E-1352-0044272211AE}"/>
                </a:ext>
              </a:extLst>
            </p:cNvPr>
            <p:cNvSpPr/>
            <p:nvPr/>
          </p:nvSpPr>
          <p:spPr>
            <a:xfrm>
              <a:off x="2057684" y="1802320"/>
              <a:ext cx="3017520" cy="594360"/>
            </a:xfrm>
            <a:prstGeom prst="rect">
              <a:avLst/>
            </a:prstGeom>
            <a:solidFill>
              <a:srgbClr val="EEF3FA"/>
            </a:solidFill>
            <a:ln w="12700">
              <a:solidFill>
                <a:srgbClr val="D8E4F0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9" name="Text 7">
              <a:extLst>
                <a:ext uri="{FF2B5EF4-FFF2-40B4-BE49-F238E27FC236}">
                  <a16:creationId xmlns:a16="http://schemas.microsoft.com/office/drawing/2014/main" id="{03BAAD58-5FFC-C4E6-0936-DC1E9F1EF021}"/>
                </a:ext>
              </a:extLst>
            </p:cNvPr>
            <p:cNvSpPr/>
            <p:nvPr/>
          </p:nvSpPr>
          <p:spPr>
            <a:xfrm>
              <a:off x="2103404" y="1802320"/>
              <a:ext cx="2926080" cy="594360"/>
            </a:xfrm>
            <a:prstGeom prst="rect">
              <a:avLst/>
            </a:prstGeom>
            <a:noFill/>
            <a:ln/>
          </p:spPr>
          <p:txBody>
            <a:bodyPr wrap="square" lIns="38100" tIns="38100" rIns="38100" bIns="3810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1659A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Colaboradores ativos no mês M</a:t>
              </a:r>
              <a:endParaRPr lang="en-US" sz="850" dirty="0"/>
            </a:p>
          </p:txBody>
        </p:sp>
        <p:sp>
          <p:nvSpPr>
            <p:cNvPr id="11" name="Shape 8">
              <a:extLst>
                <a:ext uri="{FF2B5EF4-FFF2-40B4-BE49-F238E27FC236}">
                  <a16:creationId xmlns:a16="http://schemas.microsoft.com/office/drawing/2014/main" id="{3263DF98-173B-A180-F9AC-F79219BCC400}"/>
                </a:ext>
              </a:extLst>
            </p:cNvPr>
            <p:cNvSpPr/>
            <p:nvPr/>
          </p:nvSpPr>
          <p:spPr>
            <a:xfrm>
              <a:off x="5093492" y="1802320"/>
              <a:ext cx="3995928" cy="594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8E4F0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2" name="Text 9">
              <a:extLst>
                <a:ext uri="{FF2B5EF4-FFF2-40B4-BE49-F238E27FC236}">
                  <a16:creationId xmlns:a16="http://schemas.microsoft.com/office/drawing/2014/main" id="{72FA7EE8-7717-1F00-5627-5E75FF89E3F9}"/>
                </a:ext>
              </a:extLst>
            </p:cNvPr>
            <p:cNvSpPr/>
            <p:nvPr/>
          </p:nvSpPr>
          <p:spPr>
            <a:xfrm>
              <a:off x="5139212" y="1802320"/>
              <a:ext cx="3904488" cy="594360"/>
            </a:xfrm>
            <a:prstGeom prst="rect">
              <a:avLst/>
            </a:prstGeom>
            <a:noFill/>
            <a:ln/>
          </p:spPr>
          <p:txBody>
            <a:bodyPr wrap="square" lIns="38100" tIns="38100" rIns="38100" bIns="3810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4B5F7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Alinhado ao enunciado: "apenas colaboradores ativos".</a:t>
              </a:r>
              <a:endParaRPr lang="en-US" sz="850" dirty="0"/>
            </a:p>
          </p:txBody>
        </p:sp>
      </p:grpSp>
      <p:grpSp>
        <p:nvGrpSpPr>
          <p:cNvPr id="53" name="Agrupar 52">
            <a:extLst>
              <a:ext uri="{FF2B5EF4-FFF2-40B4-BE49-F238E27FC236}">
                <a16:creationId xmlns:a16="http://schemas.microsoft.com/office/drawing/2014/main" id="{CB4F515B-CAB2-8A2F-B2CB-1EA4F1A7659A}"/>
              </a:ext>
            </a:extLst>
          </p:cNvPr>
          <p:cNvGrpSpPr/>
          <p:nvPr/>
        </p:nvGrpSpPr>
        <p:grpSpPr>
          <a:xfrm>
            <a:off x="768380" y="1996058"/>
            <a:ext cx="8741664" cy="594360"/>
            <a:chOff x="347756" y="2460688"/>
            <a:chExt cx="8741664" cy="594360"/>
          </a:xfrm>
        </p:grpSpPr>
        <p:sp>
          <p:nvSpPr>
            <p:cNvPr id="13" name="Shape 10">
              <a:extLst>
                <a:ext uri="{FF2B5EF4-FFF2-40B4-BE49-F238E27FC236}">
                  <a16:creationId xmlns:a16="http://schemas.microsoft.com/office/drawing/2014/main" id="{20110633-07DF-2C6B-7280-39C1BC1948CC}"/>
                </a:ext>
              </a:extLst>
            </p:cNvPr>
            <p:cNvSpPr/>
            <p:nvPr/>
          </p:nvSpPr>
          <p:spPr>
            <a:xfrm>
              <a:off x="347756" y="2460688"/>
              <a:ext cx="1691640" cy="594360"/>
            </a:xfrm>
            <a:prstGeom prst="rect">
              <a:avLst/>
            </a:prstGeom>
            <a:solidFill>
              <a:srgbClr val="333333"/>
            </a:solidFill>
            <a:ln w="12700">
              <a:solidFill>
                <a:srgbClr val="1A2B4A"/>
              </a:solidFill>
              <a:prstDash val="solid"/>
            </a:ln>
          </p:spPr>
          <p:txBody>
            <a:bodyPr/>
            <a:lstStyle/>
            <a:p>
              <a:endParaRPr lang="pt-BR">
                <a:solidFill>
                  <a:srgbClr val="F5EB3F"/>
                </a:solidFill>
              </a:endParaRPr>
            </a:p>
          </p:txBody>
        </p:sp>
        <p:sp>
          <p:nvSpPr>
            <p:cNvPr id="20" name="Text 11">
              <a:extLst>
                <a:ext uri="{FF2B5EF4-FFF2-40B4-BE49-F238E27FC236}">
                  <a16:creationId xmlns:a16="http://schemas.microsoft.com/office/drawing/2014/main" id="{BDF313D5-39F9-F0E1-0678-57CAB32D54B6}"/>
                </a:ext>
              </a:extLst>
            </p:cNvPr>
            <p:cNvSpPr/>
            <p:nvPr/>
          </p:nvSpPr>
          <p:spPr>
            <a:xfrm>
              <a:off x="347756" y="2460688"/>
              <a:ext cx="1691640" cy="5943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5EB3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Ativo no mês</a:t>
              </a:r>
              <a:endParaRPr lang="en-US" sz="1200" dirty="0">
                <a:solidFill>
                  <a:srgbClr val="F5EB3F"/>
                </a:solidFill>
              </a:endParaRPr>
            </a:p>
          </p:txBody>
        </p:sp>
        <p:sp>
          <p:nvSpPr>
            <p:cNvPr id="21" name="Shape 12">
              <a:extLst>
                <a:ext uri="{FF2B5EF4-FFF2-40B4-BE49-F238E27FC236}">
                  <a16:creationId xmlns:a16="http://schemas.microsoft.com/office/drawing/2014/main" id="{CFF69711-9FCF-D931-3A8B-8F53A8A09222}"/>
                </a:ext>
              </a:extLst>
            </p:cNvPr>
            <p:cNvSpPr/>
            <p:nvPr/>
          </p:nvSpPr>
          <p:spPr>
            <a:xfrm>
              <a:off x="2057684" y="2460688"/>
              <a:ext cx="3017520" cy="594360"/>
            </a:xfrm>
            <a:prstGeom prst="rect">
              <a:avLst/>
            </a:prstGeom>
            <a:solidFill>
              <a:srgbClr val="EEF3FA"/>
            </a:solidFill>
            <a:ln w="12700">
              <a:solidFill>
                <a:srgbClr val="D8E4F0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2" name="Text 13">
              <a:extLst>
                <a:ext uri="{FF2B5EF4-FFF2-40B4-BE49-F238E27FC236}">
                  <a16:creationId xmlns:a16="http://schemas.microsoft.com/office/drawing/2014/main" id="{FDA93853-7B49-DF07-D569-E4880902A462}"/>
                </a:ext>
              </a:extLst>
            </p:cNvPr>
            <p:cNvSpPr/>
            <p:nvPr/>
          </p:nvSpPr>
          <p:spPr>
            <a:xfrm>
              <a:off x="2103404" y="2460688"/>
              <a:ext cx="2926080" cy="594360"/>
            </a:xfrm>
            <a:prstGeom prst="rect">
              <a:avLst/>
            </a:prstGeom>
            <a:noFill/>
            <a:ln/>
          </p:spPr>
          <p:txBody>
            <a:bodyPr wrap="square" lIns="38100" tIns="38100" rIns="38100" bIns="3810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1659A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start_date ≤ último dia de M</a:t>
              </a:r>
              <a:endParaRPr lang="en-US" sz="850" dirty="0"/>
            </a:p>
            <a:p>
              <a:pPr marL="0" indent="0">
                <a:buNone/>
              </a:pPr>
              <a:r>
                <a:rPr lang="en-US" sz="850" dirty="0">
                  <a:solidFill>
                    <a:srgbClr val="1659A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E (end_date IS NULL OU end_date ≥ 1º dia de M)</a:t>
              </a:r>
              <a:endParaRPr lang="en-US" sz="850" dirty="0"/>
            </a:p>
          </p:txBody>
        </p:sp>
        <p:sp>
          <p:nvSpPr>
            <p:cNvPr id="23" name="Shape 14">
              <a:extLst>
                <a:ext uri="{FF2B5EF4-FFF2-40B4-BE49-F238E27FC236}">
                  <a16:creationId xmlns:a16="http://schemas.microsoft.com/office/drawing/2014/main" id="{BF6F94D4-E244-F3E4-CBDD-28629F1EFC4E}"/>
                </a:ext>
              </a:extLst>
            </p:cNvPr>
            <p:cNvSpPr/>
            <p:nvPr/>
          </p:nvSpPr>
          <p:spPr>
            <a:xfrm>
              <a:off x="5093492" y="2460688"/>
              <a:ext cx="3995928" cy="594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8E4F0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4" name="Text 15">
              <a:extLst>
                <a:ext uri="{FF2B5EF4-FFF2-40B4-BE49-F238E27FC236}">
                  <a16:creationId xmlns:a16="http://schemas.microsoft.com/office/drawing/2014/main" id="{93BF446A-24F7-DAAC-E056-9849EAF46D21}"/>
                </a:ext>
              </a:extLst>
            </p:cNvPr>
            <p:cNvSpPr/>
            <p:nvPr/>
          </p:nvSpPr>
          <p:spPr>
            <a:xfrm>
              <a:off x="5139212" y="2460688"/>
              <a:ext cx="3904488" cy="594360"/>
            </a:xfrm>
            <a:prstGeom prst="rect">
              <a:avLst/>
            </a:prstGeom>
            <a:noFill/>
            <a:ln/>
          </p:spPr>
          <p:txBody>
            <a:bodyPr wrap="square" lIns="38100" tIns="38100" rIns="38100" bIns="3810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4B5F7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end_date nulo = ainda na empresa. Saída mid-month = ativo no mês civil inteiro (ajustável para &gt;15 dias se RH definir).</a:t>
              </a:r>
              <a:endParaRPr lang="en-US" sz="850" dirty="0"/>
            </a:p>
          </p:txBody>
        </p:sp>
      </p:grpSp>
      <p:grpSp>
        <p:nvGrpSpPr>
          <p:cNvPr id="52" name="Agrupar 51">
            <a:extLst>
              <a:ext uri="{FF2B5EF4-FFF2-40B4-BE49-F238E27FC236}">
                <a16:creationId xmlns:a16="http://schemas.microsoft.com/office/drawing/2014/main" id="{EEECD788-3574-F5C4-BAD8-46A3CAE23BA0}"/>
              </a:ext>
            </a:extLst>
          </p:cNvPr>
          <p:cNvGrpSpPr/>
          <p:nvPr/>
        </p:nvGrpSpPr>
        <p:grpSpPr>
          <a:xfrm>
            <a:off x="1189004" y="2898495"/>
            <a:ext cx="8741664" cy="594360"/>
            <a:chOff x="347756" y="3119056"/>
            <a:chExt cx="8741664" cy="594360"/>
          </a:xfrm>
        </p:grpSpPr>
        <p:sp>
          <p:nvSpPr>
            <p:cNvPr id="25" name="Shape 16">
              <a:extLst>
                <a:ext uri="{FF2B5EF4-FFF2-40B4-BE49-F238E27FC236}">
                  <a16:creationId xmlns:a16="http://schemas.microsoft.com/office/drawing/2014/main" id="{6D5924A6-DFDD-39B7-D8A5-4816B7B101AC}"/>
                </a:ext>
              </a:extLst>
            </p:cNvPr>
            <p:cNvSpPr/>
            <p:nvPr/>
          </p:nvSpPr>
          <p:spPr>
            <a:xfrm>
              <a:off x="347756" y="3119056"/>
              <a:ext cx="1691640" cy="594360"/>
            </a:xfrm>
            <a:prstGeom prst="rect">
              <a:avLst/>
            </a:prstGeom>
            <a:solidFill>
              <a:srgbClr val="333333"/>
            </a:solidFill>
            <a:ln w="12700">
              <a:solidFill>
                <a:srgbClr val="1A2B4A"/>
              </a:solidFill>
              <a:prstDash val="solid"/>
            </a:ln>
          </p:spPr>
          <p:txBody>
            <a:bodyPr/>
            <a:lstStyle/>
            <a:p>
              <a:endParaRPr lang="pt-BR">
                <a:solidFill>
                  <a:srgbClr val="F5EB3F"/>
                </a:solidFill>
              </a:endParaRPr>
            </a:p>
          </p:txBody>
        </p:sp>
        <p:sp>
          <p:nvSpPr>
            <p:cNvPr id="26" name="Text 17">
              <a:extLst>
                <a:ext uri="{FF2B5EF4-FFF2-40B4-BE49-F238E27FC236}">
                  <a16:creationId xmlns:a16="http://schemas.microsoft.com/office/drawing/2014/main" id="{9811D393-0A29-89E7-5EBF-6EF276787BAF}"/>
                </a:ext>
              </a:extLst>
            </p:cNvPr>
            <p:cNvSpPr/>
            <p:nvPr/>
          </p:nvSpPr>
          <p:spPr>
            <a:xfrm>
              <a:off x="347756" y="3119056"/>
              <a:ext cx="1691640" cy="5943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5EB3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Exclusão</a:t>
              </a:r>
              <a:endParaRPr lang="en-US" sz="950" dirty="0">
                <a:solidFill>
                  <a:srgbClr val="F5EB3F"/>
                </a:solidFill>
              </a:endParaRPr>
            </a:p>
          </p:txBody>
        </p:sp>
        <p:sp>
          <p:nvSpPr>
            <p:cNvPr id="27" name="Shape 18">
              <a:extLst>
                <a:ext uri="{FF2B5EF4-FFF2-40B4-BE49-F238E27FC236}">
                  <a16:creationId xmlns:a16="http://schemas.microsoft.com/office/drawing/2014/main" id="{B442FBFD-34D4-90F2-83A8-FABED9963F25}"/>
                </a:ext>
              </a:extLst>
            </p:cNvPr>
            <p:cNvSpPr/>
            <p:nvPr/>
          </p:nvSpPr>
          <p:spPr>
            <a:xfrm>
              <a:off x="2057684" y="3119056"/>
              <a:ext cx="3017520" cy="594360"/>
            </a:xfrm>
            <a:prstGeom prst="rect">
              <a:avLst/>
            </a:prstGeom>
            <a:solidFill>
              <a:srgbClr val="EEF3FA"/>
            </a:solidFill>
            <a:ln w="12700">
              <a:solidFill>
                <a:srgbClr val="D8E4F0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8" name="Text 19">
              <a:extLst>
                <a:ext uri="{FF2B5EF4-FFF2-40B4-BE49-F238E27FC236}">
                  <a16:creationId xmlns:a16="http://schemas.microsoft.com/office/drawing/2014/main" id="{A9FEFA77-DB6B-95FB-D35C-9C57A5ABEC2F}"/>
                </a:ext>
              </a:extLst>
            </p:cNvPr>
            <p:cNvSpPr/>
            <p:nvPr/>
          </p:nvSpPr>
          <p:spPr>
            <a:xfrm>
              <a:off x="2103404" y="3119056"/>
              <a:ext cx="2926080" cy="594360"/>
            </a:xfrm>
            <a:prstGeom prst="rect">
              <a:avLst/>
            </a:prstGeom>
            <a:noFill/>
            <a:ln/>
          </p:spPr>
          <p:txBody>
            <a:bodyPr wrap="square" lIns="38100" tIns="38100" rIns="38100" bIns="3810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1659A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division = 'Shipping'</a:t>
              </a:r>
              <a:endParaRPr lang="en-US" sz="850" dirty="0"/>
            </a:p>
            <a:p>
              <a:pPr marL="0" indent="0">
                <a:buNone/>
              </a:pPr>
              <a:r>
                <a:rPr lang="en-US" sz="850" dirty="0">
                  <a:solidFill>
                    <a:srgbClr val="1659A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AND function = 'Representative'</a:t>
              </a:r>
              <a:endParaRPr lang="en-US" sz="850" dirty="0"/>
            </a:p>
          </p:txBody>
        </p:sp>
        <p:sp>
          <p:nvSpPr>
            <p:cNvPr id="29" name="Shape 20">
              <a:extLst>
                <a:ext uri="{FF2B5EF4-FFF2-40B4-BE49-F238E27FC236}">
                  <a16:creationId xmlns:a16="http://schemas.microsoft.com/office/drawing/2014/main" id="{FFCC5AA0-3720-17C5-4C88-136E4312D708}"/>
                </a:ext>
              </a:extLst>
            </p:cNvPr>
            <p:cNvSpPr/>
            <p:nvPr/>
          </p:nvSpPr>
          <p:spPr>
            <a:xfrm>
              <a:off x="5093492" y="3119056"/>
              <a:ext cx="3995928" cy="594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8E4F0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0" name="Text 21">
              <a:extLst>
                <a:ext uri="{FF2B5EF4-FFF2-40B4-BE49-F238E27FC236}">
                  <a16:creationId xmlns:a16="http://schemas.microsoft.com/office/drawing/2014/main" id="{151F79BD-4E2D-9E80-0CDC-CD1196482CC8}"/>
                </a:ext>
              </a:extLst>
            </p:cNvPr>
            <p:cNvSpPr/>
            <p:nvPr/>
          </p:nvSpPr>
          <p:spPr>
            <a:xfrm>
              <a:off x="5139212" y="3119056"/>
              <a:ext cx="3904488" cy="594360"/>
            </a:xfrm>
            <a:prstGeom prst="rect">
              <a:avLst/>
            </a:prstGeom>
            <a:noFill/>
            <a:ln/>
          </p:spPr>
          <p:txBody>
            <a:bodyPr wrap="square" lIns="38100" tIns="38100" rIns="38100" bIns="3810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4B5F7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Texto literal do case. Ambos os critérios necessários para não excluir outros papéis de Shipping.</a:t>
              </a:r>
              <a:endParaRPr lang="en-US" sz="850" dirty="0"/>
            </a:p>
          </p:txBody>
        </p:sp>
      </p:grpSp>
      <p:grpSp>
        <p:nvGrpSpPr>
          <p:cNvPr id="51" name="Agrupar 50">
            <a:extLst>
              <a:ext uri="{FF2B5EF4-FFF2-40B4-BE49-F238E27FC236}">
                <a16:creationId xmlns:a16="http://schemas.microsoft.com/office/drawing/2014/main" id="{1A0C9377-1E5C-6133-D628-4CCA0359006B}"/>
              </a:ext>
            </a:extLst>
          </p:cNvPr>
          <p:cNvGrpSpPr/>
          <p:nvPr/>
        </p:nvGrpSpPr>
        <p:grpSpPr>
          <a:xfrm>
            <a:off x="2034824" y="3792599"/>
            <a:ext cx="8741664" cy="594360"/>
            <a:chOff x="347756" y="3777424"/>
            <a:chExt cx="8741664" cy="594360"/>
          </a:xfrm>
        </p:grpSpPr>
        <p:sp>
          <p:nvSpPr>
            <p:cNvPr id="31" name="Shape 22">
              <a:extLst>
                <a:ext uri="{FF2B5EF4-FFF2-40B4-BE49-F238E27FC236}">
                  <a16:creationId xmlns:a16="http://schemas.microsoft.com/office/drawing/2014/main" id="{A888D08D-3583-644C-CFCB-E9617CB3AAD9}"/>
                </a:ext>
              </a:extLst>
            </p:cNvPr>
            <p:cNvSpPr/>
            <p:nvPr/>
          </p:nvSpPr>
          <p:spPr>
            <a:xfrm>
              <a:off x="347756" y="3777424"/>
              <a:ext cx="1691640" cy="594360"/>
            </a:xfrm>
            <a:prstGeom prst="rect">
              <a:avLst/>
            </a:prstGeom>
            <a:solidFill>
              <a:srgbClr val="333333"/>
            </a:solidFill>
            <a:ln w="12700">
              <a:solidFill>
                <a:srgbClr val="1A2B4A"/>
              </a:solidFill>
              <a:prstDash val="solid"/>
            </a:ln>
          </p:spPr>
          <p:txBody>
            <a:bodyPr/>
            <a:lstStyle/>
            <a:p>
              <a:endParaRPr lang="pt-BR">
                <a:solidFill>
                  <a:srgbClr val="F5EB3F"/>
                </a:solidFill>
              </a:endParaRPr>
            </a:p>
          </p:txBody>
        </p:sp>
        <p:sp>
          <p:nvSpPr>
            <p:cNvPr id="32" name="Text 23">
              <a:extLst>
                <a:ext uri="{FF2B5EF4-FFF2-40B4-BE49-F238E27FC236}">
                  <a16:creationId xmlns:a16="http://schemas.microsoft.com/office/drawing/2014/main" id="{EEC104BA-7C46-5568-7CE3-65FAEA6F8E80}"/>
                </a:ext>
              </a:extLst>
            </p:cNvPr>
            <p:cNvSpPr/>
            <p:nvPr/>
          </p:nvSpPr>
          <p:spPr>
            <a:xfrm>
              <a:off x="347756" y="3777424"/>
              <a:ext cx="1691640" cy="5943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5EB3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ORG no mês</a:t>
              </a:r>
              <a:endParaRPr lang="en-US" sz="1200" dirty="0">
                <a:solidFill>
                  <a:srgbClr val="F5EB3F"/>
                </a:solidFill>
              </a:endParaRPr>
            </a:p>
          </p:txBody>
        </p:sp>
        <p:sp>
          <p:nvSpPr>
            <p:cNvPr id="33" name="Shape 24">
              <a:extLst>
                <a:ext uri="{FF2B5EF4-FFF2-40B4-BE49-F238E27FC236}">
                  <a16:creationId xmlns:a16="http://schemas.microsoft.com/office/drawing/2014/main" id="{1E8BF940-843B-AC47-B964-44B32081378A}"/>
                </a:ext>
              </a:extLst>
            </p:cNvPr>
            <p:cNvSpPr/>
            <p:nvPr/>
          </p:nvSpPr>
          <p:spPr>
            <a:xfrm>
              <a:off x="2057684" y="3777424"/>
              <a:ext cx="3017520" cy="594360"/>
            </a:xfrm>
            <a:prstGeom prst="rect">
              <a:avLst/>
            </a:prstGeom>
            <a:solidFill>
              <a:srgbClr val="EEF3FA"/>
            </a:solidFill>
            <a:ln w="12700">
              <a:solidFill>
                <a:srgbClr val="D8E4F0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4" name="Text 25">
              <a:extLst>
                <a:ext uri="{FF2B5EF4-FFF2-40B4-BE49-F238E27FC236}">
                  <a16:creationId xmlns:a16="http://schemas.microsoft.com/office/drawing/2014/main" id="{8D3D4A0D-B9BA-092C-D58C-EE287693E52A}"/>
                </a:ext>
              </a:extLst>
            </p:cNvPr>
            <p:cNvSpPr/>
            <p:nvPr/>
          </p:nvSpPr>
          <p:spPr>
            <a:xfrm>
              <a:off x="2103404" y="3777424"/>
              <a:ext cx="2926080" cy="594360"/>
            </a:xfrm>
            <a:prstGeom prst="rect">
              <a:avLst/>
            </a:prstGeom>
            <a:noFill/>
            <a:ln/>
          </p:spPr>
          <p:txBody>
            <a:bodyPr wrap="square" lIns="38100" tIns="38100" rIns="38100" bIns="3810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1659A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Último tim_day ≤ último dia de M</a:t>
              </a:r>
              <a:endParaRPr lang="en-US" sz="850" dirty="0"/>
            </a:p>
            <a:p>
              <a:pPr marL="0" indent="0">
                <a:buNone/>
              </a:pPr>
              <a:r>
                <a:rPr lang="en-US" sz="850" dirty="0">
                  <a:solidFill>
                    <a:srgbClr val="1659A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(SCD tipo 2 por mês)</a:t>
              </a:r>
              <a:endParaRPr lang="en-US" sz="850" dirty="0"/>
            </a:p>
          </p:txBody>
        </p:sp>
        <p:sp>
          <p:nvSpPr>
            <p:cNvPr id="35" name="Shape 26">
              <a:extLst>
                <a:ext uri="{FF2B5EF4-FFF2-40B4-BE49-F238E27FC236}">
                  <a16:creationId xmlns:a16="http://schemas.microsoft.com/office/drawing/2014/main" id="{C942D796-099C-0F4F-5C85-D7827A18A196}"/>
                </a:ext>
              </a:extLst>
            </p:cNvPr>
            <p:cNvSpPr/>
            <p:nvPr/>
          </p:nvSpPr>
          <p:spPr>
            <a:xfrm>
              <a:off x="5093492" y="3777424"/>
              <a:ext cx="3995928" cy="594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8E4F0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6" name="Text 27">
              <a:extLst>
                <a:ext uri="{FF2B5EF4-FFF2-40B4-BE49-F238E27FC236}">
                  <a16:creationId xmlns:a16="http://schemas.microsoft.com/office/drawing/2014/main" id="{5623378C-CC39-9847-4D13-7B02D58A4B9A}"/>
                </a:ext>
              </a:extLst>
            </p:cNvPr>
            <p:cNvSpPr/>
            <p:nvPr/>
          </p:nvSpPr>
          <p:spPr>
            <a:xfrm>
              <a:off x="5139212" y="3777424"/>
              <a:ext cx="3904488" cy="594360"/>
            </a:xfrm>
            <a:prstGeom prst="rect">
              <a:avLst/>
            </a:prstGeom>
            <a:noFill/>
            <a:ln/>
          </p:spPr>
          <p:txBody>
            <a:bodyPr wrap="square" lIns="38100" tIns="38100" rIns="38100" bIns="3810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4B5F7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Congela site/divisão/dept para o mês. Trocas mid-month são resolvidas deterministicamente.</a:t>
              </a:r>
              <a:endParaRPr lang="en-US" sz="850" dirty="0"/>
            </a:p>
          </p:txBody>
        </p:sp>
      </p:grpSp>
      <p:grpSp>
        <p:nvGrpSpPr>
          <p:cNvPr id="50" name="Agrupar 49">
            <a:extLst>
              <a:ext uri="{FF2B5EF4-FFF2-40B4-BE49-F238E27FC236}">
                <a16:creationId xmlns:a16="http://schemas.microsoft.com/office/drawing/2014/main" id="{F53959A3-ED14-3AFC-8833-909221C6162B}"/>
              </a:ext>
            </a:extLst>
          </p:cNvPr>
          <p:cNvGrpSpPr/>
          <p:nvPr/>
        </p:nvGrpSpPr>
        <p:grpSpPr>
          <a:xfrm>
            <a:off x="2524028" y="4695035"/>
            <a:ext cx="8741664" cy="594360"/>
            <a:chOff x="347756" y="4435792"/>
            <a:chExt cx="8741664" cy="594360"/>
          </a:xfrm>
        </p:grpSpPr>
        <p:sp>
          <p:nvSpPr>
            <p:cNvPr id="37" name="Shape 28">
              <a:extLst>
                <a:ext uri="{FF2B5EF4-FFF2-40B4-BE49-F238E27FC236}">
                  <a16:creationId xmlns:a16="http://schemas.microsoft.com/office/drawing/2014/main" id="{668BE784-3F59-4A12-1CEF-3C18B2F93118}"/>
                </a:ext>
              </a:extLst>
            </p:cNvPr>
            <p:cNvSpPr/>
            <p:nvPr/>
          </p:nvSpPr>
          <p:spPr>
            <a:xfrm>
              <a:off x="347756" y="4435792"/>
              <a:ext cx="1691640" cy="594360"/>
            </a:xfrm>
            <a:prstGeom prst="rect">
              <a:avLst/>
            </a:prstGeom>
            <a:solidFill>
              <a:srgbClr val="333333"/>
            </a:solidFill>
            <a:ln w="12700">
              <a:solidFill>
                <a:srgbClr val="1A2B4A"/>
              </a:solidFill>
              <a:prstDash val="solid"/>
            </a:ln>
          </p:spPr>
          <p:txBody>
            <a:bodyPr/>
            <a:lstStyle/>
            <a:p>
              <a:endParaRPr lang="pt-BR">
                <a:solidFill>
                  <a:srgbClr val="F5EB3F"/>
                </a:solidFill>
              </a:endParaRPr>
            </a:p>
          </p:txBody>
        </p:sp>
        <p:sp>
          <p:nvSpPr>
            <p:cNvPr id="38" name="Text 29">
              <a:extLst>
                <a:ext uri="{FF2B5EF4-FFF2-40B4-BE49-F238E27FC236}">
                  <a16:creationId xmlns:a16="http://schemas.microsoft.com/office/drawing/2014/main" id="{C4EE0E49-61B4-6129-2A9B-8175E83E6DE5}"/>
                </a:ext>
              </a:extLst>
            </p:cNvPr>
            <p:cNvSpPr/>
            <p:nvPr/>
          </p:nvSpPr>
          <p:spPr>
            <a:xfrm>
              <a:off x="347756" y="4435792"/>
              <a:ext cx="1691640" cy="5943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5EB3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Sem DDI no mês</a:t>
              </a:r>
              <a:endParaRPr lang="en-US" sz="1200" dirty="0">
                <a:solidFill>
                  <a:srgbClr val="F5EB3F"/>
                </a:solidFill>
              </a:endParaRPr>
            </a:p>
          </p:txBody>
        </p:sp>
        <p:sp>
          <p:nvSpPr>
            <p:cNvPr id="39" name="Shape 30">
              <a:extLst>
                <a:ext uri="{FF2B5EF4-FFF2-40B4-BE49-F238E27FC236}">
                  <a16:creationId xmlns:a16="http://schemas.microsoft.com/office/drawing/2014/main" id="{6D719F26-D9BD-D203-E388-9459F0EB4274}"/>
                </a:ext>
              </a:extLst>
            </p:cNvPr>
            <p:cNvSpPr/>
            <p:nvPr/>
          </p:nvSpPr>
          <p:spPr>
            <a:xfrm>
              <a:off x="2057684" y="4435792"/>
              <a:ext cx="3017520" cy="594360"/>
            </a:xfrm>
            <a:prstGeom prst="rect">
              <a:avLst/>
            </a:prstGeom>
            <a:solidFill>
              <a:srgbClr val="EEF3FA"/>
            </a:solidFill>
            <a:ln w="12700">
              <a:solidFill>
                <a:srgbClr val="D8E4F0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0" name="Text 31">
              <a:extLst>
                <a:ext uri="{FF2B5EF4-FFF2-40B4-BE49-F238E27FC236}">
                  <a16:creationId xmlns:a16="http://schemas.microsoft.com/office/drawing/2014/main" id="{8612954B-3E88-95C9-D8C8-A649EE74ED77}"/>
                </a:ext>
              </a:extLst>
            </p:cNvPr>
            <p:cNvSpPr/>
            <p:nvPr/>
          </p:nvSpPr>
          <p:spPr>
            <a:xfrm>
              <a:off x="2103404" y="4435792"/>
              <a:ext cx="2926080" cy="594360"/>
            </a:xfrm>
            <a:prstGeom prst="rect">
              <a:avLst/>
            </a:prstGeom>
            <a:noFill/>
            <a:ln/>
          </p:spPr>
          <p:txBody>
            <a:bodyPr wrap="square" lIns="38100" tIns="38100" rIns="38100" bIns="3810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1659A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Classificação = 'Sem registro DDI'</a:t>
              </a:r>
              <a:endParaRPr lang="en-US" sz="850" dirty="0"/>
            </a:p>
            <a:p>
              <a:pPr marL="0" indent="0">
                <a:buNone/>
              </a:pPr>
              <a:r>
                <a:rPr lang="en-US" sz="850" dirty="0">
                  <a:solidFill>
                    <a:srgbClr val="1659A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entra no denominador de coverage_rate</a:t>
              </a:r>
              <a:endParaRPr lang="en-US" sz="850" dirty="0"/>
            </a:p>
          </p:txBody>
        </p:sp>
        <p:sp>
          <p:nvSpPr>
            <p:cNvPr id="41" name="Shape 32">
              <a:extLst>
                <a:ext uri="{FF2B5EF4-FFF2-40B4-BE49-F238E27FC236}">
                  <a16:creationId xmlns:a16="http://schemas.microsoft.com/office/drawing/2014/main" id="{B3B9FB41-8A3A-35C0-8CD2-30939F9A1960}"/>
                </a:ext>
              </a:extLst>
            </p:cNvPr>
            <p:cNvSpPr/>
            <p:nvPr/>
          </p:nvSpPr>
          <p:spPr>
            <a:xfrm>
              <a:off x="5093492" y="4435792"/>
              <a:ext cx="3995928" cy="594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8E4F0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2" name="Text 33">
              <a:extLst>
                <a:ext uri="{FF2B5EF4-FFF2-40B4-BE49-F238E27FC236}">
                  <a16:creationId xmlns:a16="http://schemas.microsoft.com/office/drawing/2014/main" id="{F9642BE7-6C65-B417-6FDA-B57C65EB6A53}"/>
                </a:ext>
              </a:extLst>
            </p:cNvPr>
            <p:cNvSpPr/>
            <p:nvPr/>
          </p:nvSpPr>
          <p:spPr>
            <a:xfrm>
              <a:off x="5139212" y="4435792"/>
              <a:ext cx="3904488" cy="594360"/>
            </a:xfrm>
            <a:prstGeom prst="rect">
              <a:avLst/>
            </a:prstGeom>
            <a:noFill/>
            <a:ln/>
          </p:spPr>
          <p:txBody>
            <a:bodyPr wrap="square" lIns="38100" tIns="38100" rIns="38100" bIns="3810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4B5F7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Ativo elegível sem linha em tb_ddi não pode ser ignorado — ele distorceria a taxa de adoção.</a:t>
              </a:r>
              <a:endParaRPr lang="en-US" sz="850" dirty="0"/>
            </a:p>
          </p:txBody>
        </p:sp>
      </p:grpSp>
      <p:grpSp>
        <p:nvGrpSpPr>
          <p:cNvPr id="49" name="Agrupar 48">
            <a:extLst>
              <a:ext uri="{FF2B5EF4-FFF2-40B4-BE49-F238E27FC236}">
                <a16:creationId xmlns:a16="http://schemas.microsoft.com/office/drawing/2014/main" id="{8267CD5F-B54B-B6B4-3103-2AEED01D77B1}"/>
              </a:ext>
            </a:extLst>
          </p:cNvPr>
          <p:cNvGrpSpPr/>
          <p:nvPr/>
        </p:nvGrpSpPr>
        <p:grpSpPr>
          <a:xfrm>
            <a:off x="3141248" y="5597471"/>
            <a:ext cx="8741664" cy="594360"/>
            <a:chOff x="347756" y="5094160"/>
            <a:chExt cx="8741664" cy="594360"/>
          </a:xfrm>
        </p:grpSpPr>
        <p:sp>
          <p:nvSpPr>
            <p:cNvPr id="43" name="Shape 34">
              <a:extLst>
                <a:ext uri="{FF2B5EF4-FFF2-40B4-BE49-F238E27FC236}">
                  <a16:creationId xmlns:a16="http://schemas.microsoft.com/office/drawing/2014/main" id="{7A1D32FC-B3DE-4E38-8795-071BD1C7F33C}"/>
                </a:ext>
              </a:extLst>
            </p:cNvPr>
            <p:cNvSpPr/>
            <p:nvPr/>
          </p:nvSpPr>
          <p:spPr>
            <a:xfrm>
              <a:off x="347756" y="5094160"/>
              <a:ext cx="1691640" cy="594360"/>
            </a:xfrm>
            <a:prstGeom prst="rect">
              <a:avLst/>
            </a:prstGeom>
            <a:solidFill>
              <a:srgbClr val="333333"/>
            </a:solidFill>
            <a:ln w="12700">
              <a:solidFill>
                <a:srgbClr val="1A2B4A"/>
              </a:solidFill>
              <a:prstDash val="solid"/>
            </a:ln>
          </p:spPr>
          <p:txBody>
            <a:bodyPr/>
            <a:lstStyle/>
            <a:p>
              <a:endParaRPr lang="pt-BR">
                <a:solidFill>
                  <a:srgbClr val="F5EB3F"/>
                </a:solidFill>
              </a:endParaRPr>
            </a:p>
          </p:txBody>
        </p:sp>
        <p:sp>
          <p:nvSpPr>
            <p:cNvPr id="44" name="Text 35">
              <a:extLst>
                <a:ext uri="{FF2B5EF4-FFF2-40B4-BE49-F238E27FC236}">
                  <a16:creationId xmlns:a16="http://schemas.microsoft.com/office/drawing/2014/main" id="{E49ED456-018A-418D-79AF-3A2BD267B663}"/>
                </a:ext>
              </a:extLst>
            </p:cNvPr>
            <p:cNvSpPr/>
            <p:nvPr/>
          </p:nvSpPr>
          <p:spPr>
            <a:xfrm>
              <a:off x="347756" y="5094160"/>
              <a:ext cx="1691640" cy="5943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5EB3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Dedup DDI</a:t>
              </a:r>
              <a:endParaRPr lang="en-US" sz="1200" dirty="0">
                <a:solidFill>
                  <a:srgbClr val="F5EB3F"/>
                </a:solidFill>
              </a:endParaRPr>
            </a:p>
          </p:txBody>
        </p:sp>
        <p:sp>
          <p:nvSpPr>
            <p:cNvPr id="45" name="Shape 36">
              <a:extLst>
                <a:ext uri="{FF2B5EF4-FFF2-40B4-BE49-F238E27FC236}">
                  <a16:creationId xmlns:a16="http://schemas.microsoft.com/office/drawing/2014/main" id="{251C4273-F8AA-10EA-CB06-C5C4EFB2169C}"/>
                </a:ext>
              </a:extLst>
            </p:cNvPr>
            <p:cNvSpPr/>
            <p:nvPr/>
          </p:nvSpPr>
          <p:spPr>
            <a:xfrm>
              <a:off x="2057684" y="5094160"/>
              <a:ext cx="3017520" cy="594360"/>
            </a:xfrm>
            <a:prstGeom prst="rect">
              <a:avLst/>
            </a:prstGeom>
            <a:solidFill>
              <a:srgbClr val="EEF3FA"/>
            </a:solidFill>
            <a:ln w="12700">
              <a:solidFill>
                <a:srgbClr val="D8E4F0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6" name="Text 37">
              <a:extLst>
                <a:ext uri="{FF2B5EF4-FFF2-40B4-BE49-F238E27FC236}">
                  <a16:creationId xmlns:a16="http://schemas.microsoft.com/office/drawing/2014/main" id="{FAAE53CE-E48F-313B-B5C4-04DE02416F5E}"/>
                </a:ext>
              </a:extLst>
            </p:cNvPr>
            <p:cNvSpPr/>
            <p:nvPr/>
          </p:nvSpPr>
          <p:spPr>
            <a:xfrm>
              <a:off x="2103404" y="5094160"/>
              <a:ext cx="2926080" cy="594360"/>
            </a:xfrm>
            <a:prstGeom prst="rect">
              <a:avLst/>
            </a:prstGeom>
            <a:noFill/>
            <a:ln/>
          </p:spPr>
          <p:txBody>
            <a:bodyPr wrap="square" lIns="38100" tIns="38100" rIns="38100" bIns="3810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1659A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DISTINCT ON (username, date_month)</a:t>
              </a:r>
              <a:endParaRPr lang="en-US" sz="850" dirty="0"/>
            </a:p>
            <a:p>
              <a:pPr marL="0" indent="0">
                <a:buNone/>
              </a:pPr>
              <a:r>
                <a:rPr lang="en-US" sz="850" dirty="0">
                  <a:solidFill>
                    <a:srgbClr val="1659A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ORDER BY is_data_user DESC</a:t>
              </a:r>
              <a:endParaRPr lang="en-US" sz="850" dirty="0"/>
            </a:p>
          </p:txBody>
        </p:sp>
        <p:sp>
          <p:nvSpPr>
            <p:cNvPr id="47" name="Shape 38">
              <a:extLst>
                <a:ext uri="{FF2B5EF4-FFF2-40B4-BE49-F238E27FC236}">
                  <a16:creationId xmlns:a16="http://schemas.microsoft.com/office/drawing/2014/main" id="{950FB0DF-01C7-4A9A-81D1-36906F6C59B1}"/>
                </a:ext>
              </a:extLst>
            </p:cNvPr>
            <p:cNvSpPr/>
            <p:nvPr/>
          </p:nvSpPr>
          <p:spPr>
            <a:xfrm>
              <a:off x="5093492" y="5094160"/>
              <a:ext cx="3995928" cy="594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8E4F0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8" name="Text 39">
              <a:extLst>
                <a:ext uri="{FF2B5EF4-FFF2-40B4-BE49-F238E27FC236}">
                  <a16:creationId xmlns:a16="http://schemas.microsoft.com/office/drawing/2014/main" id="{10E2742A-5C6A-6861-A01A-9C929779360A}"/>
                </a:ext>
              </a:extLst>
            </p:cNvPr>
            <p:cNvSpPr/>
            <p:nvPr/>
          </p:nvSpPr>
          <p:spPr>
            <a:xfrm>
              <a:off x="5139212" y="5094160"/>
              <a:ext cx="3904488" cy="594360"/>
            </a:xfrm>
            <a:prstGeom prst="rect">
              <a:avLst/>
            </a:prstGeom>
            <a:noFill/>
            <a:ln/>
          </p:spPr>
          <p:txBody>
            <a:bodyPr wrap="square" lIns="38100" tIns="38100" rIns="38100" bIns="3810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4B5F7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Regra determinística: preserva a linha TRUE em caso de conflito; documentada em stg_ddi.</a:t>
              </a:r>
              <a:endParaRPr lang="en-US" sz="850" dirty="0"/>
            </a:p>
          </p:txBody>
        </p:sp>
      </p:grpSp>
    </p:spTree>
    <p:extLst>
      <p:ext uri="{BB962C8B-B14F-4D97-AF65-F5344CB8AC3E}">
        <p14:creationId xmlns:p14="http://schemas.microsoft.com/office/powerpoint/2010/main" val="40062826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24C4F-BD55-A1AC-1B2D-42A84898D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Agrupar 13">
            <a:extLst>
              <a:ext uri="{FF2B5EF4-FFF2-40B4-BE49-F238E27FC236}">
                <a16:creationId xmlns:a16="http://schemas.microsoft.com/office/drawing/2014/main" id="{D51ADA47-9572-9E1C-666B-BE9161B6010E}"/>
              </a:ext>
            </a:extLst>
          </p:cNvPr>
          <p:cNvGrpSpPr/>
          <p:nvPr/>
        </p:nvGrpSpPr>
        <p:grpSpPr>
          <a:xfrm>
            <a:off x="0" y="-2"/>
            <a:ext cx="12192000" cy="787791"/>
            <a:chOff x="0" y="-1"/>
            <a:chExt cx="12192000" cy="787791"/>
          </a:xfrm>
        </p:grpSpPr>
        <p:grpSp>
          <p:nvGrpSpPr>
            <p:cNvPr id="15" name="Agrupar 14">
              <a:extLst>
                <a:ext uri="{FF2B5EF4-FFF2-40B4-BE49-F238E27FC236}">
                  <a16:creationId xmlns:a16="http://schemas.microsoft.com/office/drawing/2014/main" id="{09FF7749-8A89-7B9B-EC73-F6B5D5506F13}"/>
                </a:ext>
              </a:extLst>
            </p:cNvPr>
            <p:cNvGrpSpPr/>
            <p:nvPr/>
          </p:nvGrpSpPr>
          <p:grpSpPr>
            <a:xfrm>
              <a:off x="0" y="-1"/>
              <a:ext cx="12192000" cy="787791"/>
              <a:chOff x="0" y="-1"/>
              <a:chExt cx="12192000" cy="787791"/>
            </a:xfrm>
          </p:grpSpPr>
          <p:sp>
            <p:nvSpPr>
              <p:cNvPr id="17" name="Shape 0">
                <a:extLst>
                  <a:ext uri="{FF2B5EF4-FFF2-40B4-BE49-F238E27FC236}">
                    <a16:creationId xmlns:a16="http://schemas.microsoft.com/office/drawing/2014/main" id="{785173D8-3BE3-C4BC-1A1B-599CA3101F26}"/>
                  </a:ext>
                </a:extLst>
              </p:cNvPr>
              <p:cNvSpPr/>
              <p:nvPr/>
            </p:nvSpPr>
            <p:spPr>
              <a:xfrm>
                <a:off x="0" y="-1"/>
                <a:ext cx="12192000" cy="787791"/>
              </a:xfrm>
              <a:prstGeom prst="rect">
                <a:avLst/>
              </a:prstGeom>
              <a:solidFill>
                <a:srgbClr val="333333"/>
              </a:solidFill>
              <a:ln w="12700">
                <a:solidFill>
                  <a:srgbClr val="333333"/>
                </a:solidFill>
                <a:prstDash val="solid"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8" name="Retângulo: Cantos Arredondados 17">
                <a:extLst>
                  <a:ext uri="{FF2B5EF4-FFF2-40B4-BE49-F238E27FC236}">
                    <a16:creationId xmlns:a16="http://schemas.microsoft.com/office/drawing/2014/main" id="{CC4320D3-7D25-C070-68CA-CD6DE0C51090}"/>
                  </a:ext>
                </a:extLst>
              </p:cNvPr>
              <p:cNvSpPr/>
              <p:nvPr/>
            </p:nvSpPr>
            <p:spPr>
              <a:xfrm>
                <a:off x="9835375" y="306443"/>
                <a:ext cx="1987681" cy="175290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23000">
                    <a:srgbClr val="84B9EB"/>
                  </a:gs>
                  <a:gs pos="54000">
                    <a:srgbClr val="F5EB3F"/>
                  </a:gs>
                </a:gsLst>
                <a:lin ang="0" scaled="1"/>
                <a:tileRect/>
              </a:gradFill>
              <a:ln>
                <a:solidFill>
                  <a:srgbClr val="3333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pic>
          <p:nvPicPr>
            <p:cNvPr id="16" name="Imagem 15">
              <a:extLst>
                <a:ext uri="{FF2B5EF4-FFF2-40B4-BE49-F238E27FC236}">
                  <a16:creationId xmlns:a16="http://schemas.microsoft.com/office/drawing/2014/main" id="{4097F506-8EE9-51A5-224F-C83630CC0B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7756" y="213902"/>
              <a:ext cx="1279943" cy="359984"/>
            </a:xfrm>
            <a:prstGeom prst="rect">
              <a:avLst/>
            </a:prstGeom>
          </p:spPr>
        </p:pic>
      </p:grpSp>
      <p:sp>
        <p:nvSpPr>
          <p:cNvPr id="19" name="Título 1">
            <a:extLst>
              <a:ext uri="{FF2B5EF4-FFF2-40B4-BE49-F238E27FC236}">
                <a16:creationId xmlns:a16="http://schemas.microsoft.com/office/drawing/2014/main" id="{A94C888C-62DA-131A-AEF3-61A0A12A8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4635" y="72739"/>
            <a:ext cx="7821795" cy="642310"/>
          </a:xfrm>
        </p:spPr>
        <p:txBody>
          <a:bodyPr anchor="t">
            <a:normAutofit fontScale="90000"/>
          </a:bodyPr>
          <a:lstStyle/>
          <a:p>
            <a:r>
              <a:rPr lang="pt-BR" dirty="0">
                <a:solidFill>
                  <a:schemeClr val="bg1"/>
                </a:solidFill>
              </a:rPr>
              <a:t>| </a:t>
            </a:r>
            <a:r>
              <a:rPr lang="pt-BR" sz="3100" dirty="0">
                <a:solidFill>
                  <a:schemeClr val="bg1"/>
                </a:solidFill>
              </a:rPr>
              <a:t>Dicionário de métricas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FC182C8E-784A-FC22-3CD1-E7BAA423DB02}"/>
              </a:ext>
            </a:extLst>
          </p:cNvPr>
          <p:cNvSpPr/>
          <p:nvPr/>
        </p:nvSpPr>
        <p:spPr>
          <a:xfrm>
            <a:off x="0" y="0"/>
            <a:ext cx="61913" cy="787789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grpSp>
        <p:nvGrpSpPr>
          <p:cNvPr id="52" name="Agrupar 51">
            <a:extLst>
              <a:ext uri="{FF2B5EF4-FFF2-40B4-BE49-F238E27FC236}">
                <a16:creationId xmlns:a16="http://schemas.microsoft.com/office/drawing/2014/main" id="{FF2E5C2E-F2EE-9C10-0597-954566CE21B7}"/>
              </a:ext>
            </a:extLst>
          </p:cNvPr>
          <p:cNvGrpSpPr/>
          <p:nvPr/>
        </p:nvGrpSpPr>
        <p:grpSpPr>
          <a:xfrm>
            <a:off x="483402" y="1981841"/>
            <a:ext cx="8741664" cy="512064"/>
            <a:chOff x="1093711" y="1826133"/>
            <a:chExt cx="8741664" cy="512064"/>
          </a:xfrm>
        </p:grpSpPr>
        <p:sp>
          <p:nvSpPr>
            <p:cNvPr id="45" name="Shape 4">
              <a:extLst>
                <a:ext uri="{FF2B5EF4-FFF2-40B4-BE49-F238E27FC236}">
                  <a16:creationId xmlns:a16="http://schemas.microsoft.com/office/drawing/2014/main" id="{06E14D7B-CA45-3CCC-75A5-17056104C567}"/>
                </a:ext>
              </a:extLst>
            </p:cNvPr>
            <p:cNvSpPr/>
            <p:nvPr/>
          </p:nvSpPr>
          <p:spPr>
            <a:xfrm>
              <a:off x="1151101" y="1826133"/>
              <a:ext cx="2905265" cy="512064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bg1">
                  <a:lumMod val="85000"/>
                </a:schemeClr>
              </a:solidFill>
              <a:prstDash val="solid"/>
            </a:ln>
          </p:spPr>
          <p:txBody>
            <a:bodyPr/>
            <a:lstStyle/>
            <a:p>
              <a:endParaRPr lang="pt-BR" dirty="0">
                <a:solidFill>
                  <a:srgbClr val="F5EB3F"/>
                </a:solidFill>
              </a:endParaRPr>
            </a:p>
          </p:txBody>
        </p:sp>
        <p:sp>
          <p:nvSpPr>
            <p:cNvPr id="3" name="Shape 4">
              <a:extLst>
                <a:ext uri="{FF2B5EF4-FFF2-40B4-BE49-F238E27FC236}">
                  <a16:creationId xmlns:a16="http://schemas.microsoft.com/office/drawing/2014/main" id="{C9D79D4B-6B1A-483F-B868-86F947C1465F}"/>
                </a:ext>
              </a:extLst>
            </p:cNvPr>
            <p:cNvSpPr/>
            <p:nvPr/>
          </p:nvSpPr>
          <p:spPr>
            <a:xfrm>
              <a:off x="1093711" y="1826133"/>
              <a:ext cx="54864" cy="512064"/>
            </a:xfrm>
            <a:prstGeom prst="rect">
              <a:avLst/>
            </a:prstGeom>
            <a:solidFill>
              <a:srgbClr val="1659A8"/>
            </a:solidFill>
            <a:ln w="12700">
              <a:solidFill>
                <a:srgbClr val="1659A8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 5">
              <a:extLst>
                <a:ext uri="{FF2B5EF4-FFF2-40B4-BE49-F238E27FC236}">
                  <a16:creationId xmlns:a16="http://schemas.microsoft.com/office/drawing/2014/main" id="{56D53545-2B37-1058-F993-1E1C1B228061}"/>
                </a:ext>
              </a:extLst>
            </p:cNvPr>
            <p:cNvSpPr/>
            <p:nvPr/>
          </p:nvSpPr>
          <p:spPr>
            <a:xfrm>
              <a:off x="1221727" y="1844421"/>
              <a:ext cx="28346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1A2B4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active_collaborators</a:t>
              </a:r>
              <a:endParaRPr lang="en-US" sz="1000" dirty="0"/>
            </a:p>
          </p:txBody>
        </p:sp>
        <p:sp>
          <p:nvSpPr>
            <p:cNvPr id="5" name="Text 6">
              <a:extLst>
                <a:ext uri="{FF2B5EF4-FFF2-40B4-BE49-F238E27FC236}">
                  <a16:creationId xmlns:a16="http://schemas.microsoft.com/office/drawing/2014/main" id="{E6F3E5CF-360C-B4E2-854A-3B5A60BED3AF}"/>
                </a:ext>
              </a:extLst>
            </p:cNvPr>
            <p:cNvSpPr/>
            <p:nvPr/>
          </p:nvSpPr>
          <p:spPr>
            <a:xfrm>
              <a:off x="1221727" y="2100453"/>
              <a:ext cx="28346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8595A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Grão: dept-mês</a:t>
              </a:r>
              <a:endParaRPr lang="en-US" sz="800" dirty="0"/>
            </a:p>
          </p:txBody>
        </p:sp>
        <p:sp>
          <p:nvSpPr>
            <p:cNvPr id="6" name="Shape 7">
              <a:extLst>
                <a:ext uri="{FF2B5EF4-FFF2-40B4-BE49-F238E27FC236}">
                  <a16:creationId xmlns:a16="http://schemas.microsoft.com/office/drawing/2014/main" id="{0EF59158-F6A2-F211-6DAE-5A522D9C7AE6}"/>
                </a:ext>
              </a:extLst>
            </p:cNvPr>
            <p:cNvSpPr/>
            <p:nvPr/>
          </p:nvSpPr>
          <p:spPr>
            <a:xfrm>
              <a:off x="4092943" y="1844421"/>
              <a:ext cx="5742432" cy="475488"/>
            </a:xfrm>
            <a:prstGeom prst="rect">
              <a:avLst/>
            </a:prstGeom>
            <a:solidFill>
              <a:srgbClr val="F0F4FA"/>
            </a:solidFill>
            <a:ln w="12700">
              <a:solidFill>
                <a:srgbClr val="D8E4F0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 8">
              <a:extLst>
                <a:ext uri="{FF2B5EF4-FFF2-40B4-BE49-F238E27FC236}">
                  <a16:creationId xmlns:a16="http://schemas.microsoft.com/office/drawing/2014/main" id="{4B587C98-712C-B157-488A-0D5AFBD85C95}"/>
                </a:ext>
              </a:extLst>
            </p:cNvPr>
            <p:cNvSpPr/>
            <p:nvPr/>
          </p:nvSpPr>
          <p:spPr>
            <a:xfrm>
              <a:off x="4147807" y="1844421"/>
              <a:ext cx="5632704" cy="475488"/>
            </a:xfrm>
            <a:prstGeom prst="rect">
              <a:avLst/>
            </a:prstGeom>
            <a:noFill/>
            <a:ln/>
          </p:spPr>
          <p:txBody>
            <a:bodyPr wrap="square" lIns="38100" tIns="38100" rIns="38100" bIns="3810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4B5F7C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COUNT(DISTINCT username) após filtros de elegibilidade</a:t>
              </a:r>
              <a:endParaRPr lang="en-US" sz="850" dirty="0"/>
            </a:p>
          </p:txBody>
        </p:sp>
      </p:grpSp>
      <p:grpSp>
        <p:nvGrpSpPr>
          <p:cNvPr id="53" name="Agrupar 52">
            <a:extLst>
              <a:ext uri="{FF2B5EF4-FFF2-40B4-BE49-F238E27FC236}">
                <a16:creationId xmlns:a16="http://schemas.microsoft.com/office/drawing/2014/main" id="{2E88B36D-DEDA-49F6-1B89-65173887A29E}"/>
              </a:ext>
            </a:extLst>
          </p:cNvPr>
          <p:cNvGrpSpPr/>
          <p:nvPr/>
        </p:nvGrpSpPr>
        <p:grpSpPr>
          <a:xfrm>
            <a:off x="852347" y="2583138"/>
            <a:ext cx="8741664" cy="513055"/>
            <a:chOff x="1093711" y="2402205"/>
            <a:chExt cx="8741664" cy="513055"/>
          </a:xfrm>
        </p:grpSpPr>
        <p:sp>
          <p:nvSpPr>
            <p:cNvPr id="46" name="Shape 4">
              <a:extLst>
                <a:ext uri="{FF2B5EF4-FFF2-40B4-BE49-F238E27FC236}">
                  <a16:creationId xmlns:a16="http://schemas.microsoft.com/office/drawing/2014/main" id="{748DE0D7-8A76-D5ED-429A-BBD843737E92}"/>
                </a:ext>
              </a:extLst>
            </p:cNvPr>
            <p:cNvSpPr/>
            <p:nvPr/>
          </p:nvSpPr>
          <p:spPr>
            <a:xfrm>
              <a:off x="1151101" y="2403196"/>
              <a:ext cx="2905265" cy="512064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bg1">
                  <a:lumMod val="85000"/>
                </a:schemeClr>
              </a:solidFill>
              <a:prstDash val="solid"/>
            </a:ln>
          </p:spPr>
          <p:txBody>
            <a:bodyPr/>
            <a:lstStyle/>
            <a:p>
              <a:endParaRPr lang="pt-BR" dirty="0">
                <a:solidFill>
                  <a:srgbClr val="F5EB3F"/>
                </a:solidFill>
              </a:endParaRPr>
            </a:p>
          </p:txBody>
        </p:sp>
        <p:sp>
          <p:nvSpPr>
            <p:cNvPr id="8" name="Shape 9">
              <a:extLst>
                <a:ext uri="{FF2B5EF4-FFF2-40B4-BE49-F238E27FC236}">
                  <a16:creationId xmlns:a16="http://schemas.microsoft.com/office/drawing/2014/main" id="{F620F345-7D79-2094-507C-CB0C6D44A82D}"/>
                </a:ext>
              </a:extLst>
            </p:cNvPr>
            <p:cNvSpPr/>
            <p:nvPr/>
          </p:nvSpPr>
          <p:spPr>
            <a:xfrm>
              <a:off x="1093711" y="2402205"/>
              <a:ext cx="54864" cy="512064"/>
            </a:xfrm>
            <a:prstGeom prst="rect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9" name="Text 10">
              <a:extLst>
                <a:ext uri="{FF2B5EF4-FFF2-40B4-BE49-F238E27FC236}">
                  <a16:creationId xmlns:a16="http://schemas.microsoft.com/office/drawing/2014/main" id="{B75E9845-3BA0-2EC0-26CF-C46FD06B6067}"/>
                </a:ext>
              </a:extLst>
            </p:cNvPr>
            <p:cNvSpPr/>
            <p:nvPr/>
          </p:nvSpPr>
          <p:spPr>
            <a:xfrm>
              <a:off x="1221727" y="2420493"/>
              <a:ext cx="28346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1A2B4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potential_users</a:t>
              </a:r>
              <a:endParaRPr lang="en-US" sz="1000" dirty="0"/>
            </a:p>
          </p:txBody>
        </p:sp>
        <p:sp>
          <p:nvSpPr>
            <p:cNvPr id="11" name="Text 11">
              <a:extLst>
                <a:ext uri="{FF2B5EF4-FFF2-40B4-BE49-F238E27FC236}">
                  <a16:creationId xmlns:a16="http://schemas.microsoft.com/office/drawing/2014/main" id="{530D8FC0-EDA5-BE48-9587-E056DB5E6C72}"/>
                </a:ext>
              </a:extLst>
            </p:cNvPr>
            <p:cNvSpPr/>
            <p:nvPr/>
          </p:nvSpPr>
          <p:spPr>
            <a:xfrm>
              <a:off x="1221727" y="2676525"/>
              <a:ext cx="28346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8595A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Grão: dept-mês</a:t>
              </a:r>
              <a:endParaRPr lang="en-US" sz="800" dirty="0"/>
            </a:p>
          </p:txBody>
        </p:sp>
        <p:sp>
          <p:nvSpPr>
            <p:cNvPr id="12" name="Shape 12">
              <a:extLst>
                <a:ext uri="{FF2B5EF4-FFF2-40B4-BE49-F238E27FC236}">
                  <a16:creationId xmlns:a16="http://schemas.microsoft.com/office/drawing/2014/main" id="{83A29301-69CD-7749-6647-EC6E967026F2}"/>
                </a:ext>
              </a:extLst>
            </p:cNvPr>
            <p:cNvSpPr/>
            <p:nvPr/>
          </p:nvSpPr>
          <p:spPr>
            <a:xfrm>
              <a:off x="4092943" y="2420493"/>
              <a:ext cx="5742432" cy="475488"/>
            </a:xfrm>
            <a:prstGeom prst="rect">
              <a:avLst/>
            </a:prstGeom>
            <a:solidFill>
              <a:srgbClr val="F0F4FA"/>
            </a:solidFill>
            <a:ln w="12700">
              <a:solidFill>
                <a:srgbClr val="D8E4F0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Text 13">
              <a:extLst>
                <a:ext uri="{FF2B5EF4-FFF2-40B4-BE49-F238E27FC236}">
                  <a16:creationId xmlns:a16="http://schemas.microsoft.com/office/drawing/2014/main" id="{DFA6CB31-F60D-C48F-94C7-C28F090161A5}"/>
                </a:ext>
              </a:extLst>
            </p:cNvPr>
            <p:cNvSpPr/>
            <p:nvPr/>
          </p:nvSpPr>
          <p:spPr>
            <a:xfrm>
              <a:off x="4147807" y="2420493"/>
              <a:ext cx="5632704" cy="475488"/>
            </a:xfrm>
            <a:prstGeom prst="rect">
              <a:avLst/>
            </a:prstGeom>
            <a:noFill/>
            <a:ln/>
          </p:spPr>
          <p:txBody>
            <a:bodyPr wrap="square" lIns="38100" tIns="38100" rIns="38100" bIns="3810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4B5F7C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COUNT(DISTINCT username) WHERE is_potential_user = TRUE</a:t>
              </a:r>
              <a:endParaRPr lang="en-US" sz="850" dirty="0"/>
            </a:p>
            <a:p>
              <a:pPr marL="0" indent="0">
                <a:buNone/>
              </a:pPr>
              <a:r>
                <a:rPr lang="en-US" sz="850" dirty="0">
                  <a:solidFill>
                    <a:srgbClr val="4B5F7C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(streak ≥ 3 meses </a:t>
              </a:r>
              <a:r>
                <a:rPr lang="en-US" sz="850" dirty="0" err="1">
                  <a:solidFill>
                    <a:srgbClr val="4B5F7C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consecutivos</a:t>
              </a:r>
              <a:r>
                <a:rPr lang="en-US" sz="850" dirty="0">
                  <a:solidFill>
                    <a:srgbClr val="4B5F7C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com is_data_user = TRUE)</a:t>
              </a:r>
              <a:endParaRPr lang="en-US" sz="850" dirty="0"/>
            </a:p>
          </p:txBody>
        </p:sp>
      </p:grpSp>
      <p:grpSp>
        <p:nvGrpSpPr>
          <p:cNvPr id="54" name="Agrupar 53">
            <a:extLst>
              <a:ext uri="{FF2B5EF4-FFF2-40B4-BE49-F238E27FC236}">
                <a16:creationId xmlns:a16="http://schemas.microsoft.com/office/drawing/2014/main" id="{2ECA251E-9CD4-16EB-0FA3-1C4FC4E346E2}"/>
              </a:ext>
            </a:extLst>
          </p:cNvPr>
          <p:cNvGrpSpPr/>
          <p:nvPr/>
        </p:nvGrpSpPr>
        <p:grpSpPr>
          <a:xfrm>
            <a:off x="1208579" y="3179665"/>
            <a:ext cx="8741664" cy="512064"/>
            <a:chOff x="1093711" y="2978277"/>
            <a:chExt cx="8741664" cy="512064"/>
          </a:xfrm>
        </p:grpSpPr>
        <p:sp>
          <p:nvSpPr>
            <p:cNvPr id="47" name="Shape 4">
              <a:extLst>
                <a:ext uri="{FF2B5EF4-FFF2-40B4-BE49-F238E27FC236}">
                  <a16:creationId xmlns:a16="http://schemas.microsoft.com/office/drawing/2014/main" id="{AEE3C157-2124-CE63-5B51-4B40CF1A8BE4}"/>
                </a:ext>
              </a:extLst>
            </p:cNvPr>
            <p:cNvSpPr/>
            <p:nvPr/>
          </p:nvSpPr>
          <p:spPr>
            <a:xfrm>
              <a:off x="1151100" y="2978277"/>
              <a:ext cx="2905265" cy="512064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bg1">
                  <a:lumMod val="85000"/>
                </a:schemeClr>
              </a:solidFill>
              <a:prstDash val="solid"/>
            </a:ln>
          </p:spPr>
          <p:txBody>
            <a:bodyPr/>
            <a:lstStyle/>
            <a:p>
              <a:endParaRPr lang="pt-BR" dirty="0">
                <a:solidFill>
                  <a:srgbClr val="F5EB3F"/>
                </a:solidFill>
              </a:endParaRPr>
            </a:p>
          </p:txBody>
        </p:sp>
        <p:sp>
          <p:nvSpPr>
            <p:cNvPr id="20" name="Shape 14">
              <a:extLst>
                <a:ext uri="{FF2B5EF4-FFF2-40B4-BE49-F238E27FC236}">
                  <a16:creationId xmlns:a16="http://schemas.microsoft.com/office/drawing/2014/main" id="{E4B84F94-D6F5-D098-6DA6-C03871F25171}"/>
                </a:ext>
              </a:extLst>
            </p:cNvPr>
            <p:cNvSpPr/>
            <p:nvPr/>
          </p:nvSpPr>
          <p:spPr>
            <a:xfrm>
              <a:off x="1093711" y="2978277"/>
              <a:ext cx="54864" cy="512064"/>
            </a:xfrm>
            <a:prstGeom prst="rect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1" name="Text 15">
              <a:extLst>
                <a:ext uri="{FF2B5EF4-FFF2-40B4-BE49-F238E27FC236}">
                  <a16:creationId xmlns:a16="http://schemas.microsoft.com/office/drawing/2014/main" id="{DB0D606C-1144-7D53-AF7F-6ED74493F433}"/>
                </a:ext>
              </a:extLst>
            </p:cNvPr>
            <p:cNvSpPr/>
            <p:nvPr/>
          </p:nvSpPr>
          <p:spPr>
            <a:xfrm>
              <a:off x="1221727" y="2996565"/>
              <a:ext cx="28346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1A2B4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data_driven_users</a:t>
              </a:r>
              <a:endParaRPr lang="en-US" sz="1000" dirty="0"/>
            </a:p>
          </p:txBody>
        </p:sp>
        <p:sp>
          <p:nvSpPr>
            <p:cNvPr id="22" name="Text 16">
              <a:extLst>
                <a:ext uri="{FF2B5EF4-FFF2-40B4-BE49-F238E27FC236}">
                  <a16:creationId xmlns:a16="http://schemas.microsoft.com/office/drawing/2014/main" id="{57CA9762-8BEF-FC17-F543-5436F2171E25}"/>
                </a:ext>
              </a:extLst>
            </p:cNvPr>
            <p:cNvSpPr/>
            <p:nvPr/>
          </p:nvSpPr>
          <p:spPr>
            <a:xfrm>
              <a:off x="1221727" y="3252597"/>
              <a:ext cx="28346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8595A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Grão: dept-mês</a:t>
              </a:r>
              <a:endParaRPr lang="en-US" sz="800" dirty="0"/>
            </a:p>
          </p:txBody>
        </p:sp>
        <p:sp>
          <p:nvSpPr>
            <p:cNvPr id="23" name="Shape 17">
              <a:extLst>
                <a:ext uri="{FF2B5EF4-FFF2-40B4-BE49-F238E27FC236}">
                  <a16:creationId xmlns:a16="http://schemas.microsoft.com/office/drawing/2014/main" id="{DCF64F7C-4DC5-32D9-C5DC-0BA5C5D4BCCA}"/>
                </a:ext>
              </a:extLst>
            </p:cNvPr>
            <p:cNvSpPr/>
            <p:nvPr/>
          </p:nvSpPr>
          <p:spPr>
            <a:xfrm>
              <a:off x="4092943" y="2996565"/>
              <a:ext cx="5742432" cy="475488"/>
            </a:xfrm>
            <a:prstGeom prst="rect">
              <a:avLst/>
            </a:prstGeom>
            <a:solidFill>
              <a:srgbClr val="F0F4FA"/>
            </a:solidFill>
            <a:ln w="12700">
              <a:solidFill>
                <a:srgbClr val="D8E4F0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4" name="Text 18">
              <a:extLst>
                <a:ext uri="{FF2B5EF4-FFF2-40B4-BE49-F238E27FC236}">
                  <a16:creationId xmlns:a16="http://schemas.microsoft.com/office/drawing/2014/main" id="{14A5C4E7-1F45-E048-900D-0C1FD9AAFA8A}"/>
                </a:ext>
              </a:extLst>
            </p:cNvPr>
            <p:cNvSpPr/>
            <p:nvPr/>
          </p:nvSpPr>
          <p:spPr>
            <a:xfrm>
              <a:off x="4147807" y="2996565"/>
              <a:ext cx="5632704" cy="475488"/>
            </a:xfrm>
            <a:prstGeom prst="rect">
              <a:avLst/>
            </a:prstGeom>
            <a:noFill/>
            <a:ln/>
          </p:spPr>
          <p:txBody>
            <a:bodyPr wrap="square" lIns="38100" tIns="38100" rIns="38100" bIns="3810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4B5F7C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COUNT(DISTINCT username) WHERE is_data_user = TRUE no mês</a:t>
              </a:r>
              <a:endParaRPr lang="en-US" sz="850" dirty="0"/>
            </a:p>
          </p:txBody>
        </p:sp>
      </p:grpSp>
      <p:grpSp>
        <p:nvGrpSpPr>
          <p:cNvPr id="55" name="Agrupar 54">
            <a:extLst>
              <a:ext uri="{FF2B5EF4-FFF2-40B4-BE49-F238E27FC236}">
                <a16:creationId xmlns:a16="http://schemas.microsoft.com/office/drawing/2014/main" id="{0BFCB9F0-929A-EE2D-C688-584EA311FE34}"/>
              </a:ext>
            </a:extLst>
          </p:cNvPr>
          <p:cNvGrpSpPr/>
          <p:nvPr/>
        </p:nvGrpSpPr>
        <p:grpSpPr>
          <a:xfrm>
            <a:off x="1569028" y="3778738"/>
            <a:ext cx="8741664" cy="514866"/>
            <a:chOff x="1093711" y="3554349"/>
            <a:chExt cx="8741664" cy="514866"/>
          </a:xfrm>
        </p:grpSpPr>
        <p:sp>
          <p:nvSpPr>
            <p:cNvPr id="48" name="Shape 4">
              <a:extLst>
                <a:ext uri="{FF2B5EF4-FFF2-40B4-BE49-F238E27FC236}">
                  <a16:creationId xmlns:a16="http://schemas.microsoft.com/office/drawing/2014/main" id="{7701E4FD-13D3-AAE2-9A13-395E1E065601}"/>
                </a:ext>
              </a:extLst>
            </p:cNvPr>
            <p:cNvSpPr/>
            <p:nvPr/>
          </p:nvSpPr>
          <p:spPr>
            <a:xfrm>
              <a:off x="1151100" y="3557151"/>
              <a:ext cx="2905265" cy="512064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bg1">
                  <a:lumMod val="85000"/>
                </a:schemeClr>
              </a:solidFill>
              <a:prstDash val="solid"/>
            </a:ln>
          </p:spPr>
          <p:txBody>
            <a:bodyPr/>
            <a:lstStyle/>
            <a:p>
              <a:endParaRPr lang="pt-BR" dirty="0">
                <a:solidFill>
                  <a:srgbClr val="F5EB3F"/>
                </a:solidFill>
              </a:endParaRPr>
            </a:p>
          </p:txBody>
        </p:sp>
        <p:sp>
          <p:nvSpPr>
            <p:cNvPr id="25" name="Shape 19">
              <a:extLst>
                <a:ext uri="{FF2B5EF4-FFF2-40B4-BE49-F238E27FC236}">
                  <a16:creationId xmlns:a16="http://schemas.microsoft.com/office/drawing/2014/main" id="{827769DF-0B6E-FDA6-1903-A43330417F35}"/>
                </a:ext>
              </a:extLst>
            </p:cNvPr>
            <p:cNvSpPr/>
            <p:nvPr/>
          </p:nvSpPr>
          <p:spPr>
            <a:xfrm>
              <a:off x="1093711" y="3554349"/>
              <a:ext cx="54864" cy="512064"/>
            </a:xfrm>
            <a:prstGeom prst="rect">
              <a:avLst/>
            </a:prstGeom>
            <a:solidFill>
              <a:srgbClr val="D97706"/>
            </a:solidFill>
            <a:ln w="12700">
              <a:solidFill>
                <a:srgbClr val="D97706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6" name="Text 20">
              <a:extLst>
                <a:ext uri="{FF2B5EF4-FFF2-40B4-BE49-F238E27FC236}">
                  <a16:creationId xmlns:a16="http://schemas.microsoft.com/office/drawing/2014/main" id="{A0A10639-EED7-1208-968D-1A9663A506CA}"/>
                </a:ext>
              </a:extLst>
            </p:cNvPr>
            <p:cNvSpPr/>
            <p:nvPr/>
          </p:nvSpPr>
          <p:spPr>
            <a:xfrm>
              <a:off x="1221727" y="3572637"/>
              <a:ext cx="28346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1A2B4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share_per_ddi_classification</a:t>
              </a:r>
              <a:endParaRPr lang="en-US" sz="1000" dirty="0"/>
            </a:p>
          </p:txBody>
        </p:sp>
        <p:sp>
          <p:nvSpPr>
            <p:cNvPr id="27" name="Text 21">
              <a:extLst>
                <a:ext uri="{FF2B5EF4-FFF2-40B4-BE49-F238E27FC236}">
                  <a16:creationId xmlns:a16="http://schemas.microsoft.com/office/drawing/2014/main" id="{9970F13B-1694-EAC5-99D4-630C4195189A}"/>
                </a:ext>
              </a:extLst>
            </p:cNvPr>
            <p:cNvSpPr/>
            <p:nvPr/>
          </p:nvSpPr>
          <p:spPr>
            <a:xfrm>
              <a:off x="1221727" y="3828669"/>
              <a:ext cx="28346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8595A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Grão: classif-dept-mês</a:t>
              </a:r>
              <a:endParaRPr lang="en-US" sz="800" dirty="0"/>
            </a:p>
          </p:txBody>
        </p:sp>
        <p:sp>
          <p:nvSpPr>
            <p:cNvPr id="28" name="Shape 22">
              <a:extLst>
                <a:ext uri="{FF2B5EF4-FFF2-40B4-BE49-F238E27FC236}">
                  <a16:creationId xmlns:a16="http://schemas.microsoft.com/office/drawing/2014/main" id="{4ACCE4AF-124A-7DB2-6244-731F6D8B1FA9}"/>
                </a:ext>
              </a:extLst>
            </p:cNvPr>
            <p:cNvSpPr/>
            <p:nvPr/>
          </p:nvSpPr>
          <p:spPr>
            <a:xfrm>
              <a:off x="4092943" y="3572637"/>
              <a:ext cx="5742432" cy="475488"/>
            </a:xfrm>
            <a:prstGeom prst="rect">
              <a:avLst/>
            </a:prstGeom>
            <a:solidFill>
              <a:srgbClr val="F0F4FA"/>
            </a:solidFill>
            <a:ln w="12700">
              <a:solidFill>
                <a:srgbClr val="D8E4F0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9" name="Text 23">
              <a:extLst>
                <a:ext uri="{FF2B5EF4-FFF2-40B4-BE49-F238E27FC236}">
                  <a16:creationId xmlns:a16="http://schemas.microsoft.com/office/drawing/2014/main" id="{3F932766-C724-B151-4C11-E831A78FB551}"/>
                </a:ext>
              </a:extLst>
            </p:cNvPr>
            <p:cNvSpPr/>
            <p:nvPr/>
          </p:nvSpPr>
          <p:spPr>
            <a:xfrm>
              <a:off x="4147807" y="3572637"/>
              <a:ext cx="5632704" cy="475488"/>
            </a:xfrm>
            <a:prstGeom prst="rect">
              <a:avLst/>
            </a:prstGeom>
            <a:noFill/>
            <a:ln/>
          </p:spPr>
          <p:txBody>
            <a:bodyPr wrap="square" lIns="38100" tIns="38100" rIns="38100" bIns="3810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4B5F7C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100 * potential_users / NULLIF(SUM(potential_users) OVER</a:t>
              </a:r>
              <a:endParaRPr lang="en-US" sz="850" dirty="0"/>
            </a:p>
            <a:p>
              <a:pPr marL="0" indent="0">
                <a:buNone/>
              </a:pPr>
              <a:r>
                <a:rPr lang="en-US" sz="850" dirty="0">
                  <a:solidFill>
                    <a:srgbClr val="4B5F7C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(PARTITION BY date_month, site, division, department), 0)</a:t>
              </a:r>
              <a:endParaRPr lang="en-US" sz="850" dirty="0"/>
            </a:p>
          </p:txBody>
        </p:sp>
      </p:grpSp>
      <p:grpSp>
        <p:nvGrpSpPr>
          <p:cNvPr id="56" name="Agrupar 55">
            <a:extLst>
              <a:ext uri="{FF2B5EF4-FFF2-40B4-BE49-F238E27FC236}">
                <a16:creationId xmlns:a16="http://schemas.microsoft.com/office/drawing/2014/main" id="{B96E8808-329C-8EC1-0E51-4155C130306C}"/>
              </a:ext>
            </a:extLst>
          </p:cNvPr>
          <p:cNvGrpSpPr/>
          <p:nvPr/>
        </p:nvGrpSpPr>
        <p:grpSpPr>
          <a:xfrm>
            <a:off x="1933889" y="4378067"/>
            <a:ext cx="8741664" cy="516256"/>
            <a:chOff x="1093711" y="4130421"/>
            <a:chExt cx="8741664" cy="516256"/>
          </a:xfrm>
        </p:grpSpPr>
        <p:sp>
          <p:nvSpPr>
            <p:cNvPr id="49" name="Shape 4">
              <a:extLst>
                <a:ext uri="{FF2B5EF4-FFF2-40B4-BE49-F238E27FC236}">
                  <a16:creationId xmlns:a16="http://schemas.microsoft.com/office/drawing/2014/main" id="{015C4B54-3E2D-8482-06C2-7513C2FDFC0A}"/>
                </a:ext>
              </a:extLst>
            </p:cNvPr>
            <p:cNvSpPr/>
            <p:nvPr/>
          </p:nvSpPr>
          <p:spPr>
            <a:xfrm>
              <a:off x="1148575" y="4134613"/>
              <a:ext cx="2905265" cy="512064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bg1">
                  <a:lumMod val="85000"/>
                </a:schemeClr>
              </a:solidFill>
              <a:prstDash val="solid"/>
            </a:ln>
          </p:spPr>
          <p:txBody>
            <a:bodyPr/>
            <a:lstStyle/>
            <a:p>
              <a:endParaRPr lang="pt-BR" dirty="0">
                <a:solidFill>
                  <a:srgbClr val="F5EB3F"/>
                </a:solidFill>
              </a:endParaRPr>
            </a:p>
          </p:txBody>
        </p:sp>
        <p:sp>
          <p:nvSpPr>
            <p:cNvPr id="30" name="Shape 24">
              <a:extLst>
                <a:ext uri="{FF2B5EF4-FFF2-40B4-BE49-F238E27FC236}">
                  <a16:creationId xmlns:a16="http://schemas.microsoft.com/office/drawing/2014/main" id="{AF4F70D8-B5C7-BF44-F983-81FD1DF288F2}"/>
                </a:ext>
              </a:extLst>
            </p:cNvPr>
            <p:cNvSpPr/>
            <p:nvPr/>
          </p:nvSpPr>
          <p:spPr>
            <a:xfrm>
              <a:off x="1093711" y="4130421"/>
              <a:ext cx="54864" cy="512064"/>
            </a:xfrm>
            <a:prstGeom prst="rect">
              <a:avLst/>
            </a:prstGeom>
            <a:solidFill>
              <a:srgbClr val="D97706"/>
            </a:solidFill>
            <a:ln w="12700">
              <a:solidFill>
                <a:srgbClr val="D97706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1" name="Text 25">
              <a:extLst>
                <a:ext uri="{FF2B5EF4-FFF2-40B4-BE49-F238E27FC236}">
                  <a16:creationId xmlns:a16="http://schemas.microsoft.com/office/drawing/2014/main" id="{26E71148-2C86-D45C-D23E-B3EB8495E76C}"/>
                </a:ext>
              </a:extLst>
            </p:cNvPr>
            <p:cNvSpPr/>
            <p:nvPr/>
          </p:nvSpPr>
          <p:spPr>
            <a:xfrm>
              <a:off x="1221727" y="4148709"/>
              <a:ext cx="28346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1A2B4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coverage_rate</a:t>
              </a:r>
              <a:endParaRPr lang="en-US" sz="1000" dirty="0"/>
            </a:p>
          </p:txBody>
        </p:sp>
        <p:sp>
          <p:nvSpPr>
            <p:cNvPr id="32" name="Text 26">
              <a:extLst>
                <a:ext uri="{FF2B5EF4-FFF2-40B4-BE49-F238E27FC236}">
                  <a16:creationId xmlns:a16="http://schemas.microsoft.com/office/drawing/2014/main" id="{9C2FEF2D-872C-C0FF-3823-28EC74B3A0C6}"/>
                </a:ext>
              </a:extLst>
            </p:cNvPr>
            <p:cNvSpPr/>
            <p:nvPr/>
          </p:nvSpPr>
          <p:spPr>
            <a:xfrm>
              <a:off x="1221727" y="4404741"/>
              <a:ext cx="28346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8595A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Grão: dept-mês</a:t>
              </a:r>
              <a:endParaRPr lang="en-US" sz="800" dirty="0"/>
            </a:p>
          </p:txBody>
        </p:sp>
        <p:sp>
          <p:nvSpPr>
            <p:cNvPr id="33" name="Shape 27">
              <a:extLst>
                <a:ext uri="{FF2B5EF4-FFF2-40B4-BE49-F238E27FC236}">
                  <a16:creationId xmlns:a16="http://schemas.microsoft.com/office/drawing/2014/main" id="{EEB120F0-87A0-E067-7883-FE97B6E94152}"/>
                </a:ext>
              </a:extLst>
            </p:cNvPr>
            <p:cNvSpPr/>
            <p:nvPr/>
          </p:nvSpPr>
          <p:spPr>
            <a:xfrm>
              <a:off x="4092943" y="4148709"/>
              <a:ext cx="5742432" cy="475488"/>
            </a:xfrm>
            <a:prstGeom prst="rect">
              <a:avLst/>
            </a:prstGeom>
            <a:solidFill>
              <a:srgbClr val="F0F4FA"/>
            </a:solidFill>
            <a:ln w="12700">
              <a:solidFill>
                <a:srgbClr val="D8E4F0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4" name="Text 28">
              <a:extLst>
                <a:ext uri="{FF2B5EF4-FFF2-40B4-BE49-F238E27FC236}">
                  <a16:creationId xmlns:a16="http://schemas.microsoft.com/office/drawing/2014/main" id="{6977E250-8235-BEE2-72BE-53725426E95E}"/>
                </a:ext>
              </a:extLst>
            </p:cNvPr>
            <p:cNvSpPr/>
            <p:nvPr/>
          </p:nvSpPr>
          <p:spPr>
            <a:xfrm>
              <a:off x="4147807" y="4148709"/>
              <a:ext cx="5632704" cy="475488"/>
            </a:xfrm>
            <a:prstGeom prst="rect">
              <a:avLst/>
            </a:prstGeom>
            <a:noFill/>
            <a:ln/>
          </p:spPr>
          <p:txBody>
            <a:bodyPr wrap="square" lIns="38100" tIns="38100" rIns="38100" bIns="3810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4B5F7C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100 * collaborators_with_ddi / NULLIF(active_collaborators_total, 0)</a:t>
              </a:r>
              <a:endParaRPr lang="en-US" sz="850" dirty="0"/>
            </a:p>
          </p:txBody>
        </p:sp>
      </p:grpSp>
      <p:grpSp>
        <p:nvGrpSpPr>
          <p:cNvPr id="57" name="Agrupar 56">
            <a:extLst>
              <a:ext uri="{FF2B5EF4-FFF2-40B4-BE49-F238E27FC236}">
                <a16:creationId xmlns:a16="http://schemas.microsoft.com/office/drawing/2014/main" id="{12D6954C-07E0-1FF7-F611-88BFFE27B069}"/>
              </a:ext>
            </a:extLst>
          </p:cNvPr>
          <p:cNvGrpSpPr/>
          <p:nvPr/>
        </p:nvGrpSpPr>
        <p:grpSpPr>
          <a:xfrm>
            <a:off x="2280068" y="4972134"/>
            <a:ext cx="8741664" cy="512064"/>
            <a:chOff x="1093711" y="4706493"/>
            <a:chExt cx="8741664" cy="512064"/>
          </a:xfrm>
        </p:grpSpPr>
        <p:sp>
          <p:nvSpPr>
            <p:cNvPr id="50" name="Shape 4">
              <a:extLst>
                <a:ext uri="{FF2B5EF4-FFF2-40B4-BE49-F238E27FC236}">
                  <a16:creationId xmlns:a16="http://schemas.microsoft.com/office/drawing/2014/main" id="{25C6DA1B-AE0E-F6B9-A836-1AD8403C30F5}"/>
                </a:ext>
              </a:extLst>
            </p:cNvPr>
            <p:cNvSpPr/>
            <p:nvPr/>
          </p:nvSpPr>
          <p:spPr>
            <a:xfrm>
              <a:off x="1148575" y="4706493"/>
              <a:ext cx="2905265" cy="512064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bg1">
                  <a:lumMod val="85000"/>
                </a:schemeClr>
              </a:solidFill>
              <a:prstDash val="solid"/>
            </a:ln>
          </p:spPr>
          <p:txBody>
            <a:bodyPr/>
            <a:lstStyle/>
            <a:p>
              <a:endParaRPr lang="pt-BR" dirty="0">
                <a:solidFill>
                  <a:srgbClr val="F5EB3F"/>
                </a:solidFill>
              </a:endParaRPr>
            </a:p>
          </p:txBody>
        </p:sp>
        <p:sp>
          <p:nvSpPr>
            <p:cNvPr id="35" name="Shape 29">
              <a:extLst>
                <a:ext uri="{FF2B5EF4-FFF2-40B4-BE49-F238E27FC236}">
                  <a16:creationId xmlns:a16="http://schemas.microsoft.com/office/drawing/2014/main" id="{CB7FD9EC-BA7D-AC49-215A-AF14DF80998F}"/>
                </a:ext>
              </a:extLst>
            </p:cNvPr>
            <p:cNvSpPr/>
            <p:nvPr/>
          </p:nvSpPr>
          <p:spPr>
            <a:xfrm>
              <a:off x="1093711" y="4706493"/>
              <a:ext cx="54864" cy="512064"/>
            </a:xfrm>
            <a:prstGeom prst="rect">
              <a:avLst/>
            </a:prstGeom>
            <a:solidFill>
              <a:srgbClr val="D94F3D"/>
            </a:solidFill>
            <a:ln w="12700">
              <a:solidFill>
                <a:srgbClr val="D94F3D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6" name="Text 30">
              <a:extLst>
                <a:ext uri="{FF2B5EF4-FFF2-40B4-BE49-F238E27FC236}">
                  <a16:creationId xmlns:a16="http://schemas.microsoft.com/office/drawing/2014/main" id="{700478D0-88B3-3846-1D84-CD5A6824A3BF}"/>
                </a:ext>
              </a:extLst>
            </p:cNvPr>
            <p:cNvSpPr/>
            <p:nvPr/>
          </p:nvSpPr>
          <p:spPr>
            <a:xfrm>
              <a:off x="1221727" y="4724781"/>
              <a:ext cx="28346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1A2B4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transition_rate</a:t>
              </a:r>
              <a:endParaRPr lang="en-US" sz="1000" dirty="0"/>
            </a:p>
          </p:txBody>
        </p:sp>
        <p:sp>
          <p:nvSpPr>
            <p:cNvPr id="37" name="Text 31">
              <a:extLst>
                <a:ext uri="{FF2B5EF4-FFF2-40B4-BE49-F238E27FC236}">
                  <a16:creationId xmlns:a16="http://schemas.microsoft.com/office/drawing/2014/main" id="{A225D052-C47A-F647-8DCA-362B64190936}"/>
                </a:ext>
              </a:extLst>
            </p:cNvPr>
            <p:cNvSpPr/>
            <p:nvPr/>
          </p:nvSpPr>
          <p:spPr>
            <a:xfrm>
              <a:off x="1221727" y="4980813"/>
              <a:ext cx="28346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8595A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Grão: classif-dept-mês</a:t>
              </a:r>
              <a:endParaRPr lang="en-US" sz="800" dirty="0"/>
            </a:p>
          </p:txBody>
        </p:sp>
        <p:sp>
          <p:nvSpPr>
            <p:cNvPr id="38" name="Shape 32">
              <a:extLst>
                <a:ext uri="{FF2B5EF4-FFF2-40B4-BE49-F238E27FC236}">
                  <a16:creationId xmlns:a16="http://schemas.microsoft.com/office/drawing/2014/main" id="{31C5842D-7241-0AAA-FFEE-C32E256185A8}"/>
                </a:ext>
              </a:extLst>
            </p:cNvPr>
            <p:cNvSpPr/>
            <p:nvPr/>
          </p:nvSpPr>
          <p:spPr>
            <a:xfrm>
              <a:off x="4092943" y="4724781"/>
              <a:ext cx="5742432" cy="475488"/>
            </a:xfrm>
            <a:prstGeom prst="rect">
              <a:avLst/>
            </a:prstGeom>
            <a:solidFill>
              <a:srgbClr val="F0F4FA"/>
            </a:solidFill>
            <a:ln w="12700">
              <a:solidFill>
                <a:srgbClr val="D8E4F0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9" name="Text 33">
              <a:extLst>
                <a:ext uri="{FF2B5EF4-FFF2-40B4-BE49-F238E27FC236}">
                  <a16:creationId xmlns:a16="http://schemas.microsoft.com/office/drawing/2014/main" id="{384A35F2-C915-301D-12A9-79297005550B}"/>
                </a:ext>
              </a:extLst>
            </p:cNvPr>
            <p:cNvSpPr/>
            <p:nvPr/>
          </p:nvSpPr>
          <p:spPr>
            <a:xfrm>
              <a:off x="4147807" y="4724781"/>
              <a:ext cx="5632704" cy="475488"/>
            </a:xfrm>
            <a:prstGeom prst="rect">
              <a:avLst/>
            </a:prstGeom>
            <a:noFill/>
            <a:ln/>
          </p:spPr>
          <p:txBody>
            <a:bodyPr wrap="square" lIns="38100" tIns="38100" rIns="38100" bIns="3810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4B5F7C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(potential_users - LAG(potential_users)) / NULLIF(LAG(potential_users), 0) * 100</a:t>
              </a:r>
              <a:endParaRPr lang="en-US" sz="850" dirty="0"/>
            </a:p>
            <a:p>
              <a:pPr marL="0" indent="0">
                <a:buNone/>
              </a:pPr>
              <a:r>
                <a:rPr lang="en-US" sz="850" dirty="0">
                  <a:solidFill>
                    <a:srgbClr val="4B5F7C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OVER (PARTITION BY site, division, department, user_classification ORDER BY date_month)</a:t>
              </a:r>
              <a:endParaRPr lang="en-US" sz="850" dirty="0"/>
            </a:p>
          </p:txBody>
        </p:sp>
      </p:grpSp>
      <p:grpSp>
        <p:nvGrpSpPr>
          <p:cNvPr id="58" name="Agrupar 57">
            <a:extLst>
              <a:ext uri="{FF2B5EF4-FFF2-40B4-BE49-F238E27FC236}">
                <a16:creationId xmlns:a16="http://schemas.microsoft.com/office/drawing/2014/main" id="{3E3F35C7-8A72-84E3-8DE6-42605FF63223}"/>
              </a:ext>
            </a:extLst>
          </p:cNvPr>
          <p:cNvGrpSpPr/>
          <p:nvPr/>
        </p:nvGrpSpPr>
        <p:grpSpPr>
          <a:xfrm>
            <a:off x="2646204" y="5579847"/>
            <a:ext cx="8741664" cy="513875"/>
            <a:chOff x="1093711" y="5280754"/>
            <a:chExt cx="8741664" cy="513875"/>
          </a:xfrm>
        </p:grpSpPr>
        <p:sp>
          <p:nvSpPr>
            <p:cNvPr id="51" name="Shape 4">
              <a:extLst>
                <a:ext uri="{FF2B5EF4-FFF2-40B4-BE49-F238E27FC236}">
                  <a16:creationId xmlns:a16="http://schemas.microsoft.com/office/drawing/2014/main" id="{5AF430F2-2712-DD6C-73A1-B707E6BB9AFE}"/>
                </a:ext>
              </a:extLst>
            </p:cNvPr>
            <p:cNvSpPr/>
            <p:nvPr/>
          </p:nvSpPr>
          <p:spPr>
            <a:xfrm>
              <a:off x="1148575" y="5280754"/>
              <a:ext cx="2905265" cy="512064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bg1">
                  <a:lumMod val="85000"/>
                </a:schemeClr>
              </a:solidFill>
              <a:prstDash val="solid"/>
            </a:ln>
          </p:spPr>
          <p:txBody>
            <a:bodyPr/>
            <a:lstStyle/>
            <a:p>
              <a:endParaRPr lang="pt-BR" dirty="0">
                <a:solidFill>
                  <a:srgbClr val="F5EB3F"/>
                </a:solidFill>
              </a:endParaRPr>
            </a:p>
          </p:txBody>
        </p:sp>
        <p:sp>
          <p:nvSpPr>
            <p:cNvPr id="40" name="Shape 34">
              <a:extLst>
                <a:ext uri="{FF2B5EF4-FFF2-40B4-BE49-F238E27FC236}">
                  <a16:creationId xmlns:a16="http://schemas.microsoft.com/office/drawing/2014/main" id="{C667F4E8-84C1-BE7B-6FFB-E4A5D7E0F850}"/>
                </a:ext>
              </a:extLst>
            </p:cNvPr>
            <p:cNvSpPr/>
            <p:nvPr/>
          </p:nvSpPr>
          <p:spPr>
            <a:xfrm>
              <a:off x="1093711" y="5282565"/>
              <a:ext cx="54864" cy="512064"/>
            </a:xfrm>
            <a:prstGeom prst="rect">
              <a:avLst/>
            </a:prstGeom>
            <a:solidFill>
              <a:srgbClr val="D94F3D"/>
            </a:solidFill>
            <a:ln w="12700">
              <a:solidFill>
                <a:srgbClr val="D94F3D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1" name="Text 35">
              <a:extLst>
                <a:ext uri="{FF2B5EF4-FFF2-40B4-BE49-F238E27FC236}">
                  <a16:creationId xmlns:a16="http://schemas.microsoft.com/office/drawing/2014/main" id="{6E46EFCE-DC63-65B0-132C-1CAB98CC35B8}"/>
                </a:ext>
              </a:extLst>
            </p:cNvPr>
            <p:cNvSpPr/>
            <p:nvPr/>
          </p:nvSpPr>
          <p:spPr>
            <a:xfrm>
              <a:off x="1221727" y="5300853"/>
              <a:ext cx="28346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1A2B4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gap_to_target</a:t>
              </a:r>
              <a:endParaRPr lang="en-US" sz="1000" dirty="0"/>
            </a:p>
          </p:txBody>
        </p:sp>
        <p:sp>
          <p:nvSpPr>
            <p:cNvPr id="42" name="Text 36">
              <a:extLst>
                <a:ext uri="{FF2B5EF4-FFF2-40B4-BE49-F238E27FC236}">
                  <a16:creationId xmlns:a16="http://schemas.microsoft.com/office/drawing/2014/main" id="{D2A482C3-093A-5074-CD31-61DC6F94510B}"/>
                </a:ext>
              </a:extLst>
            </p:cNvPr>
            <p:cNvSpPr/>
            <p:nvPr/>
          </p:nvSpPr>
          <p:spPr>
            <a:xfrm>
              <a:off x="1221727" y="5556885"/>
              <a:ext cx="28346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8595A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Grão: dept-mês</a:t>
              </a:r>
              <a:endParaRPr lang="en-US" sz="800" dirty="0"/>
            </a:p>
          </p:txBody>
        </p:sp>
        <p:sp>
          <p:nvSpPr>
            <p:cNvPr id="43" name="Shape 37">
              <a:extLst>
                <a:ext uri="{FF2B5EF4-FFF2-40B4-BE49-F238E27FC236}">
                  <a16:creationId xmlns:a16="http://schemas.microsoft.com/office/drawing/2014/main" id="{4525BA01-52B9-02D9-7984-B2E3FD7C15FE}"/>
                </a:ext>
              </a:extLst>
            </p:cNvPr>
            <p:cNvSpPr/>
            <p:nvPr/>
          </p:nvSpPr>
          <p:spPr>
            <a:xfrm>
              <a:off x="4092943" y="5300853"/>
              <a:ext cx="5742432" cy="475488"/>
            </a:xfrm>
            <a:prstGeom prst="rect">
              <a:avLst/>
            </a:prstGeom>
            <a:solidFill>
              <a:srgbClr val="F0F4FA"/>
            </a:solidFill>
            <a:ln w="12700">
              <a:solidFill>
                <a:srgbClr val="D8E4F0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4" name="Text 38">
              <a:extLst>
                <a:ext uri="{FF2B5EF4-FFF2-40B4-BE49-F238E27FC236}">
                  <a16:creationId xmlns:a16="http://schemas.microsoft.com/office/drawing/2014/main" id="{EE743FB9-A39C-D635-47BD-5610F57E1BBB}"/>
                </a:ext>
              </a:extLst>
            </p:cNvPr>
            <p:cNvSpPr/>
            <p:nvPr/>
          </p:nvSpPr>
          <p:spPr>
            <a:xfrm>
              <a:off x="4147807" y="5300853"/>
              <a:ext cx="5632704" cy="475488"/>
            </a:xfrm>
            <a:prstGeom prst="rect">
              <a:avLst/>
            </a:prstGeom>
            <a:noFill/>
            <a:ln/>
          </p:spPr>
          <p:txBody>
            <a:bodyPr wrap="square" lIns="38100" tIns="38100" rIns="38100" bIns="3810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4B5F7C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potential_users - PERCENTILE_CONT(0.5) WITHIN GROUP</a:t>
              </a:r>
              <a:endParaRPr lang="en-US" sz="850" dirty="0"/>
            </a:p>
            <a:p>
              <a:pPr marL="0" indent="0">
                <a:buNone/>
              </a:pPr>
              <a:r>
                <a:rPr lang="en-US" sz="850" dirty="0">
                  <a:solidFill>
                    <a:srgbClr val="4B5F7C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(ORDER BY total_potential_in_dept) da mesma (date_month, site, division)</a:t>
              </a:r>
              <a:endParaRPr lang="en-US" sz="850" dirty="0"/>
            </a:p>
          </p:txBody>
        </p:sp>
      </p:grp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6AFBE9EB-627E-93DC-8E29-2D17E10F1EE6}"/>
              </a:ext>
            </a:extLst>
          </p:cNvPr>
          <p:cNvSpPr txBox="1"/>
          <p:nvPr/>
        </p:nvSpPr>
        <p:spPr>
          <a:xfrm>
            <a:off x="450238" y="1200149"/>
            <a:ext cx="27955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Spec Completo (7 métricas)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091274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7F2C7-8F3A-1712-202A-C74467755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Agrupar 13">
            <a:extLst>
              <a:ext uri="{FF2B5EF4-FFF2-40B4-BE49-F238E27FC236}">
                <a16:creationId xmlns:a16="http://schemas.microsoft.com/office/drawing/2014/main" id="{5DB35331-1714-A1A4-15AD-70757D798236}"/>
              </a:ext>
            </a:extLst>
          </p:cNvPr>
          <p:cNvGrpSpPr/>
          <p:nvPr/>
        </p:nvGrpSpPr>
        <p:grpSpPr>
          <a:xfrm>
            <a:off x="0" y="-2"/>
            <a:ext cx="12192000" cy="787791"/>
            <a:chOff x="0" y="-1"/>
            <a:chExt cx="12192000" cy="787791"/>
          </a:xfrm>
        </p:grpSpPr>
        <p:grpSp>
          <p:nvGrpSpPr>
            <p:cNvPr id="15" name="Agrupar 14">
              <a:extLst>
                <a:ext uri="{FF2B5EF4-FFF2-40B4-BE49-F238E27FC236}">
                  <a16:creationId xmlns:a16="http://schemas.microsoft.com/office/drawing/2014/main" id="{B8A66E82-4FCA-89BD-036F-2D0C4FC96D34}"/>
                </a:ext>
              </a:extLst>
            </p:cNvPr>
            <p:cNvGrpSpPr/>
            <p:nvPr/>
          </p:nvGrpSpPr>
          <p:grpSpPr>
            <a:xfrm>
              <a:off x="0" y="-1"/>
              <a:ext cx="12192000" cy="787791"/>
              <a:chOff x="0" y="-1"/>
              <a:chExt cx="12192000" cy="787791"/>
            </a:xfrm>
          </p:grpSpPr>
          <p:sp>
            <p:nvSpPr>
              <p:cNvPr id="17" name="Shape 0">
                <a:extLst>
                  <a:ext uri="{FF2B5EF4-FFF2-40B4-BE49-F238E27FC236}">
                    <a16:creationId xmlns:a16="http://schemas.microsoft.com/office/drawing/2014/main" id="{C7F11DCF-27FC-C3EE-4117-A9BA070C1515}"/>
                  </a:ext>
                </a:extLst>
              </p:cNvPr>
              <p:cNvSpPr/>
              <p:nvPr/>
            </p:nvSpPr>
            <p:spPr>
              <a:xfrm>
                <a:off x="0" y="-1"/>
                <a:ext cx="12192000" cy="787791"/>
              </a:xfrm>
              <a:prstGeom prst="rect">
                <a:avLst/>
              </a:prstGeom>
              <a:solidFill>
                <a:srgbClr val="333333"/>
              </a:solidFill>
              <a:ln w="12700">
                <a:solidFill>
                  <a:srgbClr val="333333"/>
                </a:solidFill>
                <a:prstDash val="solid"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8" name="Retângulo: Cantos Arredondados 17">
                <a:extLst>
                  <a:ext uri="{FF2B5EF4-FFF2-40B4-BE49-F238E27FC236}">
                    <a16:creationId xmlns:a16="http://schemas.microsoft.com/office/drawing/2014/main" id="{72395DED-8A66-7499-6651-F257358AF5DD}"/>
                  </a:ext>
                </a:extLst>
              </p:cNvPr>
              <p:cNvSpPr/>
              <p:nvPr/>
            </p:nvSpPr>
            <p:spPr>
              <a:xfrm>
                <a:off x="9835375" y="306443"/>
                <a:ext cx="1987681" cy="175290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23000">
                    <a:srgbClr val="84B9EB"/>
                  </a:gs>
                  <a:gs pos="54000">
                    <a:srgbClr val="F5EB3F"/>
                  </a:gs>
                </a:gsLst>
                <a:lin ang="0" scaled="1"/>
                <a:tileRect/>
              </a:gradFill>
              <a:ln>
                <a:solidFill>
                  <a:srgbClr val="3333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pic>
          <p:nvPicPr>
            <p:cNvPr id="16" name="Imagem 15">
              <a:extLst>
                <a:ext uri="{FF2B5EF4-FFF2-40B4-BE49-F238E27FC236}">
                  <a16:creationId xmlns:a16="http://schemas.microsoft.com/office/drawing/2014/main" id="{070AD0E8-609A-353D-EA03-2CB1A0854B4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7756" y="213902"/>
              <a:ext cx="1279943" cy="359984"/>
            </a:xfrm>
            <a:prstGeom prst="rect">
              <a:avLst/>
            </a:prstGeom>
          </p:spPr>
        </p:pic>
      </p:grpSp>
      <p:sp>
        <p:nvSpPr>
          <p:cNvPr id="19" name="Título 1">
            <a:extLst>
              <a:ext uri="{FF2B5EF4-FFF2-40B4-BE49-F238E27FC236}">
                <a16:creationId xmlns:a16="http://schemas.microsoft.com/office/drawing/2014/main" id="{F129F338-9B6A-EFBF-B1DC-0B0156785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4635" y="72739"/>
            <a:ext cx="2579701" cy="642310"/>
          </a:xfrm>
        </p:spPr>
        <p:txBody>
          <a:bodyPr anchor="t">
            <a:normAutofit fontScale="90000"/>
          </a:bodyPr>
          <a:lstStyle/>
          <a:p>
            <a:r>
              <a:rPr lang="pt-BR" dirty="0">
                <a:solidFill>
                  <a:schemeClr val="bg1"/>
                </a:solidFill>
              </a:rPr>
              <a:t>| </a:t>
            </a:r>
            <a:r>
              <a:rPr lang="pt-BR" sz="3100" dirty="0">
                <a:solidFill>
                  <a:schemeClr val="bg1"/>
                </a:solidFill>
              </a:rPr>
              <a:t>Governança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051B80F8-0ACD-3369-DD7A-63A27F894C01}"/>
              </a:ext>
            </a:extLst>
          </p:cNvPr>
          <p:cNvSpPr/>
          <p:nvPr/>
        </p:nvSpPr>
        <p:spPr>
          <a:xfrm>
            <a:off x="0" y="0"/>
            <a:ext cx="61913" cy="787789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EA93A389-49E3-FDC2-4140-F2BBDF35C0D4}"/>
              </a:ext>
            </a:extLst>
          </p:cNvPr>
          <p:cNvSpPr/>
          <p:nvPr/>
        </p:nvSpPr>
        <p:spPr>
          <a:xfrm>
            <a:off x="222545" y="1503395"/>
            <a:ext cx="5763326" cy="474323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5" name="Shape 6">
            <a:extLst>
              <a:ext uri="{FF2B5EF4-FFF2-40B4-BE49-F238E27FC236}">
                <a16:creationId xmlns:a16="http://schemas.microsoft.com/office/drawing/2014/main" id="{5975A52B-3223-BEB1-2B7E-728DED8D202E}"/>
              </a:ext>
            </a:extLst>
          </p:cNvPr>
          <p:cNvSpPr/>
          <p:nvPr/>
        </p:nvSpPr>
        <p:spPr>
          <a:xfrm>
            <a:off x="6206130" y="1190762"/>
            <a:ext cx="5554528" cy="1232395"/>
          </a:xfrm>
          <a:prstGeom prst="rect">
            <a:avLst/>
          </a:prstGeom>
          <a:solidFill>
            <a:srgbClr val="F0F4FA"/>
          </a:solidFill>
          <a:ln w="12700">
            <a:solidFill>
              <a:srgbClr val="D8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6" name="Shape 7">
            <a:extLst>
              <a:ext uri="{FF2B5EF4-FFF2-40B4-BE49-F238E27FC236}">
                <a16:creationId xmlns:a16="http://schemas.microsoft.com/office/drawing/2014/main" id="{600AB628-F350-F7D9-443F-CA32EE6C0D8D}"/>
              </a:ext>
            </a:extLst>
          </p:cNvPr>
          <p:cNvSpPr/>
          <p:nvPr/>
        </p:nvSpPr>
        <p:spPr>
          <a:xfrm>
            <a:off x="6260994" y="1300491"/>
            <a:ext cx="643156" cy="643156"/>
          </a:xfrm>
          <a:prstGeom prst="ellipse">
            <a:avLst/>
          </a:prstGeom>
          <a:solidFill>
            <a:srgbClr val="1659A8"/>
          </a:solidFill>
          <a:ln w="12700">
            <a:solidFill>
              <a:srgbClr val="1659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Text 8">
            <a:extLst>
              <a:ext uri="{FF2B5EF4-FFF2-40B4-BE49-F238E27FC236}">
                <a16:creationId xmlns:a16="http://schemas.microsoft.com/office/drawing/2014/main" id="{348DAE03-F3C8-3897-3CC8-E38224B25C15}"/>
              </a:ext>
            </a:extLst>
          </p:cNvPr>
          <p:cNvSpPr/>
          <p:nvPr/>
        </p:nvSpPr>
        <p:spPr>
          <a:xfrm>
            <a:off x="6260994" y="1300491"/>
            <a:ext cx="643156" cy="643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38" name="Text 9">
            <a:extLst>
              <a:ext uri="{FF2B5EF4-FFF2-40B4-BE49-F238E27FC236}">
                <a16:creationId xmlns:a16="http://schemas.microsoft.com/office/drawing/2014/main" id="{290E9A51-3D4A-F93B-3E96-0704C359AFFD}"/>
              </a:ext>
            </a:extLst>
          </p:cNvPr>
          <p:cNvSpPr/>
          <p:nvPr/>
        </p:nvSpPr>
        <p:spPr>
          <a:xfrm>
            <a:off x="7092402" y="1489962"/>
            <a:ext cx="4233870" cy="249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Duplo ROW_NUMBER</a:t>
            </a:r>
            <a:endParaRPr lang="en-US" sz="1200" dirty="0"/>
          </a:p>
        </p:txBody>
      </p:sp>
      <p:sp>
        <p:nvSpPr>
          <p:cNvPr id="39" name="Text 10">
            <a:extLst>
              <a:ext uri="{FF2B5EF4-FFF2-40B4-BE49-F238E27FC236}">
                <a16:creationId xmlns:a16="http://schemas.microsoft.com/office/drawing/2014/main" id="{47E2B8D4-8345-1B39-39E3-85831999D75F}"/>
              </a:ext>
            </a:extLst>
          </p:cNvPr>
          <p:cNvSpPr/>
          <p:nvPr/>
        </p:nvSpPr>
        <p:spPr>
          <a:xfrm>
            <a:off x="6959014" y="1647962"/>
            <a:ext cx="4681102" cy="730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rn_all − rn_mesmo_flag = grp. Cada série ininterrupta de TRUE recebe um grp único por usuário. Séries separadas por FALSE recebem grps diferentes.</a:t>
            </a:r>
            <a:endParaRPr lang="en-US" sz="1050" dirty="0"/>
          </a:p>
        </p:txBody>
      </p:sp>
      <p:sp>
        <p:nvSpPr>
          <p:cNvPr id="40" name="Shape 11">
            <a:extLst>
              <a:ext uri="{FF2B5EF4-FFF2-40B4-BE49-F238E27FC236}">
                <a16:creationId xmlns:a16="http://schemas.microsoft.com/office/drawing/2014/main" id="{374ABDD6-C025-F25A-B780-7C95B8275287}"/>
              </a:ext>
            </a:extLst>
          </p:cNvPr>
          <p:cNvSpPr/>
          <p:nvPr/>
        </p:nvSpPr>
        <p:spPr>
          <a:xfrm>
            <a:off x="6206130" y="2532885"/>
            <a:ext cx="5554528" cy="1232396"/>
          </a:xfrm>
          <a:prstGeom prst="rect">
            <a:avLst/>
          </a:prstGeom>
          <a:solidFill>
            <a:srgbClr val="F0F4FA"/>
          </a:solidFill>
          <a:ln w="12700">
            <a:solidFill>
              <a:srgbClr val="D8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1" name="Shape 12">
            <a:extLst>
              <a:ext uri="{FF2B5EF4-FFF2-40B4-BE49-F238E27FC236}">
                <a16:creationId xmlns:a16="http://schemas.microsoft.com/office/drawing/2014/main" id="{47E169DA-7BDF-5DFB-45D2-DE273FFCA009}"/>
              </a:ext>
            </a:extLst>
          </p:cNvPr>
          <p:cNvSpPr/>
          <p:nvPr/>
        </p:nvSpPr>
        <p:spPr>
          <a:xfrm>
            <a:off x="6260994" y="2642614"/>
            <a:ext cx="643156" cy="6431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Text 13">
            <a:extLst>
              <a:ext uri="{FF2B5EF4-FFF2-40B4-BE49-F238E27FC236}">
                <a16:creationId xmlns:a16="http://schemas.microsoft.com/office/drawing/2014/main" id="{BAAF32F6-E1F1-E80A-EACB-BEAF6FF7ACDF}"/>
              </a:ext>
            </a:extLst>
          </p:cNvPr>
          <p:cNvSpPr/>
          <p:nvPr/>
        </p:nvSpPr>
        <p:spPr>
          <a:xfrm>
            <a:off x="6260994" y="2642614"/>
            <a:ext cx="643156" cy="643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43" name="Text 14">
            <a:extLst>
              <a:ext uri="{FF2B5EF4-FFF2-40B4-BE49-F238E27FC236}">
                <a16:creationId xmlns:a16="http://schemas.microsoft.com/office/drawing/2014/main" id="{6F95F55E-6A54-C2BB-2688-C2D2B32CF41B}"/>
              </a:ext>
            </a:extLst>
          </p:cNvPr>
          <p:cNvSpPr/>
          <p:nvPr/>
        </p:nvSpPr>
        <p:spPr>
          <a:xfrm>
            <a:off x="7092402" y="2836020"/>
            <a:ext cx="4233870" cy="245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COUNT(*) OVER (PARTITION BY username, grp)</a:t>
            </a:r>
            <a:endParaRPr lang="en-US" sz="1200" dirty="0"/>
          </a:p>
        </p:txBody>
      </p:sp>
      <p:sp>
        <p:nvSpPr>
          <p:cNvPr id="44" name="Text 15">
            <a:extLst>
              <a:ext uri="{FF2B5EF4-FFF2-40B4-BE49-F238E27FC236}">
                <a16:creationId xmlns:a16="http://schemas.microsoft.com/office/drawing/2014/main" id="{3675F05F-18DB-734D-4263-4FD597FC3CDC}"/>
              </a:ext>
            </a:extLst>
          </p:cNvPr>
          <p:cNvSpPr/>
          <p:nvPr/>
        </p:nvSpPr>
        <p:spPr>
          <a:xfrm>
            <a:off x="6959014" y="2990085"/>
            <a:ext cx="4681102" cy="730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o tamanho de cada sequência consecutiva. Uma série de 5 meses TRUE produz streak = 5 em todas as 5 linhas.</a:t>
            </a:r>
            <a:endParaRPr lang="en-US" sz="1050" dirty="0"/>
          </a:p>
        </p:txBody>
      </p:sp>
      <p:sp>
        <p:nvSpPr>
          <p:cNvPr id="45" name="Shape 16">
            <a:extLst>
              <a:ext uri="{FF2B5EF4-FFF2-40B4-BE49-F238E27FC236}">
                <a16:creationId xmlns:a16="http://schemas.microsoft.com/office/drawing/2014/main" id="{0EE367ED-2C14-DD5D-6212-C533EB44C0CD}"/>
              </a:ext>
            </a:extLst>
          </p:cNvPr>
          <p:cNvSpPr/>
          <p:nvPr/>
        </p:nvSpPr>
        <p:spPr>
          <a:xfrm>
            <a:off x="6206130" y="3875010"/>
            <a:ext cx="5554528" cy="1232396"/>
          </a:xfrm>
          <a:prstGeom prst="rect">
            <a:avLst/>
          </a:prstGeom>
          <a:solidFill>
            <a:srgbClr val="F0F4FA"/>
          </a:solidFill>
          <a:ln w="12700">
            <a:solidFill>
              <a:srgbClr val="D8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6" name="Shape 17">
            <a:extLst>
              <a:ext uri="{FF2B5EF4-FFF2-40B4-BE49-F238E27FC236}">
                <a16:creationId xmlns:a16="http://schemas.microsoft.com/office/drawing/2014/main" id="{4F476066-69CC-75F9-1A78-65AC4FD31C88}"/>
              </a:ext>
            </a:extLst>
          </p:cNvPr>
          <p:cNvSpPr/>
          <p:nvPr/>
        </p:nvSpPr>
        <p:spPr>
          <a:xfrm>
            <a:off x="6260994" y="3984738"/>
            <a:ext cx="643156" cy="64315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7" name="Text 18">
            <a:extLst>
              <a:ext uri="{FF2B5EF4-FFF2-40B4-BE49-F238E27FC236}">
                <a16:creationId xmlns:a16="http://schemas.microsoft.com/office/drawing/2014/main" id="{13660C6F-DDBB-A015-FBD8-FAAEBC94F6B4}"/>
              </a:ext>
            </a:extLst>
          </p:cNvPr>
          <p:cNvSpPr/>
          <p:nvPr/>
        </p:nvSpPr>
        <p:spPr>
          <a:xfrm>
            <a:off x="6260994" y="3984738"/>
            <a:ext cx="643156" cy="643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8" name="Text 19">
            <a:extLst>
              <a:ext uri="{FF2B5EF4-FFF2-40B4-BE49-F238E27FC236}">
                <a16:creationId xmlns:a16="http://schemas.microsoft.com/office/drawing/2014/main" id="{AEB7DC1A-00A4-D399-C82F-CAD5754732F3}"/>
              </a:ext>
            </a:extLst>
          </p:cNvPr>
          <p:cNvSpPr/>
          <p:nvPr/>
        </p:nvSpPr>
        <p:spPr>
          <a:xfrm>
            <a:off x="7092402" y="4178143"/>
            <a:ext cx="4233870" cy="2451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 ≥ 3 → is_potential_user = TRUE</a:t>
            </a:r>
            <a:endParaRPr lang="en-US" sz="1200" dirty="0"/>
          </a:p>
        </p:txBody>
      </p:sp>
      <p:sp>
        <p:nvSpPr>
          <p:cNvPr id="49" name="Text 20">
            <a:extLst>
              <a:ext uri="{FF2B5EF4-FFF2-40B4-BE49-F238E27FC236}">
                <a16:creationId xmlns:a16="http://schemas.microsoft.com/office/drawing/2014/main" id="{12D35AB0-BCBD-38F3-2227-36AAA408DDD3}"/>
              </a:ext>
            </a:extLst>
          </p:cNvPr>
          <p:cNvSpPr/>
          <p:nvPr/>
        </p:nvSpPr>
        <p:spPr>
          <a:xfrm>
            <a:off x="6959014" y="4332209"/>
            <a:ext cx="4681102" cy="730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partir do 3º mês da mesma sequência o usuário é marcado como potencial. O próprio mês corrente já conta — não é necessário esperar o 4º mês.</a:t>
            </a:r>
            <a:endParaRPr lang="en-US" sz="1050" dirty="0"/>
          </a:p>
        </p:txBody>
      </p:sp>
      <p:sp>
        <p:nvSpPr>
          <p:cNvPr id="50" name="Shape 21">
            <a:extLst>
              <a:ext uri="{FF2B5EF4-FFF2-40B4-BE49-F238E27FC236}">
                <a16:creationId xmlns:a16="http://schemas.microsoft.com/office/drawing/2014/main" id="{5C1CF07A-8382-3B52-C1E6-E652B80A769A}"/>
              </a:ext>
            </a:extLst>
          </p:cNvPr>
          <p:cNvSpPr/>
          <p:nvPr/>
        </p:nvSpPr>
        <p:spPr>
          <a:xfrm>
            <a:off x="6206130" y="5217134"/>
            <a:ext cx="5554528" cy="1232396"/>
          </a:xfrm>
          <a:prstGeom prst="rect">
            <a:avLst/>
          </a:prstGeom>
          <a:solidFill>
            <a:srgbClr val="F0F4FA"/>
          </a:solidFill>
          <a:ln w="12700">
            <a:solidFill>
              <a:srgbClr val="D8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1" name="Shape 22">
            <a:extLst>
              <a:ext uri="{FF2B5EF4-FFF2-40B4-BE49-F238E27FC236}">
                <a16:creationId xmlns:a16="http://schemas.microsoft.com/office/drawing/2014/main" id="{9A54A75C-79F4-25F1-F7C0-4CF784ED333D}"/>
              </a:ext>
            </a:extLst>
          </p:cNvPr>
          <p:cNvSpPr/>
          <p:nvPr/>
        </p:nvSpPr>
        <p:spPr>
          <a:xfrm>
            <a:off x="6260994" y="5326862"/>
            <a:ext cx="643156" cy="643156"/>
          </a:xfrm>
          <a:prstGeom prst="ellipse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2" name="Text 23">
            <a:extLst>
              <a:ext uri="{FF2B5EF4-FFF2-40B4-BE49-F238E27FC236}">
                <a16:creationId xmlns:a16="http://schemas.microsoft.com/office/drawing/2014/main" id="{D0ECB0CA-A501-6620-22E6-94448E7DBF7C}"/>
              </a:ext>
            </a:extLst>
          </p:cNvPr>
          <p:cNvSpPr/>
          <p:nvPr/>
        </p:nvSpPr>
        <p:spPr>
          <a:xfrm>
            <a:off x="6260994" y="5326862"/>
            <a:ext cx="643156" cy="643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300" dirty="0"/>
          </a:p>
        </p:txBody>
      </p:sp>
      <p:sp>
        <p:nvSpPr>
          <p:cNvPr id="53" name="Text 24">
            <a:extLst>
              <a:ext uri="{FF2B5EF4-FFF2-40B4-BE49-F238E27FC236}">
                <a16:creationId xmlns:a16="http://schemas.microsoft.com/office/drawing/2014/main" id="{80F58009-D733-922E-9162-C03792695ADC}"/>
              </a:ext>
            </a:extLst>
          </p:cNvPr>
          <p:cNvSpPr/>
          <p:nvPr/>
        </p:nvSpPr>
        <p:spPr>
          <a:xfrm>
            <a:off x="7092402" y="5520267"/>
            <a:ext cx="4233870" cy="2451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Quebra de sequência requer reinício</a:t>
            </a:r>
            <a:endParaRPr lang="en-US" sz="1200" dirty="0"/>
          </a:p>
        </p:txBody>
      </p:sp>
      <p:sp>
        <p:nvSpPr>
          <p:cNvPr id="54" name="Text 25">
            <a:extLst>
              <a:ext uri="{FF2B5EF4-FFF2-40B4-BE49-F238E27FC236}">
                <a16:creationId xmlns:a16="http://schemas.microsoft.com/office/drawing/2014/main" id="{69928C70-D44D-742B-4FFA-D2A4D9786F72}"/>
              </a:ext>
            </a:extLst>
          </p:cNvPr>
          <p:cNvSpPr/>
          <p:nvPr/>
        </p:nvSpPr>
        <p:spPr>
          <a:xfrm>
            <a:off x="6959014" y="5674333"/>
            <a:ext cx="4681102" cy="730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único mês FALSE zera o grp. O usuário precisa acumular 3 meses TRUE novamente para recuperar o status de potencial.</a:t>
            </a:r>
            <a:endParaRPr lang="en-US" sz="1050" dirty="0"/>
          </a:p>
        </p:txBody>
      </p:sp>
      <p:sp>
        <p:nvSpPr>
          <p:cNvPr id="55" name="Text 5">
            <a:extLst>
              <a:ext uri="{FF2B5EF4-FFF2-40B4-BE49-F238E27FC236}">
                <a16:creationId xmlns:a16="http://schemas.microsoft.com/office/drawing/2014/main" id="{FBCA6DF4-11D1-3670-F04E-DE8E8E2F82B1}"/>
              </a:ext>
            </a:extLst>
          </p:cNvPr>
          <p:cNvSpPr/>
          <p:nvPr/>
        </p:nvSpPr>
        <p:spPr>
          <a:xfrm>
            <a:off x="347756" y="1614483"/>
            <a:ext cx="5478852" cy="447997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820" dirty="0">
                <a:solidFill>
                  <a:schemeClr val="tx2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r>
              <a:rPr lang="en-US" sz="8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base </a:t>
            </a:r>
            <a:r>
              <a:rPr lang="en-US" sz="820" dirty="0">
                <a:solidFill>
                  <a:schemeClr val="tx2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8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endParaRPr lang="en-US" sz="82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8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20" dirty="0">
                <a:solidFill>
                  <a:schemeClr val="tx2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820" dirty="0">
              <a:solidFill>
                <a:schemeClr val="tx2">
                  <a:lumMod val="50000"/>
                  <a:lumOff val="50000"/>
                </a:schemeClr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8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username,</a:t>
            </a:r>
            <a:endParaRPr lang="en-US" sz="82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8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date_month,</a:t>
            </a:r>
            <a:endParaRPr lang="en-US" sz="82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8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is_data_user,</a:t>
            </a:r>
            <a:endParaRPr lang="en-US" sz="82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8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82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ROW_NUMBER</a:t>
            </a:r>
            <a:r>
              <a:rPr lang="en-US" sz="8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</a:t>
            </a:r>
            <a:r>
              <a:rPr lang="en-US" sz="820" dirty="0">
                <a:solidFill>
                  <a:schemeClr val="tx2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</a:t>
            </a:r>
            <a:r>
              <a:rPr lang="en-US" sz="8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(PARTITION </a:t>
            </a:r>
            <a:r>
              <a:rPr lang="en-US" sz="820" dirty="0">
                <a:solidFill>
                  <a:schemeClr val="tx2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r>
              <a:rPr lang="en-US" sz="8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username </a:t>
            </a:r>
            <a:r>
              <a:rPr lang="en-US" sz="820" dirty="0">
                <a:solidFill>
                  <a:schemeClr val="tx2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</a:t>
            </a:r>
            <a:r>
              <a:rPr lang="en-US" sz="8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date_month)</a:t>
            </a:r>
            <a:endParaRPr lang="en-US" sz="82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8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</a:t>
            </a:r>
            <a:r>
              <a:rPr lang="en-US" sz="82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ROW_NUMBER</a:t>
            </a:r>
            <a:r>
              <a:rPr lang="en-US" sz="8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</a:t>
            </a:r>
            <a:r>
              <a:rPr lang="en-US" sz="820" dirty="0">
                <a:solidFill>
                  <a:schemeClr val="tx2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</a:t>
            </a:r>
            <a:r>
              <a:rPr lang="en-US" sz="8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(PARTITION </a:t>
            </a:r>
            <a:r>
              <a:rPr lang="en-US" sz="820" dirty="0">
                <a:solidFill>
                  <a:schemeClr val="tx2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r>
              <a:rPr lang="en-US" sz="8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username, is_data_user </a:t>
            </a:r>
            <a:r>
              <a:rPr lang="en-US" sz="820" dirty="0">
                <a:solidFill>
                  <a:schemeClr val="tx2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</a:t>
            </a:r>
            <a:r>
              <a:rPr lang="en-US" sz="8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date_month) </a:t>
            </a:r>
            <a:r>
              <a:rPr lang="en-US" sz="820" dirty="0">
                <a:solidFill>
                  <a:schemeClr val="tx2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8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grp</a:t>
            </a:r>
            <a:endParaRPr lang="en-US" sz="82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8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20" dirty="0">
                <a:solidFill>
                  <a:schemeClr val="tx2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8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stg_ddi          </a:t>
            </a:r>
            <a:r>
              <a:rPr lang="en-US" sz="820" dirty="0">
                <a:solidFill>
                  <a:schemeClr val="accent6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já deduplicado (DISTINCT ON)</a:t>
            </a:r>
            <a:endParaRPr lang="en-US" sz="820"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8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82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8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streaks </a:t>
            </a:r>
            <a:r>
              <a:rPr lang="en-US" sz="820" dirty="0">
                <a:solidFill>
                  <a:schemeClr val="tx2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8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endParaRPr lang="en-US" sz="82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8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20" dirty="0">
                <a:solidFill>
                  <a:schemeClr val="tx2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820" dirty="0">
              <a:solidFill>
                <a:schemeClr val="tx2">
                  <a:lumMod val="50000"/>
                  <a:lumOff val="50000"/>
                </a:schemeClr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8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username,</a:t>
            </a:r>
            <a:endParaRPr lang="en-US" sz="82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8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date_month,</a:t>
            </a:r>
            <a:endParaRPr lang="en-US" sz="82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8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820" dirty="0">
                <a:solidFill>
                  <a:schemeClr val="tx2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r>
              <a:rPr lang="en-US" sz="8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(*) OVER (PARTITION </a:t>
            </a:r>
            <a:r>
              <a:rPr lang="en-US" sz="820" dirty="0">
                <a:solidFill>
                  <a:schemeClr val="tx2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r>
              <a:rPr lang="en-US" sz="8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username, grp) AS streak</a:t>
            </a:r>
            <a:endParaRPr lang="en-US" sz="82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8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20" dirty="0">
                <a:solidFill>
                  <a:schemeClr val="tx2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8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base</a:t>
            </a:r>
            <a:endParaRPr lang="en-US" sz="82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8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20" dirty="0">
                <a:solidFill>
                  <a:schemeClr val="tx2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8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is_data_user </a:t>
            </a:r>
            <a:r>
              <a:rPr lang="en-US" sz="820" dirty="0">
                <a:solidFill>
                  <a:schemeClr val="tx2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</a:t>
            </a:r>
            <a:r>
              <a:rPr lang="en-US" sz="8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2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8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r>
              <a:rPr lang="en-US" sz="820" dirty="0">
                <a:solidFill>
                  <a:schemeClr val="accent6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só linhas verdadeiras formam a sequência</a:t>
            </a:r>
            <a:endParaRPr lang="en-US" sz="820"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8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2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820" dirty="0">
                <a:solidFill>
                  <a:schemeClr val="tx2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820" dirty="0">
              <a:solidFill>
                <a:schemeClr val="tx2">
                  <a:lumMod val="50000"/>
                  <a:lumOff val="50000"/>
                </a:schemeClr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8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username,</a:t>
            </a:r>
            <a:endParaRPr lang="en-US" sz="82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8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date_month,</a:t>
            </a:r>
            <a:endParaRPr lang="en-US" sz="82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8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20" dirty="0">
                <a:solidFill>
                  <a:schemeClr val="tx2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WHEN </a:t>
            </a:r>
            <a:r>
              <a:rPr lang="en-US" sz="8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streak &gt;= 3 </a:t>
            </a:r>
            <a:r>
              <a:rPr lang="en-US" sz="820" dirty="0">
                <a:solidFill>
                  <a:schemeClr val="tx2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</a:t>
            </a:r>
            <a:r>
              <a:rPr lang="en-US" sz="8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2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8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20" dirty="0">
                <a:solidFill>
                  <a:schemeClr val="tx2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8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2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r>
              <a:rPr lang="en-US" sz="8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20" dirty="0">
                <a:solidFill>
                  <a:schemeClr val="tx2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 AS </a:t>
            </a:r>
            <a:r>
              <a:rPr lang="en-US" sz="8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is_potential_user</a:t>
            </a:r>
            <a:endParaRPr lang="en-US" sz="82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820" dirty="0">
                <a:solidFill>
                  <a:schemeClr val="tx2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8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streaks;</a:t>
            </a:r>
          </a:p>
          <a:p>
            <a:pPr marL="0" indent="0">
              <a:lnSpc>
                <a:spcPct val="150000"/>
              </a:lnSpc>
              <a:buNone/>
            </a:pPr>
            <a:endParaRPr lang="en-US" sz="82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820" dirty="0">
                <a:solidFill>
                  <a:schemeClr val="accent6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Arquivo: transformation/dbt_projects/models/intermediate/int_user_streak.sql</a:t>
            </a:r>
            <a:endParaRPr lang="en-US" sz="82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1F83AD43-910D-09DC-B6F7-08820D29478A}"/>
              </a:ext>
            </a:extLst>
          </p:cNvPr>
          <p:cNvSpPr txBox="1"/>
          <p:nvPr/>
        </p:nvSpPr>
        <p:spPr>
          <a:xfrm>
            <a:off x="222545" y="960926"/>
            <a:ext cx="57633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SQL — Implementação da Regra de 3 Meses Consecutivos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929348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705C5-1961-6CE0-04F8-FAC81EEEE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Agrupar 13">
            <a:extLst>
              <a:ext uri="{FF2B5EF4-FFF2-40B4-BE49-F238E27FC236}">
                <a16:creationId xmlns:a16="http://schemas.microsoft.com/office/drawing/2014/main" id="{8919D7E9-767C-CB5E-BE5F-4265C58E954A}"/>
              </a:ext>
            </a:extLst>
          </p:cNvPr>
          <p:cNvGrpSpPr/>
          <p:nvPr/>
        </p:nvGrpSpPr>
        <p:grpSpPr>
          <a:xfrm>
            <a:off x="0" y="-2"/>
            <a:ext cx="12192000" cy="787791"/>
            <a:chOff x="0" y="-1"/>
            <a:chExt cx="12192000" cy="787791"/>
          </a:xfrm>
        </p:grpSpPr>
        <p:grpSp>
          <p:nvGrpSpPr>
            <p:cNvPr id="15" name="Agrupar 14">
              <a:extLst>
                <a:ext uri="{FF2B5EF4-FFF2-40B4-BE49-F238E27FC236}">
                  <a16:creationId xmlns:a16="http://schemas.microsoft.com/office/drawing/2014/main" id="{E33463CD-FAEB-C8FD-E1C1-C57F3B62797E}"/>
                </a:ext>
              </a:extLst>
            </p:cNvPr>
            <p:cNvGrpSpPr/>
            <p:nvPr/>
          </p:nvGrpSpPr>
          <p:grpSpPr>
            <a:xfrm>
              <a:off x="0" y="-1"/>
              <a:ext cx="12192000" cy="787791"/>
              <a:chOff x="0" y="-1"/>
              <a:chExt cx="12192000" cy="787791"/>
            </a:xfrm>
          </p:grpSpPr>
          <p:sp>
            <p:nvSpPr>
              <p:cNvPr id="17" name="Shape 0">
                <a:extLst>
                  <a:ext uri="{FF2B5EF4-FFF2-40B4-BE49-F238E27FC236}">
                    <a16:creationId xmlns:a16="http://schemas.microsoft.com/office/drawing/2014/main" id="{EE8D406B-4893-D688-1041-671450168E82}"/>
                  </a:ext>
                </a:extLst>
              </p:cNvPr>
              <p:cNvSpPr/>
              <p:nvPr/>
            </p:nvSpPr>
            <p:spPr>
              <a:xfrm>
                <a:off x="0" y="-1"/>
                <a:ext cx="12192000" cy="787791"/>
              </a:xfrm>
              <a:prstGeom prst="rect">
                <a:avLst/>
              </a:prstGeom>
              <a:solidFill>
                <a:srgbClr val="333333"/>
              </a:solidFill>
              <a:ln w="12700">
                <a:solidFill>
                  <a:srgbClr val="333333"/>
                </a:solidFill>
                <a:prstDash val="solid"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8" name="Retângulo: Cantos Arredondados 17">
                <a:extLst>
                  <a:ext uri="{FF2B5EF4-FFF2-40B4-BE49-F238E27FC236}">
                    <a16:creationId xmlns:a16="http://schemas.microsoft.com/office/drawing/2014/main" id="{AA931FBE-5E62-B069-A2F1-37F05607CF2A}"/>
                  </a:ext>
                </a:extLst>
              </p:cNvPr>
              <p:cNvSpPr/>
              <p:nvPr/>
            </p:nvSpPr>
            <p:spPr>
              <a:xfrm>
                <a:off x="9835375" y="306443"/>
                <a:ext cx="1987681" cy="175290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23000">
                    <a:srgbClr val="84B9EB"/>
                  </a:gs>
                  <a:gs pos="54000">
                    <a:srgbClr val="F5EB3F"/>
                  </a:gs>
                </a:gsLst>
                <a:lin ang="0" scaled="1"/>
                <a:tileRect/>
              </a:gradFill>
              <a:ln>
                <a:solidFill>
                  <a:srgbClr val="3333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pic>
          <p:nvPicPr>
            <p:cNvPr id="16" name="Imagem 15">
              <a:extLst>
                <a:ext uri="{FF2B5EF4-FFF2-40B4-BE49-F238E27FC236}">
                  <a16:creationId xmlns:a16="http://schemas.microsoft.com/office/drawing/2014/main" id="{CED60DAB-24FB-C094-B11A-D405CBCC8C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7756" y="213902"/>
              <a:ext cx="1279943" cy="359984"/>
            </a:xfrm>
            <a:prstGeom prst="rect">
              <a:avLst/>
            </a:prstGeom>
          </p:spPr>
        </p:pic>
      </p:grpSp>
      <p:sp>
        <p:nvSpPr>
          <p:cNvPr id="19" name="Título 1">
            <a:extLst>
              <a:ext uri="{FF2B5EF4-FFF2-40B4-BE49-F238E27FC236}">
                <a16:creationId xmlns:a16="http://schemas.microsoft.com/office/drawing/2014/main" id="{F6CDCE0A-AA94-ED02-6FD4-A33A3C144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4635" y="72739"/>
            <a:ext cx="7821795" cy="642310"/>
          </a:xfrm>
        </p:spPr>
        <p:txBody>
          <a:bodyPr anchor="t">
            <a:noAutofit/>
          </a:bodyPr>
          <a:lstStyle/>
          <a:p>
            <a:r>
              <a:rPr lang="pt-BR" sz="4000" dirty="0">
                <a:solidFill>
                  <a:schemeClr val="bg1"/>
                </a:solidFill>
              </a:rPr>
              <a:t>| </a:t>
            </a:r>
            <a:r>
              <a:rPr lang="pt-BR" sz="2400" dirty="0">
                <a:solidFill>
                  <a:schemeClr val="bg1"/>
                </a:solidFill>
              </a:rPr>
              <a:t>Diagnóstico – Decisões que o dashboard atual não suporta</a:t>
            </a:r>
            <a:endParaRPr lang="pt-BR" sz="3600" dirty="0">
              <a:solidFill>
                <a:schemeClr val="bg1"/>
              </a:solidFill>
            </a:endParaRPr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8963DE23-71FA-2CF4-E56D-1B0AA871E520}"/>
              </a:ext>
            </a:extLst>
          </p:cNvPr>
          <p:cNvSpPr/>
          <p:nvPr/>
        </p:nvSpPr>
        <p:spPr>
          <a:xfrm>
            <a:off x="0" y="0"/>
            <a:ext cx="61913" cy="787789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grpSp>
        <p:nvGrpSpPr>
          <p:cNvPr id="55" name="Agrupar 54">
            <a:extLst>
              <a:ext uri="{FF2B5EF4-FFF2-40B4-BE49-F238E27FC236}">
                <a16:creationId xmlns:a16="http://schemas.microsoft.com/office/drawing/2014/main" id="{175FADD9-3439-F8E0-2A87-3516F046AB7F}"/>
              </a:ext>
            </a:extLst>
          </p:cNvPr>
          <p:cNvGrpSpPr/>
          <p:nvPr/>
        </p:nvGrpSpPr>
        <p:grpSpPr>
          <a:xfrm>
            <a:off x="1725168" y="6512087"/>
            <a:ext cx="8741664" cy="301752"/>
            <a:chOff x="144018" y="6448616"/>
            <a:chExt cx="8741664" cy="301752"/>
          </a:xfrm>
        </p:grpSpPr>
        <p:sp>
          <p:nvSpPr>
            <p:cNvPr id="4" name="Shape 28">
              <a:extLst>
                <a:ext uri="{FF2B5EF4-FFF2-40B4-BE49-F238E27FC236}">
                  <a16:creationId xmlns:a16="http://schemas.microsoft.com/office/drawing/2014/main" id="{D0B9D789-F63A-3B92-DF83-1890074E9088}"/>
                </a:ext>
              </a:extLst>
            </p:cNvPr>
            <p:cNvSpPr/>
            <p:nvPr/>
          </p:nvSpPr>
          <p:spPr>
            <a:xfrm>
              <a:off x="144018" y="6448616"/>
              <a:ext cx="8741664" cy="301752"/>
            </a:xfrm>
            <a:prstGeom prst="rect">
              <a:avLst/>
            </a:prstGeom>
            <a:solidFill>
              <a:srgbClr val="EEF3FA"/>
            </a:solidFill>
            <a:ln w="12700">
              <a:solidFill>
                <a:srgbClr val="D8E4F0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" name="Text 29">
              <a:extLst>
                <a:ext uri="{FF2B5EF4-FFF2-40B4-BE49-F238E27FC236}">
                  <a16:creationId xmlns:a16="http://schemas.microsoft.com/office/drawing/2014/main" id="{7DE72384-008A-497B-F9AB-3C64DC90E677}"/>
                </a:ext>
              </a:extLst>
            </p:cNvPr>
            <p:cNvSpPr/>
            <p:nvPr/>
          </p:nvSpPr>
          <p:spPr>
            <a:xfrm>
              <a:off x="262890" y="6448616"/>
              <a:ext cx="8503920" cy="3017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i="1" dirty="0">
                  <a:solidFill>
                    <a:srgbClr val="4B5F7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Decisão: cada lacuna foi resolvida como métrica explícita ou </a:t>
              </a:r>
              <a:r>
                <a:rPr lang="en-US" sz="900" i="1" dirty="0" err="1">
                  <a:solidFill>
                    <a:srgbClr val="4B5F7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regra</a:t>
              </a:r>
              <a:r>
                <a:rPr lang="en-US" sz="900" i="1" dirty="0">
                  <a:solidFill>
                    <a:srgbClr val="4B5F7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versionada no novo produto (agg_ddi_month + dbt tests).</a:t>
              </a:r>
              <a:endParaRPr lang="en-US" sz="900" dirty="0"/>
            </a:p>
          </p:txBody>
        </p:sp>
      </p:grpSp>
      <p:sp>
        <p:nvSpPr>
          <p:cNvPr id="6" name="Shape 4">
            <a:extLst>
              <a:ext uri="{FF2B5EF4-FFF2-40B4-BE49-F238E27FC236}">
                <a16:creationId xmlns:a16="http://schemas.microsoft.com/office/drawing/2014/main" id="{2EDCDCD2-126F-4D2F-6DD1-0AC4D98E3A0F}"/>
              </a:ext>
            </a:extLst>
          </p:cNvPr>
          <p:cNvSpPr/>
          <p:nvPr/>
        </p:nvSpPr>
        <p:spPr>
          <a:xfrm>
            <a:off x="524827" y="1140460"/>
            <a:ext cx="5345113" cy="1503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>
                <a:lumMod val="85000"/>
              </a:schemeClr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0D77DAA2-6F68-2336-735E-534B05F13859}"/>
              </a:ext>
            </a:extLst>
          </p:cNvPr>
          <p:cNvSpPr/>
          <p:nvPr/>
        </p:nvSpPr>
        <p:spPr>
          <a:xfrm>
            <a:off x="524827" y="1140460"/>
            <a:ext cx="70485" cy="1503680"/>
          </a:xfrm>
          <a:prstGeom prst="rect">
            <a:avLst/>
          </a:prstGeom>
          <a:solidFill>
            <a:srgbClr val="1659A8"/>
          </a:solidFill>
          <a:ln w="12700">
            <a:solidFill>
              <a:srgbClr val="1659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7287A52-66F9-7829-F890-33843744CDD1}"/>
              </a:ext>
            </a:extLst>
          </p:cNvPr>
          <p:cNvSpPr/>
          <p:nvPr/>
        </p:nvSpPr>
        <p:spPr>
          <a:xfrm>
            <a:off x="652843" y="1468755"/>
            <a:ext cx="511016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Coverage invisível</a:t>
            </a:r>
            <a:endParaRPr lang="en-US" sz="14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9CDDF77-3EAC-9044-6D69-5372D68D7038}"/>
              </a:ext>
            </a:extLst>
          </p:cNvPr>
          <p:cNvSpPr/>
          <p:nvPr/>
        </p:nvSpPr>
        <p:spPr>
          <a:xfrm>
            <a:off x="652843" y="1636395"/>
            <a:ext cx="5110163" cy="916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coverage_rate por unidade, não é possível distinguir "colaborador sem DDI por falha de integração" de "colaborador genuinamente sem uso de dados".</a:t>
            </a:r>
            <a:endParaRPr lang="en-US" sz="105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73F28320-0E26-4DB1-6794-268666F3D9E6}"/>
              </a:ext>
            </a:extLst>
          </p:cNvPr>
          <p:cNvSpPr/>
          <p:nvPr/>
        </p:nvSpPr>
        <p:spPr>
          <a:xfrm>
            <a:off x="6194044" y="1140460"/>
            <a:ext cx="5345113" cy="1503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>
                <a:lumMod val="85000"/>
              </a:schemeClr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CC71ED5C-1D7F-FD21-E606-56EA94CE3305}"/>
              </a:ext>
            </a:extLst>
          </p:cNvPr>
          <p:cNvSpPr/>
          <p:nvPr/>
        </p:nvSpPr>
        <p:spPr>
          <a:xfrm>
            <a:off x="6194044" y="1140460"/>
            <a:ext cx="70485" cy="1503680"/>
          </a:xfrm>
          <a:prstGeom prst="rect">
            <a:avLst/>
          </a:prstGeom>
          <a:solidFill>
            <a:srgbClr val="1659A8"/>
          </a:solidFill>
          <a:ln w="12700">
            <a:solidFill>
              <a:srgbClr val="1659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B8B4B2B-A64B-F04B-A215-FCF193C17B4D}"/>
              </a:ext>
            </a:extLst>
          </p:cNvPr>
          <p:cNvSpPr/>
          <p:nvPr/>
        </p:nvSpPr>
        <p:spPr>
          <a:xfrm>
            <a:off x="6322060" y="1468755"/>
            <a:ext cx="511016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Elegibilidade não auditável</a:t>
            </a:r>
            <a:endParaRPr lang="en-US" sz="1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42521ABB-C559-2986-C54D-E7EA1027C45C}"/>
              </a:ext>
            </a:extLst>
          </p:cNvPr>
          <p:cNvSpPr/>
          <p:nvPr/>
        </p:nvSpPr>
        <p:spPr>
          <a:xfrm>
            <a:off x="6322060" y="1636395"/>
            <a:ext cx="5110163" cy="916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exclusão de Representantes/Shipping não está versionada nem testada. Mudanças silenciosas quebram a comparabilidade MoM do denominador.</a:t>
            </a:r>
            <a:endParaRPr lang="en-US" sz="1050" dirty="0"/>
          </a:p>
        </p:txBody>
      </p:sp>
      <p:sp>
        <p:nvSpPr>
          <p:cNvPr id="20" name="Shape 12">
            <a:extLst>
              <a:ext uri="{FF2B5EF4-FFF2-40B4-BE49-F238E27FC236}">
                <a16:creationId xmlns:a16="http://schemas.microsoft.com/office/drawing/2014/main" id="{D8954AA8-7AC1-3B0E-29A0-08E8F3F02CC3}"/>
              </a:ext>
            </a:extLst>
          </p:cNvPr>
          <p:cNvSpPr/>
          <p:nvPr/>
        </p:nvSpPr>
        <p:spPr>
          <a:xfrm>
            <a:off x="524827" y="2845999"/>
            <a:ext cx="5345113" cy="1503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>
                <a:lumMod val="85000"/>
              </a:schemeClr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Shape 13">
            <a:extLst>
              <a:ext uri="{FF2B5EF4-FFF2-40B4-BE49-F238E27FC236}">
                <a16:creationId xmlns:a16="http://schemas.microsoft.com/office/drawing/2014/main" id="{D7B35165-C950-8318-E96D-5226DA6870F7}"/>
              </a:ext>
            </a:extLst>
          </p:cNvPr>
          <p:cNvSpPr/>
          <p:nvPr/>
        </p:nvSpPr>
        <p:spPr>
          <a:xfrm>
            <a:off x="524827" y="2845999"/>
            <a:ext cx="70485" cy="1503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14">
            <a:extLst>
              <a:ext uri="{FF2B5EF4-FFF2-40B4-BE49-F238E27FC236}">
                <a16:creationId xmlns:a16="http://schemas.microsoft.com/office/drawing/2014/main" id="{7BBB746A-A609-1113-7DBC-9E68ABF559E2}"/>
              </a:ext>
            </a:extLst>
          </p:cNvPr>
          <p:cNvSpPr/>
          <p:nvPr/>
        </p:nvSpPr>
        <p:spPr>
          <a:xfrm>
            <a:off x="652843" y="3174294"/>
            <a:ext cx="511016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Funil de maturidade ausente</a:t>
            </a:r>
            <a:endParaRPr lang="en-US" sz="1400" dirty="0"/>
          </a:p>
        </p:txBody>
      </p:sp>
      <p:sp>
        <p:nvSpPr>
          <p:cNvPr id="23" name="Text 15">
            <a:extLst>
              <a:ext uri="{FF2B5EF4-FFF2-40B4-BE49-F238E27FC236}">
                <a16:creationId xmlns:a16="http://schemas.microsoft.com/office/drawing/2014/main" id="{5C5C40F7-3AB6-437E-3225-1FE9B851137C}"/>
              </a:ext>
            </a:extLst>
          </p:cNvPr>
          <p:cNvSpPr/>
          <p:nvPr/>
        </p:nvSpPr>
        <p:spPr>
          <a:xfrm>
            <a:off x="652843" y="3341934"/>
            <a:ext cx="5110163" cy="916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o flag is_data_user do mês corrente não revela quem está a 1 mês de virar Potencial nem quem acabou de entrar na sequência de 3 meses.</a:t>
            </a:r>
            <a:endParaRPr lang="en-US" sz="1050" dirty="0"/>
          </a:p>
        </p:txBody>
      </p:sp>
      <p:sp>
        <p:nvSpPr>
          <p:cNvPr id="24" name="Shape 16">
            <a:extLst>
              <a:ext uri="{FF2B5EF4-FFF2-40B4-BE49-F238E27FC236}">
                <a16:creationId xmlns:a16="http://schemas.microsoft.com/office/drawing/2014/main" id="{498989AF-BD88-E384-EC0F-18709CD93B37}"/>
              </a:ext>
            </a:extLst>
          </p:cNvPr>
          <p:cNvSpPr/>
          <p:nvPr/>
        </p:nvSpPr>
        <p:spPr>
          <a:xfrm>
            <a:off x="6194044" y="2845999"/>
            <a:ext cx="5345113" cy="1503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>
                <a:lumMod val="85000"/>
              </a:schemeClr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5" name="Shape 17">
            <a:extLst>
              <a:ext uri="{FF2B5EF4-FFF2-40B4-BE49-F238E27FC236}">
                <a16:creationId xmlns:a16="http://schemas.microsoft.com/office/drawing/2014/main" id="{AAA60689-68BE-74CC-6014-74134D1752E1}"/>
              </a:ext>
            </a:extLst>
          </p:cNvPr>
          <p:cNvSpPr/>
          <p:nvPr/>
        </p:nvSpPr>
        <p:spPr>
          <a:xfrm>
            <a:off x="6194044" y="2845999"/>
            <a:ext cx="70485" cy="1503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18">
            <a:extLst>
              <a:ext uri="{FF2B5EF4-FFF2-40B4-BE49-F238E27FC236}">
                <a16:creationId xmlns:a16="http://schemas.microsoft.com/office/drawing/2014/main" id="{35ADEAD8-20CF-3E11-73ED-C92A4824C1EA}"/>
              </a:ext>
            </a:extLst>
          </p:cNvPr>
          <p:cNvSpPr/>
          <p:nvPr/>
        </p:nvSpPr>
        <p:spPr>
          <a:xfrm>
            <a:off x="6322060" y="3174294"/>
            <a:ext cx="511016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 Migração entre classificações</a:t>
            </a:r>
            <a:endParaRPr lang="en-US" sz="1400" dirty="0"/>
          </a:p>
        </p:txBody>
      </p:sp>
      <p:sp>
        <p:nvSpPr>
          <p:cNvPr id="27" name="Text 19">
            <a:extLst>
              <a:ext uri="{FF2B5EF4-FFF2-40B4-BE49-F238E27FC236}">
                <a16:creationId xmlns:a16="http://schemas.microsoft.com/office/drawing/2014/main" id="{201BA285-23DC-A365-BD65-478EA0080B5F}"/>
              </a:ext>
            </a:extLst>
          </p:cNvPr>
          <p:cNvSpPr/>
          <p:nvPr/>
        </p:nvSpPr>
        <p:spPr>
          <a:xfrm>
            <a:off x="6322060" y="3341934"/>
            <a:ext cx="5110163" cy="916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 de L&amp;D precisam do transition_rate (Beginner→Intermediate etc.) para priorizar intervenções. O dashboard atual só mostra a fatia estática.</a:t>
            </a:r>
            <a:endParaRPr lang="en-US" sz="1050" dirty="0"/>
          </a:p>
        </p:txBody>
      </p:sp>
      <p:sp>
        <p:nvSpPr>
          <p:cNvPr id="28" name="Shape 20">
            <a:extLst>
              <a:ext uri="{FF2B5EF4-FFF2-40B4-BE49-F238E27FC236}">
                <a16:creationId xmlns:a16="http://schemas.microsoft.com/office/drawing/2014/main" id="{7E8AE7B7-1200-E5C4-ECCD-D41331EA61B3}"/>
              </a:ext>
            </a:extLst>
          </p:cNvPr>
          <p:cNvSpPr/>
          <p:nvPr/>
        </p:nvSpPr>
        <p:spPr>
          <a:xfrm>
            <a:off x="524827" y="4551538"/>
            <a:ext cx="5345113" cy="1503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>
                <a:lumMod val="85000"/>
              </a:schemeClr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9" name="Shape 21">
            <a:extLst>
              <a:ext uri="{FF2B5EF4-FFF2-40B4-BE49-F238E27FC236}">
                <a16:creationId xmlns:a16="http://schemas.microsoft.com/office/drawing/2014/main" id="{088D9FDA-BDA4-F140-C15E-5AA72FD7A07F}"/>
              </a:ext>
            </a:extLst>
          </p:cNvPr>
          <p:cNvSpPr/>
          <p:nvPr/>
        </p:nvSpPr>
        <p:spPr>
          <a:xfrm>
            <a:off x="524827" y="4551538"/>
            <a:ext cx="70485" cy="15036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2">
            <a:extLst>
              <a:ext uri="{FF2B5EF4-FFF2-40B4-BE49-F238E27FC236}">
                <a16:creationId xmlns:a16="http://schemas.microsoft.com/office/drawing/2014/main" id="{68406C78-7B8D-E674-88BF-D028D0372B0B}"/>
              </a:ext>
            </a:extLst>
          </p:cNvPr>
          <p:cNvSpPr/>
          <p:nvPr/>
        </p:nvSpPr>
        <p:spPr>
          <a:xfrm>
            <a:off x="652843" y="4879833"/>
            <a:ext cx="511016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 Ausência de benchmark</a:t>
            </a:r>
            <a:endParaRPr lang="en-US" sz="1400" dirty="0"/>
          </a:p>
        </p:txBody>
      </p:sp>
      <p:sp>
        <p:nvSpPr>
          <p:cNvPr id="31" name="Text 23">
            <a:extLst>
              <a:ext uri="{FF2B5EF4-FFF2-40B4-BE49-F238E27FC236}">
                <a16:creationId xmlns:a16="http://schemas.microsoft.com/office/drawing/2014/main" id="{A3AA052A-5024-7D2F-4013-F3D582DE4883}"/>
              </a:ext>
            </a:extLst>
          </p:cNvPr>
          <p:cNvSpPr/>
          <p:nvPr/>
        </p:nvSpPr>
        <p:spPr>
          <a:xfrm>
            <a:off x="652843" y="5047473"/>
            <a:ext cx="5110163" cy="916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gap_to_target, um líder não sabe se "80% data users" é bom ou ruim para aquele site/divisão. É preciso uma referência interna (mediana da divisão).</a:t>
            </a:r>
            <a:endParaRPr lang="en-US" sz="1050" dirty="0"/>
          </a:p>
        </p:txBody>
      </p:sp>
      <p:sp>
        <p:nvSpPr>
          <p:cNvPr id="32" name="Shape 24">
            <a:extLst>
              <a:ext uri="{FF2B5EF4-FFF2-40B4-BE49-F238E27FC236}">
                <a16:creationId xmlns:a16="http://schemas.microsoft.com/office/drawing/2014/main" id="{6E6C4E7C-D962-02C9-10AD-8D540F763F49}"/>
              </a:ext>
            </a:extLst>
          </p:cNvPr>
          <p:cNvSpPr/>
          <p:nvPr/>
        </p:nvSpPr>
        <p:spPr>
          <a:xfrm>
            <a:off x="6194044" y="4551538"/>
            <a:ext cx="5345113" cy="1503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>
                <a:lumMod val="85000"/>
              </a:schemeClr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3" name="Shape 25">
            <a:extLst>
              <a:ext uri="{FF2B5EF4-FFF2-40B4-BE49-F238E27FC236}">
                <a16:creationId xmlns:a16="http://schemas.microsoft.com/office/drawing/2014/main" id="{54D0331E-17FA-746A-D446-8D2DADAF0DF3}"/>
              </a:ext>
            </a:extLst>
          </p:cNvPr>
          <p:cNvSpPr/>
          <p:nvPr/>
        </p:nvSpPr>
        <p:spPr>
          <a:xfrm>
            <a:off x="6194044" y="4551538"/>
            <a:ext cx="70485" cy="15036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26">
            <a:extLst>
              <a:ext uri="{FF2B5EF4-FFF2-40B4-BE49-F238E27FC236}">
                <a16:creationId xmlns:a16="http://schemas.microsoft.com/office/drawing/2014/main" id="{D35DB4EB-34B6-A86F-1E2A-EBBBF0F681F1}"/>
              </a:ext>
            </a:extLst>
          </p:cNvPr>
          <p:cNvSpPr/>
          <p:nvPr/>
        </p:nvSpPr>
        <p:spPr>
          <a:xfrm>
            <a:off x="6322060" y="4879833"/>
            <a:ext cx="511016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 Drill hierárquico inconsistente</a:t>
            </a:r>
            <a:endParaRPr lang="en-US" sz="1400" dirty="0"/>
          </a:p>
        </p:txBody>
      </p:sp>
      <p:sp>
        <p:nvSpPr>
          <p:cNvPr id="35" name="Text 27">
            <a:extLst>
              <a:ext uri="{FF2B5EF4-FFF2-40B4-BE49-F238E27FC236}">
                <a16:creationId xmlns:a16="http://schemas.microsoft.com/office/drawing/2014/main" id="{E47AA113-BD36-A87F-489C-8BF73073EDA9}"/>
              </a:ext>
            </a:extLst>
          </p:cNvPr>
          <p:cNvSpPr/>
          <p:nvPr/>
        </p:nvSpPr>
        <p:spPr>
          <a:xfrm>
            <a:off x="6322060" y="5047473"/>
            <a:ext cx="5110163" cy="916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Empresa→Site→Divisão→Dept com definições diferentes de headcount vs. DDI snapshot distorcem a análise ao detalhar causas de variação.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4350895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33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37D0C1-2128-CF7C-F353-53272417D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Agrupar 13">
            <a:extLst>
              <a:ext uri="{FF2B5EF4-FFF2-40B4-BE49-F238E27FC236}">
                <a16:creationId xmlns:a16="http://schemas.microsoft.com/office/drawing/2014/main" id="{209E7883-1F57-AEEB-3CF5-4966729CCFBD}"/>
              </a:ext>
            </a:extLst>
          </p:cNvPr>
          <p:cNvGrpSpPr/>
          <p:nvPr/>
        </p:nvGrpSpPr>
        <p:grpSpPr>
          <a:xfrm>
            <a:off x="347756" y="213901"/>
            <a:ext cx="11475300" cy="359984"/>
            <a:chOff x="347756" y="213902"/>
            <a:chExt cx="11475300" cy="359984"/>
          </a:xfrm>
        </p:grpSpPr>
        <p:sp>
          <p:nvSpPr>
            <p:cNvPr id="18" name="Retângulo: Cantos Arredondados 17">
              <a:extLst>
                <a:ext uri="{FF2B5EF4-FFF2-40B4-BE49-F238E27FC236}">
                  <a16:creationId xmlns:a16="http://schemas.microsoft.com/office/drawing/2014/main" id="{F06C9B3B-18F9-7B32-8CF9-6BDBD3196E7C}"/>
                </a:ext>
              </a:extLst>
            </p:cNvPr>
            <p:cNvSpPr/>
            <p:nvPr/>
          </p:nvSpPr>
          <p:spPr>
            <a:xfrm>
              <a:off x="9835375" y="306443"/>
              <a:ext cx="1987681" cy="17529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23000">
                  <a:srgbClr val="84B9EB"/>
                </a:gs>
                <a:gs pos="54000">
                  <a:srgbClr val="F5EB3F"/>
                </a:gs>
              </a:gsLst>
              <a:lin ang="0" scaled="1"/>
              <a:tileRect/>
            </a:gradFill>
            <a:ln>
              <a:solidFill>
                <a:srgbClr val="3333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16" name="Imagem 15">
              <a:extLst>
                <a:ext uri="{FF2B5EF4-FFF2-40B4-BE49-F238E27FC236}">
                  <a16:creationId xmlns:a16="http://schemas.microsoft.com/office/drawing/2014/main" id="{2EEC0954-40DA-DA03-95B6-3225BE1B77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7756" y="213902"/>
              <a:ext cx="1279943" cy="359984"/>
            </a:xfrm>
            <a:prstGeom prst="rect">
              <a:avLst/>
            </a:prstGeom>
          </p:spPr>
        </p:pic>
      </p:grpSp>
      <p:sp>
        <p:nvSpPr>
          <p:cNvPr id="19" name="Título 1">
            <a:extLst>
              <a:ext uri="{FF2B5EF4-FFF2-40B4-BE49-F238E27FC236}">
                <a16:creationId xmlns:a16="http://schemas.microsoft.com/office/drawing/2014/main" id="{811C5CB1-B9F3-3FB3-DE06-CA53CC3E0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756" y="2286794"/>
            <a:ext cx="2725000" cy="642310"/>
          </a:xfrm>
        </p:spPr>
        <p:txBody>
          <a:bodyPr anchor="t">
            <a:normAutofit fontScale="90000"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Modelagem</a:t>
            </a:r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9E7C8F15-C4F6-2124-B22E-902AD09BB8A1}"/>
              </a:ext>
            </a:extLst>
          </p:cNvPr>
          <p:cNvSpPr/>
          <p:nvPr/>
        </p:nvSpPr>
        <p:spPr>
          <a:xfrm>
            <a:off x="0" y="0"/>
            <a:ext cx="120682" cy="6858000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94078723-78C0-6404-B63C-A1A36B6F3BA7}"/>
              </a:ext>
            </a:extLst>
          </p:cNvPr>
          <p:cNvSpPr/>
          <p:nvPr/>
        </p:nvSpPr>
        <p:spPr>
          <a:xfrm>
            <a:off x="347756" y="292910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8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 • Design Alvo para BI (Validação) • Qualidade e Performance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2365081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AC9F2-09EF-2DB3-AE5B-DFFF8C7C0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Agrupar 13">
            <a:extLst>
              <a:ext uri="{FF2B5EF4-FFF2-40B4-BE49-F238E27FC236}">
                <a16:creationId xmlns:a16="http://schemas.microsoft.com/office/drawing/2014/main" id="{00379DA0-51F5-977C-664B-636BB44D3615}"/>
              </a:ext>
            </a:extLst>
          </p:cNvPr>
          <p:cNvGrpSpPr/>
          <p:nvPr/>
        </p:nvGrpSpPr>
        <p:grpSpPr>
          <a:xfrm>
            <a:off x="0" y="-2"/>
            <a:ext cx="12192000" cy="787791"/>
            <a:chOff x="0" y="-1"/>
            <a:chExt cx="12192000" cy="787791"/>
          </a:xfrm>
        </p:grpSpPr>
        <p:grpSp>
          <p:nvGrpSpPr>
            <p:cNvPr id="15" name="Agrupar 14">
              <a:extLst>
                <a:ext uri="{FF2B5EF4-FFF2-40B4-BE49-F238E27FC236}">
                  <a16:creationId xmlns:a16="http://schemas.microsoft.com/office/drawing/2014/main" id="{7B12E00D-DE11-3FC6-E3C8-48A3752BC60C}"/>
                </a:ext>
              </a:extLst>
            </p:cNvPr>
            <p:cNvGrpSpPr/>
            <p:nvPr/>
          </p:nvGrpSpPr>
          <p:grpSpPr>
            <a:xfrm>
              <a:off x="0" y="-1"/>
              <a:ext cx="12192000" cy="787791"/>
              <a:chOff x="0" y="-1"/>
              <a:chExt cx="12192000" cy="787791"/>
            </a:xfrm>
          </p:grpSpPr>
          <p:sp>
            <p:nvSpPr>
              <p:cNvPr id="17" name="Shape 0">
                <a:extLst>
                  <a:ext uri="{FF2B5EF4-FFF2-40B4-BE49-F238E27FC236}">
                    <a16:creationId xmlns:a16="http://schemas.microsoft.com/office/drawing/2014/main" id="{1BAC6E38-F5CB-11D7-7ED3-5BEEC681B24C}"/>
                  </a:ext>
                </a:extLst>
              </p:cNvPr>
              <p:cNvSpPr/>
              <p:nvPr/>
            </p:nvSpPr>
            <p:spPr>
              <a:xfrm>
                <a:off x="0" y="-1"/>
                <a:ext cx="12192000" cy="787791"/>
              </a:xfrm>
              <a:prstGeom prst="rect">
                <a:avLst/>
              </a:prstGeom>
              <a:solidFill>
                <a:srgbClr val="333333"/>
              </a:solidFill>
              <a:ln w="12700">
                <a:solidFill>
                  <a:srgbClr val="333333"/>
                </a:solidFill>
                <a:prstDash val="solid"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8" name="Retângulo: Cantos Arredondados 17">
                <a:extLst>
                  <a:ext uri="{FF2B5EF4-FFF2-40B4-BE49-F238E27FC236}">
                    <a16:creationId xmlns:a16="http://schemas.microsoft.com/office/drawing/2014/main" id="{608A7860-C01A-5A6D-03F2-4D9596601C54}"/>
                  </a:ext>
                </a:extLst>
              </p:cNvPr>
              <p:cNvSpPr/>
              <p:nvPr/>
            </p:nvSpPr>
            <p:spPr>
              <a:xfrm>
                <a:off x="9835375" y="306443"/>
                <a:ext cx="1987681" cy="175290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23000">
                    <a:srgbClr val="84B9EB"/>
                  </a:gs>
                  <a:gs pos="54000">
                    <a:srgbClr val="F5EB3F"/>
                  </a:gs>
                </a:gsLst>
                <a:lin ang="0" scaled="1"/>
                <a:tileRect/>
              </a:gradFill>
              <a:ln>
                <a:solidFill>
                  <a:srgbClr val="3333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pic>
          <p:nvPicPr>
            <p:cNvPr id="16" name="Imagem 15">
              <a:extLst>
                <a:ext uri="{FF2B5EF4-FFF2-40B4-BE49-F238E27FC236}">
                  <a16:creationId xmlns:a16="http://schemas.microsoft.com/office/drawing/2014/main" id="{24773511-3593-042A-7011-C75773D5F3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7756" y="213902"/>
              <a:ext cx="1279943" cy="359984"/>
            </a:xfrm>
            <a:prstGeom prst="rect">
              <a:avLst/>
            </a:prstGeom>
          </p:spPr>
        </p:pic>
      </p:grpSp>
      <p:sp>
        <p:nvSpPr>
          <p:cNvPr id="19" name="Título 1">
            <a:extLst>
              <a:ext uri="{FF2B5EF4-FFF2-40B4-BE49-F238E27FC236}">
                <a16:creationId xmlns:a16="http://schemas.microsoft.com/office/drawing/2014/main" id="{A3D7391C-D1E5-AC59-543D-762225415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4636" y="72739"/>
            <a:ext cx="2093246" cy="642310"/>
          </a:xfrm>
        </p:spPr>
        <p:txBody>
          <a:bodyPr anchor="t">
            <a:normAutofit fontScale="90000"/>
          </a:bodyPr>
          <a:lstStyle/>
          <a:p>
            <a:r>
              <a:rPr lang="pt-BR" dirty="0">
                <a:solidFill>
                  <a:schemeClr val="bg1"/>
                </a:solidFill>
              </a:rPr>
              <a:t>| </a:t>
            </a:r>
            <a:r>
              <a:rPr lang="pt-BR" sz="3100" dirty="0">
                <a:solidFill>
                  <a:schemeClr val="bg1"/>
                </a:solidFill>
              </a:rPr>
              <a:t>Modelagem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050A9F11-053C-1251-7DBA-2239A47C22DE}"/>
              </a:ext>
            </a:extLst>
          </p:cNvPr>
          <p:cNvSpPr/>
          <p:nvPr/>
        </p:nvSpPr>
        <p:spPr>
          <a:xfrm>
            <a:off x="0" y="0"/>
            <a:ext cx="61913" cy="787789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C0B8E7EE-97C2-9FBF-6FA9-EB125F68396D}"/>
              </a:ext>
            </a:extLst>
          </p:cNvPr>
          <p:cNvSpPr/>
          <p:nvPr/>
        </p:nvSpPr>
        <p:spPr>
          <a:xfrm>
            <a:off x="1627699" y="1794173"/>
            <a:ext cx="2057400" cy="402336"/>
          </a:xfrm>
          <a:prstGeom prst="rect">
            <a:avLst/>
          </a:prstGeom>
          <a:solidFill>
            <a:srgbClr val="6C757D"/>
          </a:solidFill>
          <a:ln w="127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6D442481-4FD5-9596-50EA-96C896C69801}"/>
              </a:ext>
            </a:extLst>
          </p:cNvPr>
          <p:cNvSpPr/>
          <p:nvPr/>
        </p:nvSpPr>
        <p:spPr>
          <a:xfrm>
            <a:off x="1627699" y="1794173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</a:t>
            </a:r>
            <a:endParaRPr lang="en-US" sz="1300" dirty="0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AB0727F1-A141-BCB2-19DE-9C40C2F76D95}"/>
              </a:ext>
            </a:extLst>
          </p:cNvPr>
          <p:cNvSpPr/>
          <p:nvPr/>
        </p:nvSpPr>
        <p:spPr>
          <a:xfrm>
            <a:off x="1627699" y="2214797"/>
            <a:ext cx="2057400" cy="1920240"/>
          </a:xfrm>
          <a:prstGeom prst="rect">
            <a:avLst/>
          </a:prstGeom>
          <a:solidFill>
            <a:srgbClr val="F0F4FA"/>
          </a:solidFill>
          <a:ln w="1270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7">
            <a:extLst>
              <a:ext uri="{FF2B5EF4-FFF2-40B4-BE49-F238E27FC236}">
                <a16:creationId xmlns:a16="http://schemas.microsoft.com/office/drawing/2014/main" id="{396846DE-86A2-28AC-7E5A-CC6007E73DB3}"/>
              </a:ext>
            </a:extLst>
          </p:cNvPr>
          <p:cNvSpPr/>
          <p:nvPr/>
        </p:nvSpPr>
        <p:spPr>
          <a:xfrm>
            <a:off x="1719139" y="2306237"/>
            <a:ext cx="109728" cy="109728"/>
          </a:xfrm>
          <a:prstGeom prst="ellipse">
            <a:avLst/>
          </a:prstGeom>
          <a:solidFill>
            <a:srgbClr val="6C757D"/>
          </a:solidFill>
          <a:ln w="127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0349A8F5-2BF4-61D9-EE86-045CE791C2AF}"/>
              </a:ext>
            </a:extLst>
          </p:cNvPr>
          <p:cNvSpPr/>
          <p:nvPr/>
        </p:nvSpPr>
        <p:spPr>
          <a:xfrm>
            <a:off x="1883731" y="2260517"/>
            <a:ext cx="17556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tb_people_history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B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tb_ddi (CSV)</a:t>
            </a:r>
            <a:endParaRPr lang="en-US" sz="1100" dirty="0"/>
          </a:p>
        </p:txBody>
      </p:sp>
      <p:sp>
        <p:nvSpPr>
          <p:cNvPr id="8" name="Shape 9">
            <a:extLst>
              <a:ext uri="{FF2B5EF4-FFF2-40B4-BE49-F238E27FC236}">
                <a16:creationId xmlns:a16="http://schemas.microsoft.com/office/drawing/2014/main" id="{EA3D403B-812D-8D6D-32B9-D610A535249F}"/>
              </a:ext>
            </a:extLst>
          </p:cNvPr>
          <p:cNvSpPr/>
          <p:nvPr/>
        </p:nvSpPr>
        <p:spPr>
          <a:xfrm>
            <a:off x="1719139" y="2873165"/>
            <a:ext cx="109728" cy="109728"/>
          </a:xfrm>
          <a:prstGeom prst="ellipse">
            <a:avLst/>
          </a:prstGeom>
          <a:solidFill>
            <a:srgbClr val="6C757D"/>
          </a:solidFill>
          <a:ln w="127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10">
            <a:extLst>
              <a:ext uri="{FF2B5EF4-FFF2-40B4-BE49-F238E27FC236}">
                <a16:creationId xmlns:a16="http://schemas.microsoft.com/office/drawing/2014/main" id="{EA22B776-3AB7-18F8-039A-731251786262}"/>
              </a:ext>
            </a:extLst>
          </p:cNvPr>
          <p:cNvSpPr/>
          <p:nvPr/>
        </p:nvSpPr>
        <p:spPr>
          <a:xfrm>
            <a:off x="1883731" y="2827445"/>
            <a:ext cx="17556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Ingestão Airflow</a:t>
            </a:r>
            <a:endParaRPr lang="en-US" sz="1100" dirty="0"/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BC6D4184-5E08-F8E4-71D1-65974308F8D0}"/>
              </a:ext>
            </a:extLst>
          </p:cNvPr>
          <p:cNvSpPr/>
          <p:nvPr/>
        </p:nvSpPr>
        <p:spPr>
          <a:xfrm>
            <a:off x="1719139" y="3440093"/>
            <a:ext cx="109728" cy="109728"/>
          </a:xfrm>
          <a:prstGeom prst="ellipse">
            <a:avLst/>
          </a:prstGeom>
          <a:solidFill>
            <a:srgbClr val="6C757D"/>
          </a:solidFill>
          <a:ln w="127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2">
            <a:extLst>
              <a:ext uri="{FF2B5EF4-FFF2-40B4-BE49-F238E27FC236}">
                <a16:creationId xmlns:a16="http://schemas.microsoft.com/office/drawing/2014/main" id="{FC01B041-0909-BF13-A0F8-067CBDCEC574}"/>
              </a:ext>
            </a:extLst>
          </p:cNvPr>
          <p:cNvSpPr/>
          <p:nvPr/>
        </p:nvSpPr>
        <p:spPr>
          <a:xfrm>
            <a:off x="1883731" y="3394373"/>
            <a:ext cx="17556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schema: public</a:t>
            </a:r>
            <a:endParaRPr lang="en-US" sz="1100" dirty="0"/>
          </a:p>
        </p:txBody>
      </p:sp>
      <p:sp>
        <p:nvSpPr>
          <p:cNvPr id="13" name="Text 13">
            <a:extLst>
              <a:ext uri="{FF2B5EF4-FFF2-40B4-BE49-F238E27FC236}">
                <a16:creationId xmlns:a16="http://schemas.microsoft.com/office/drawing/2014/main" id="{D2D27B3D-002B-009B-3403-DF106A166877}"/>
              </a:ext>
            </a:extLst>
          </p:cNvPr>
          <p:cNvSpPr/>
          <p:nvPr/>
        </p:nvSpPr>
        <p:spPr>
          <a:xfrm>
            <a:off x="3685099" y="2324525"/>
            <a:ext cx="155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59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4">
            <a:extLst>
              <a:ext uri="{FF2B5EF4-FFF2-40B4-BE49-F238E27FC236}">
                <a16:creationId xmlns:a16="http://schemas.microsoft.com/office/drawing/2014/main" id="{124D5B3E-38A1-8A0E-46EA-855845794AE5}"/>
              </a:ext>
            </a:extLst>
          </p:cNvPr>
          <p:cNvSpPr/>
          <p:nvPr/>
        </p:nvSpPr>
        <p:spPr>
          <a:xfrm>
            <a:off x="3840547" y="1794173"/>
            <a:ext cx="2057400" cy="402336"/>
          </a:xfrm>
          <a:prstGeom prst="rect">
            <a:avLst/>
          </a:prstGeom>
          <a:solidFill>
            <a:srgbClr val="1659A8"/>
          </a:solidFill>
          <a:ln w="12700">
            <a:solidFill>
              <a:srgbClr val="1659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81439970-1C35-2AE3-16D7-AAE51C7D8487}"/>
              </a:ext>
            </a:extLst>
          </p:cNvPr>
          <p:cNvSpPr/>
          <p:nvPr/>
        </p:nvSpPr>
        <p:spPr>
          <a:xfrm>
            <a:off x="3840547" y="1794173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</a:t>
            </a:r>
            <a:endParaRPr lang="en-US" sz="1300" dirty="0"/>
          </a:p>
        </p:txBody>
      </p:sp>
      <p:sp>
        <p:nvSpPr>
          <p:cNvPr id="22" name="Shape 16">
            <a:extLst>
              <a:ext uri="{FF2B5EF4-FFF2-40B4-BE49-F238E27FC236}">
                <a16:creationId xmlns:a16="http://schemas.microsoft.com/office/drawing/2014/main" id="{988ACF07-FAF8-2491-104A-1FAD91CD57D7}"/>
              </a:ext>
            </a:extLst>
          </p:cNvPr>
          <p:cNvSpPr/>
          <p:nvPr/>
        </p:nvSpPr>
        <p:spPr>
          <a:xfrm>
            <a:off x="3840547" y="2214797"/>
            <a:ext cx="2057400" cy="1920240"/>
          </a:xfrm>
          <a:prstGeom prst="rect">
            <a:avLst/>
          </a:prstGeom>
          <a:solidFill>
            <a:srgbClr val="F0F4FA"/>
          </a:solidFill>
          <a:ln w="1270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17">
            <a:extLst>
              <a:ext uri="{FF2B5EF4-FFF2-40B4-BE49-F238E27FC236}">
                <a16:creationId xmlns:a16="http://schemas.microsoft.com/office/drawing/2014/main" id="{0055B2AE-0194-B969-FFD8-9FE2F9B98FF7}"/>
              </a:ext>
            </a:extLst>
          </p:cNvPr>
          <p:cNvSpPr/>
          <p:nvPr/>
        </p:nvSpPr>
        <p:spPr>
          <a:xfrm>
            <a:off x="3931987" y="2306237"/>
            <a:ext cx="109728" cy="109728"/>
          </a:xfrm>
          <a:prstGeom prst="ellipse">
            <a:avLst/>
          </a:prstGeom>
          <a:solidFill>
            <a:srgbClr val="1659A8"/>
          </a:solidFill>
          <a:ln w="12700">
            <a:solidFill>
              <a:srgbClr val="1659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6E177AE2-76C4-7916-06B9-31AAE431070E}"/>
              </a:ext>
            </a:extLst>
          </p:cNvPr>
          <p:cNvSpPr/>
          <p:nvPr/>
        </p:nvSpPr>
        <p:spPr>
          <a:xfrm>
            <a:off x="4096579" y="2260517"/>
            <a:ext cx="17556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stg_people_history (view)</a:t>
            </a:r>
            <a:endParaRPr lang="en-US" sz="1100" dirty="0"/>
          </a:p>
        </p:txBody>
      </p:sp>
      <p:sp>
        <p:nvSpPr>
          <p:cNvPr id="25" name="Shape 19">
            <a:extLst>
              <a:ext uri="{FF2B5EF4-FFF2-40B4-BE49-F238E27FC236}">
                <a16:creationId xmlns:a16="http://schemas.microsoft.com/office/drawing/2014/main" id="{EEFFCB16-6C14-7CDF-7C06-930EFC170085}"/>
              </a:ext>
            </a:extLst>
          </p:cNvPr>
          <p:cNvSpPr/>
          <p:nvPr/>
        </p:nvSpPr>
        <p:spPr>
          <a:xfrm>
            <a:off x="3931987" y="2873165"/>
            <a:ext cx="109728" cy="109728"/>
          </a:xfrm>
          <a:prstGeom prst="ellipse">
            <a:avLst/>
          </a:prstGeom>
          <a:solidFill>
            <a:srgbClr val="1659A8"/>
          </a:solidFill>
          <a:ln w="12700">
            <a:solidFill>
              <a:srgbClr val="1659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0">
            <a:extLst>
              <a:ext uri="{FF2B5EF4-FFF2-40B4-BE49-F238E27FC236}">
                <a16:creationId xmlns:a16="http://schemas.microsoft.com/office/drawing/2014/main" id="{04C6F252-A71D-85DA-AAD2-A249DF12BE83}"/>
              </a:ext>
            </a:extLst>
          </p:cNvPr>
          <p:cNvSpPr/>
          <p:nvPr/>
        </p:nvSpPr>
        <p:spPr>
          <a:xfrm>
            <a:off x="4096579" y="2827445"/>
            <a:ext cx="17556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stg_ddi (view)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B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DISTINCT ON dedup</a:t>
            </a:r>
            <a:endParaRPr lang="en-US" sz="1100" dirty="0"/>
          </a:p>
        </p:txBody>
      </p:sp>
      <p:sp>
        <p:nvSpPr>
          <p:cNvPr id="27" name="Shape 21">
            <a:extLst>
              <a:ext uri="{FF2B5EF4-FFF2-40B4-BE49-F238E27FC236}">
                <a16:creationId xmlns:a16="http://schemas.microsoft.com/office/drawing/2014/main" id="{C234E750-2FBD-9168-5B39-0A110D9CCBF7}"/>
              </a:ext>
            </a:extLst>
          </p:cNvPr>
          <p:cNvSpPr/>
          <p:nvPr/>
        </p:nvSpPr>
        <p:spPr>
          <a:xfrm>
            <a:off x="3931987" y="3440093"/>
            <a:ext cx="109728" cy="109728"/>
          </a:xfrm>
          <a:prstGeom prst="ellipse">
            <a:avLst/>
          </a:prstGeom>
          <a:solidFill>
            <a:srgbClr val="1659A8"/>
          </a:solidFill>
          <a:ln w="12700">
            <a:solidFill>
              <a:srgbClr val="1659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2">
            <a:extLst>
              <a:ext uri="{FF2B5EF4-FFF2-40B4-BE49-F238E27FC236}">
                <a16:creationId xmlns:a16="http://schemas.microsoft.com/office/drawing/2014/main" id="{91DFB879-FD48-BEE4-60FB-9EEDC1359514}"/>
              </a:ext>
            </a:extLst>
          </p:cNvPr>
          <p:cNvSpPr/>
          <p:nvPr/>
        </p:nvSpPr>
        <p:spPr>
          <a:xfrm>
            <a:off x="4096579" y="3394373"/>
            <a:ext cx="17556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not_null tests</a:t>
            </a:r>
            <a:endParaRPr lang="en-US" sz="1100" dirty="0"/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3C6085FD-F970-7793-8C6C-C203F369C819}"/>
              </a:ext>
            </a:extLst>
          </p:cNvPr>
          <p:cNvSpPr/>
          <p:nvPr/>
        </p:nvSpPr>
        <p:spPr>
          <a:xfrm>
            <a:off x="5897947" y="2324525"/>
            <a:ext cx="155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59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0" name="Shape 24">
            <a:extLst>
              <a:ext uri="{FF2B5EF4-FFF2-40B4-BE49-F238E27FC236}">
                <a16:creationId xmlns:a16="http://schemas.microsoft.com/office/drawing/2014/main" id="{5B656FB1-F72C-35B0-C096-2892AA70D5AE}"/>
              </a:ext>
            </a:extLst>
          </p:cNvPr>
          <p:cNvSpPr/>
          <p:nvPr/>
        </p:nvSpPr>
        <p:spPr>
          <a:xfrm>
            <a:off x="6053395" y="1794173"/>
            <a:ext cx="2057400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7057F4C0-B6E2-0DFD-1ADE-605AA3B39746}"/>
              </a:ext>
            </a:extLst>
          </p:cNvPr>
          <p:cNvSpPr/>
          <p:nvPr/>
        </p:nvSpPr>
        <p:spPr>
          <a:xfrm>
            <a:off x="6053395" y="1794173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300" dirty="0"/>
          </a:p>
        </p:txBody>
      </p:sp>
      <p:sp>
        <p:nvSpPr>
          <p:cNvPr id="32" name="Shape 26">
            <a:extLst>
              <a:ext uri="{FF2B5EF4-FFF2-40B4-BE49-F238E27FC236}">
                <a16:creationId xmlns:a16="http://schemas.microsoft.com/office/drawing/2014/main" id="{B7A42E6B-BA20-37DE-21B4-584C7B2774D8}"/>
              </a:ext>
            </a:extLst>
          </p:cNvPr>
          <p:cNvSpPr/>
          <p:nvPr/>
        </p:nvSpPr>
        <p:spPr>
          <a:xfrm>
            <a:off x="6053395" y="2214797"/>
            <a:ext cx="2057400" cy="1920240"/>
          </a:xfrm>
          <a:prstGeom prst="rect">
            <a:avLst/>
          </a:prstGeom>
          <a:solidFill>
            <a:srgbClr val="F0F4FA"/>
          </a:solidFill>
          <a:ln w="1270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Shape 27">
            <a:extLst>
              <a:ext uri="{FF2B5EF4-FFF2-40B4-BE49-F238E27FC236}">
                <a16:creationId xmlns:a16="http://schemas.microsoft.com/office/drawing/2014/main" id="{A5500616-C482-2214-53AC-D6C21B4C2852}"/>
              </a:ext>
            </a:extLst>
          </p:cNvPr>
          <p:cNvSpPr/>
          <p:nvPr/>
        </p:nvSpPr>
        <p:spPr>
          <a:xfrm>
            <a:off x="6144835" y="2306237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A3FD0FD4-32AB-A710-6182-3883D0184080}"/>
              </a:ext>
            </a:extLst>
          </p:cNvPr>
          <p:cNvSpPr/>
          <p:nvPr/>
        </p:nvSpPr>
        <p:spPr>
          <a:xfrm>
            <a:off x="6309427" y="2260517"/>
            <a:ext cx="17556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int_people_monthly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B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(elegibil. mensal)</a:t>
            </a:r>
            <a:endParaRPr lang="en-US" sz="1100" dirty="0"/>
          </a:p>
        </p:txBody>
      </p:sp>
      <p:sp>
        <p:nvSpPr>
          <p:cNvPr id="35" name="Shape 29">
            <a:extLst>
              <a:ext uri="{FF2B5EF4-FFF2-40B4-BE49-F238E27FC236}">
                <a16:creationId xmlns:a16="http://schemas.microsoft.com/office/drawing/2014/main" id="{764237DB-CE4B-6AF3-4A37-CE2828033F38}"/>
              </a:ext>
            </a:extLst>
          </p:cNvPr>
          <p:cNvSpPr/>
          <p:nvPr/>
        </p:nvSpPr>
        <p:spPr>
          <a:xfrm>
            <a:off x="6144835" y="2873165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0">
            <a:extLst>
              <a:ext uri="{FF2B5EF4-FFF2-40B4-BE49-F238E27FC236}">
                <a16:creationId xmlns:a16="http://schemas.microsoft.com/office/drawing/2014/main" id="{3D5E6D7B-E397-BBA9-669B-177E80A6FEBD}"/>
              </a:ext>
            </a:extLst>
          </p:cNvPr>
          <p:cNvSpPr/>
          <p:nvPr/>
        </p:nvSpPr>
        <p:spPr>
          <a:xfrm>
            <a:off x="6309427" y="2827445"/>
            <a:ext cx="17556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int_user_streak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B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(streak 3 meses)</a:t>
            </a:r>
            <a:endParaRPr lang="en-US" sz="1100" dirty="0"/>
          </a:p>
        </p:txBody>
      </p:sp>
      <p:sp>
        <p:nvSpPr>
          <p:cNvPr id="37" name="Shape 31">
            <a:extLst>
              <a:ext uri="{FF2B5EF4-FFF2-40B4-BE49-F238E27FC236}">
                <a16:creationId xmlns:a16="http://schemas.microsoft.com/office/drawing/2014/main" id="{A0009117-CB52-CFCA-0DB7-EA2CCE82862A}"/>
              </a:ext>
            </a:extLst>
          </p:cNvPr>
          <p:cNvSpPr/>
          <p:nvPr/>
        </p:nvSpPr>
        <p:spPr>
          <a:xfrm>
            <a:off x="6144835" y="3440093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32">
            <a:extLst>
              <a:ext uri="{FF2B5EF4-FFF2-40B4-BE49-F238E27FC236}">
                <a16:creationId xmlns:a16="http://schemas.microsoft.com/office/drawing/2014/main" id="{57B7BC20-99C1-1E2D-CAAD-14025371BAA6}"/>
              </a:ext>
            </a:extLst>
          </p:cNvPr>
          <p:cNvSpPr/>
          <p:nvPr/>
        </p:nvSpPr>
        <p:spPr>
          <a:xfrm>
            <a:off x="6309427" y="3394373"/>
            <a:ext cx="17556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Exclusão Ship/Rep</a:t>
            </a:r>
            <a:endParaRPr lang="en-US" sz="1100" dirty="0"/>
          </a:p>
        </p:txBody>
      </p:sp>
      <p:sp>
        <p:nvSpPr>
          <p:cNvPr id="39" name="Text 33">
            <a:extLst>
              <a:ext uri="{FF2B5EF4-FFF2-40B4-BE49-F238E27FC236}">
                <a16:creationId xmlns:a16="http://schemas.microsoft.com/office/drawing/2014/main" id="{47C05CCA-5C67-ACF7-85DE-2EAB3F3B4A52}"/>
              </a:ext>
            </a:extLst>
          </p:cNvPr>
          <p:cNvSpPr/>
          <p:nvPr/>
        </p:nvSpPr>
        <p:spPr>
          <a:xfrm>
            <a:off x="8110795" y="2324525"/>
            <a:ext cx="155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59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0" name="Shape 34">
            <a:extLst>
              <a:ext uri="{FF2B5EF4-FFF2-40B4-BE49-F238E27FC236}">
                <a16:creationId xmlns:a16="http://schemas.microsoft.com/office/drawing/2014/main" id="{28A56D2E-88BD-1617-6B4F-021643944FEC}"/>
              </a:ext>
            </a:extLst>
          </p:cNvPr>
          <p:cNvSpPr/>
          <p:nvPr/>
        </p:nvSpPr>
        <p:spPr>
          <a:xfrm>
            <a:off x="8266243" y="1794173"/>
            <a:ext cx="2057400" cy="40233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Text 35">
            <a:extLst>
              <a:ext uri="{FF2B5EF4-FFF2-40B4-BE49-F238E27FC236}">
                <a16:creationId xmlns:a16="http://schemas.microsoft.com/office/drawing/2014/main" id="{58699FED-BA24-66C9-4595-5D79DF3A67E5}"/>
              </a:ext>
            </a:extLst>
          </p:cNvPr>
          <p:cNvSpPr/>
          <p:nvPr/>
        </p:nvSpPr>
        <p:spPr>
          <a:xfrm>
            <a:off x="8266243" y="1794173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MARTS</a:t>
            </a:r>
            <a:endParaRPr lang="en-US" sz="1300" dirty="0"/>
          </a:p>
        </p:txBody>
      </p:sp>
      <p:sp>
        <p:nvSpPr>
          <p:cNvPr id="42" name="Shape 36">
            <a:extLst>
              <a:ext uri="{FF2B5EF4-FFF2-40B4-BE49-F238E27FC236}">
                <a16:creationId xmlns:a16="http://schemas.microsoft.com/office/drawing/2014/main" id="{81B63D6D-CE26-1389-FA43-FCDD65E8524B}"/>
              </a:ext>
            </a:extLst>
          </p:cNvPr>
          <p:cNvSpPr/>
          <p:nvPr/>
        </p:nvSpPr>
        <p:spPr>
          <a:xfrm>
            <a:off x="8266243" y="2214797"/>
            <a:ext cx="2057400" cy="1920240"/>
          </a:xfrm>
          <a:prstGeom prst="rect">
            <a:avLst/>
          </a:prstGeom>
          <a:solidFill>
            <a:srgbClr val="F0F4FA"/>
          </a:solidFill>
          <a:ln w="1270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" name="Shape 37">
            <a:extLst>
              <a:ext uri="{FF2B5EF4-FFF2-40B4-BE49-F238E27FC236}">
                <a16:creationId xmlns:a16="http://schemas.microsoft.com/office/drawing/2014/main" id="{261D614B-100B-6AF3-4B37-12DBC4D108E0}"/>
              </a:ext>
            </a:extLst>
          </p:cNvPr>
          <p:cNvSpPr/>
          <p:nvPr/>
        </p:nvSpPr>
        <p:spPr>
          <a:xfrm>
            <a:off x="8357683" y="2306237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" name="Text 38">
            <a:extLst>
              <a:ext uri="{FF2B5EF4-FFF2-40B4-BE49-F238E27FC236}">
                <a16:creationId xmlns:a16="http://schemas.microsoft.com/office/drawing/2014/main" id="{8F7AA671-B77C-9407-801E-D5CEAD0C003A}"/>
              </a:ext>
            </a:extLst>
          </p:cNvPr>
          <p:cNvSpPr/>
          <p:nvPr/>
        </p:nvSpPr>
        <p:spPr>
          <a:xfrm>
            <a:off x="8522275" y="2260517"/>
            <a:ext cx="17556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fct_user_month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B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Silver: 1 row/user-mês</a:t>
            </a:r>
            <a:endParaRPr lang="en-US" sz="1100" dirty="0"/>
          </a:p>
        </p:txBody>
      </p:sp>
      <p:sp>
        <p:nvSpPr>
          <p:cNvPr id="45" name="Shape 39">
            <a:extLst>
              <a:ext uri="{FF2B5EF4-FFF2-40B4-BE49-F238E27FC236}">
                <a16:creationId xmlns:a16="http://schemas.microsoft.com/office/drawing/2014/main" id="{383D4E38-8669-18A8-E8C5-C7BFB99166A9}"/>
              </a:ext>
            </a:extLst>
          </p:cNvPr>
          <p:cNvSpPr/>
          <p:nvPr/>
        </p:nvSpPr>
        <p:spPr>
          <a:xfrm>
            <a:off x="8357683" y="2873165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6" name="Text 40">
            <a:extLst>
              <a:ext uri="{FF2B5EF4-FFF2-40B4-BE49-F238E27FC236}">
                <a16:creationId xmlns:a16="http://schemas.microsoft.com/office/drawing/2014/main" id="{F5F03FD1-E093-DE81-F3B5-1E01224F6533}"/>
              </a:ext>
            </a:extLst>
          </p:cNvPr>
          <p:cNvSpPr/>
          <p:nvPr/>
        </p:nvSpPr>
        <p:spPr>
          <a:xfrm>
            <a:off x="8522275" y="2827445"/>
            <a:ext cx="17556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agg_ddi_month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B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Gold: agregado</a:t>
            </a:r>
            <a:endParaRPr lang="en-US" sz="1100" dirty="0"/>
          </a:p>
        </p:txBody>
      </p:sp>
      <p:sp>
        <p:nvSpPr>
          <p:cNvPr id="47" name="Shape 41">
            <a:extLst>
              <a:ext uri="{FF2B5EF4-FFF2-40B4-BE49-F238E27FC236}">
                <a16:creationId xmlns:a16="http://schemas.microsoft.com/office/drawing/2014/main" id="{657178BF-E5A6-CD99-498B-B889FE96D82A}"/>
              </a:ext>
            </a:extLst>
          </p:cNvPr>
          <p:cNvSpPr/>
          <p:nvPr/>
        </p:nvSpPr>
        <p:spPr>
          <a:xfrm>
            <a:off x="8357683" y="3440093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8" name="Text 42">
            <a:extLst>
              <a:ext uri="{FF2B5EF4-FFF2-40B4-BE49-F238E27FC236}">
                <a16:creationId xmlns:a16="http://schemas.microsoft.com/office/drawing/2014/main" id="{52A1557F-62A5-C5B5-F9E8-C8146BD9B56B}"/>
              </a:ext>
            </a:extLst>
          </p:cNvPr>
          <p:cNvSpPr/>
          <p:nvPr/>
        </p:nvSpPr>
        <p:spPr>
          <a:xfrm>
            <a:off x="8522275" y="3394373"/>
            <a:ext cx="17556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métricas finais</a:t>
            </a:r>
            <a:endParaRPr lang="en-US" sz="1100" dirty="0"/>
          </a:p>
        </p:txBody>
      </p:sp>
      <p:sp>
        <p:nvSpPr>
          <p:cNvPr id="49" name="Shape 43">
            <a:extLst>
              <a:ext uri="{FF2B5EF4-FFF2-40B4-BE49-F238E27FC236}">
                <a16:creationId xmlns:a16="http://schemas.microsoft.com/office/drawing/2014/main" id="{30278758-C3C4-8178-BDA5-86BB875712E6}"/>
              </a:ext>
            </a:extLst>
          </p:cNvPr>
          <p:cNvSpPr/>
          <p:nvPr/>
        </p:nvSpPr>
        <p:spPr>
          <a:xfrm>
            <a:off x="1627699" y="4467841"/>
            <a:ext cx="422452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 sz="2000"/>
          </a:p>
        </p:txBody>
      </p:sp>
      <p:sp>
        <p:nvSpPr>
          <p:cNvPr id="50" name="Shape 44">
            <a:extLst>
              <a:ext uri="{FF2B5EF4-FFF2-40B4-BE49-F238E27FC236}">
                <a16:creationId xmlns:a16="http://schemas.microsoft.com/office/drawing/2014/main" id="{417939E5-0D57-3BB1-8669-94631F45325D}"/>
              </a:ext>
            </a:extLst>
          </p:cNvPr>
          <p:cNvSpPr/>
          <p:nvPr/>
        </p:nvSpPr>
        <p:spPr>
          <a:xfrm>
            <a:off x="1627699" y="4467841"/>
            <a:ext cx="4224528" cy="320040"/>
          </a:xfrm>
          <a:prstGeom prst="rect">
            <a:avLst/>
          </a:prstGeom>
          <a:solidFill>
            <a:srgbClr val="1659A8"/>
          </a:solidFill>
          <a:ln w="12700">
            <a:solidFill>
              <a:srgbClr val="1659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1" name="Text 45">
            <a:extLst>
              <a:ext uri="{FF2B5EF4-FFF2-40B4-BE49-F238E27FC236}">
                <a16:creationId xmlns:a16="http://schemas.microsoft.com/office/drawing/2014/main" id="{6CAE1DE8-9642-5BD2-5436-6D6F9040E3FE}"/>
              </a:ext>
            </a:extLst>
          </p:cNvPr>
          <p:cNvSpPr/>
          <p:nvPr/>
        </p:nvSpPr>
        <p:spPr>
          <a:xfrm>
            <a:off x="1682563" y="4467841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— fct_user_month  (1 linha por username + date_month)</a:t>
            </a:r>
            <a:endParaRPr lang="en-US" sz="950" dirty="0"/>
          </a:p>
        </p:txBody>
      </p:sp>
      <p:sp>
        <p:nvSpPr>
          <p:cNvPr id="52" name="Text 46">
            <a:extLst>
              <a:ext uri="{FF2B5EF4-FFF2-40B4-BE49-F238E27FC236}">
                <a16:creationId xmlns:a16="http://schemas.microsoft.com/office/drawing/2014/main" id="{AC44B12B-8726-1BDF-2368-7711143CF7DC}"/>
              </a:ext>
            </a:extLst>
          </p:cNvPr>
          <p:cNvSpPr/>
          <p:nvPr/>
        </p:nvSpPr>
        <p:spPr>
          <a:xfrm>
            <a:off x="1700851" y="4815313"/>
            <a:ext cx="40782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Colunas: username, date_month, site, division, department (congelados no mês), user_classification, is_data_user, is_potential_user, has_ddi_row, is_active.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B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SCD: para cada (username, date_month) pega o tim_day MÁXIMO em tb_people_history ≤ último dia de M que satisfaz ativo + não excluído → resolve trocas de divisão mid-month de forma determinística.</a:t>
            </a:r>
            <a:endParaRPr lang="en-US" sz="1000" dirty="0"/>
          </a:p>
        </p:txBody>
      </p:sp>
      <p:sp>
        <p:nvSpPr>
          <p:cNvPr id="53" name="Shape 47">
            <a:extLst>
              <a:ext uri="{FF2B5EF4-FFF2-40B4-BE49-F238E27FC236}">
                <a16:creationId xmlns:a16="http://schemas.microsoft.com/office/drawing/2014/main" id="{4851B356-8D9E-EF2B-8830-4924681958C9}"/>
              </a:ext>
            </a:extLst>
          </p:cNvPr>
          <p:cNvSpPr/>
          <p:nvPr/>
        </p:nvSpPr>
        <p:spPr>
          <a:xfrm>
            <a:off x="6144835" y="4467841"/>
            <a:ext cx="422452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4" name="Shape 48">
            <a:extLst>
              <a:ext uri="{FF2B5EF4-FFF2-40B4-BE49-F238E27FC236}">
                <a16:creationId xmlns:a16="http://schemas.microsoft.com/office/drawing/2014/main" id="{18BAA4E6-EB33-3A1A-76E6-A6619FEDAAD2}"/>
              </a:ext>
            </a:extLst>
          </p:cNvPr>
          <p:cNvSpPr/>
          <p:nvPr/>
        </p:nvSpPr>
        <p:spPr>
          <a:xfrm>
            <a:off x="6144835" y="4467841"/>
            <a:ext cx="4224528" cy="3200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5" name="Text 49">
            <a:extLst>
              <a:ext uri="{FF2B5EF4-FFF2-40B4-BE49-F238E27FC236}">
                <a16:creationId xmlns:a16="http://schemas.microsoft.com/office/drawing/2014/main" id="{DF3FFB15-2614-77CE-4990-2604FFCBF98B}"/>
              </a:ext>
            </a:extLst>
          </p:cNvPr>
          <p:cNvSpPr/>
          <p:nvPr/>
        </p:nvSpPr>
        <p:spPr>
          <a:xfrm>
            <a:off x="6199699" y="4467841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— agg_ddi_month  (agregado por date_month + site + division + dept + classif)</a:t>
            </a:r>
            <a:endParaRPr lang="en-US" sz="950" dirty="0"/>
          </a:p>
        </p:txBody>
      </p:sp>
      <p:sp>
        <p:nvSpPr>
          <p:cNvPr id="56" name="Text 50">
            <a:extLst>
              <a:ext uri="{FF2B5EF4-FFF2-40B4-BE49-F238E27FC236}">
                <a16:creationId xmlns:a16="http://schemas.microsoft.com/office/drawing/2014/main" id="{A9B32854-D688-A36E-AE14-50EE054A4E99}"/>
              </a:ext>
            </a:extLst>
          </p:cNvPr>
          <p:cNvSpPr/>
          <p:nvPr/>
        </p:nvSpPr>
        <p:spPr>
          <a:xfrm>
            <a:off x="6199699" y="4815313"/>
            <a:ext cx="40782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Colunas de dimensão: date_month, site, division, department, user_classification.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B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calculadas: active_collaborators, potential_users, data_driven_users, share_per_ddi_classification, coverage_rate, transition_rate (LAG MoM), gap_to_target (vs. mediana divisão via PERCENTILE_CONT).</a:t>
            </a:r>
            <a:endParaRPr lang="en-US" sz="1000" dirty="0"/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F6A7A09E-432E-E3EB-3864-D708C27A3A56}"/>
              </a:ext>
            </a:extLst>
          </p:cNvPr>
          <p:cNvSpPr txBox="1"/>
          <p:nvPr/>
        </p:nvSpPr>
        <p:spPr>
          <a:xfrm>
            <a:off x="1623007" y="1168537"/>
            <a:ext cx="4837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Camadas Medallion &amp; Granularidade Silver/Gold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526650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0D69B-8BC6-F0F3-2E6B-870A327CF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Agrupar 13">
            <a:extLst>
              <a:ext uri="{FF2B5EF4-FFF2-40B4-BE49-F238E27FC236}">
                <a16:creationId xmlns:a16="http://schemas.microsoft.com/office/drawing/2014/main" id="{D689CF8C-5DE1-49DB-92E9-F65E0335B974}"/>
              </a:ext>
            </a:extLst>
          </p:cNvPr>
          <p:cNvGrpSpPr/>
          <p:nvPr/>
        </p:nvGrpSpPr>
        <p:grpSpPr>
          <a:xfrm>
            <a:off x="0" y="-2"/>
            <a:ext cx="12192000" cy="787791"/>
            <a:chOff x="0" y="-1"/>
            <a:chExt cx="12192000" cy="787791"/>
          </a:xfrm>
        </p:grpSpPr>
        <p:grpSp>
          <p:nvGrpSpPr>
            <p:cNvPr id="15" name="Agrupar 14">
              <a:extLst>
                <a:ext uri="{FF2B5EF4-FFF2-40B4-BE49-F238E27FC236}">
                  <a16:creationId xmlns:a16="http://schemas.microsoft.com/office/drawing/2014/main" id="{CFD1549D-4C15-298A-BEC0-31979159AC43}"/>
                </a:ext>
              </a:extLst>
            </p:cNvPr>
            <p:cNvGrpSpPr/>
            <p:nvPr/>
          </p:nvGrpSpPr>
          <p:grpSpPr>
            <a:xfrm>
              <a:off x="0" y="-1"/>
              <a:ext cx="12192000" cy="787791"/>
              <a:chOff x="0" y="-1"/>
              <a:chExt cx="12192000" cy="787791"/>
            </a:xfrm>
          </p:grpSpPr>
          <p:sp>
            <p:nvSpPr>
              <p:cNvPr id="17" name="Shape 0">
                <a:extLst>
                  <a:ext uri="{FF2B5EF4-FFF2-40B4-BE49-F238E27FC236}">
                    <a16:creationId xmlns:a16="http://schemas.microsoft.com/office/drawing/2014/main" id="{54BFA34B-B8C8-0E5F-E2AE-EE27B9FBCA5C}"/>
                  </a:ext>
                </a:extLst>
              </p:cNvPr>
              <p:cNvSpPr/>
              <p:nvPr/>
            </p:nvSpPr>
            <p:spPr>
              <a:xfrm>
                <a:off x="0" y="-1"/>
                <a:ext cx="12192000" cy="787791"/>
              </a:xfrm>
              <a:prstGeom prst="rect">
                <a:avLst/>
              </a:prstGeom>
              <a:solidFill>
                <a:srgbClr val="333333"/>
              </a:solidFill>
              <a:ln w="12700">
                <a:solidFill>
                  <a:srgbClr val="333333"/>
                </a:solidFill>
                <a:prstDash val="solid"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8" name="Retângulo: Cantos Arredondados 17">
                <a:extLst>
                  <a:ext uri="{FF2B5EF4-FFF2-40B4-BE49-F238E27FC236}">
                    <a16:creationId xmlns:a16="http://schemas.microsoft.com/office/drawing/2014/main" id="{CE4BA3EC-B882-F6A7-9079-155F766F7C10}"/>
                  </a:ext>
                </a:extLst>
              </p:cNvPr>
              <p:cNvSpPr/>
              <p:nvPr/>
            </p:nvSpPr>
            <p:spPr>
              <a:xfrm>
                <a:off x="9835375" y="306443"/>
                <a:ext cx="1987681" cy="175290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23000">
                    <a:srgbClr val="84B9EB"/>
                  </a:gs>
                  <a:gs pos="54000">
                    <a:srgbClr val="F5EB3F"/>
                  </a:gs>
                </a:gsLst>
                <a:lin ang="0" scaled="1"/>
                <a:tileRect/>
              </a:gradFill>
              <a:ln>
                <a:solidFill>
                  <a:srgbClr val="3333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pic>
          <p:nvPicPr>
            <p:cNvPr id="16" name="Imagem 15">
              <a:extLst>
                <a:ext uri="{FF2B5EF4-FFF2-40B4-BE49-F238E27FC236}">
                  <a16:creationId xmlns:a16="http://schemas.microsoft.com/office/drawing/2014/main" id="{BBD00E54-55E4-4A83-0BDA-5EF01FF631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7756" y="213902"/>
              <a:ext cx="1279943" cy="359984"/>
            </a:xfrm>
            <a:prstGeom prst="rect">
              <a:avLst/>
            </a:prstGeom>
          </p:spPr>
        </p:pic>
      </p:grpSp>
      <p:sp>
        <p:nvSpPr>
          <p:cNvPr id="19" name="Título 1">
            <a:extLst>
              <a:ext uri="{FF2B5EF4-FFF2-40B4-BE49-F238E27FC236}">
                <a16:creationId xmlns:a16="http://schemas.microsoft.com/office/drawing/2014/main" id="{93973193-2E6D-C78C-6E8D-55C3E591E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4635" y="72739"/>
            <a:ext cx="7821795" cy="642310"/>
          </a:xfrm>
        </p:spPr>
        <p:txBody>
          <a:bodyPr anchor="t">
            <a:normAutofit fontScale="90000"/>
          </a:bodyPr>
          <a:lstStyle/>
          <a:p>
            <a:r>
              <a:rPr lang="pt-BR" dirty="0">
                <a:solidFill>
                  <a:schemeClr val="bg1"/>
                </a:solidFill>
              </a:rPr>
              <a:t>| </a:t>
            </a:r>
            <a:r>
              <a:rPr lang="pt-BR" sz="3100" dirty="0">
                <a:solidFill>
                  <a:schemeClr val="bg1"/>
                </a:solidFill>
              </a:rPr>
              <a:t>Validação Mensal </a:t>
            </a:r>
            <a:r>
              <a:rPr lang="pt-BR" sz="1800" dirty="0">
                <a:solidFill>
                  <a:schemeClr val="bg1"/>
                </a:solidFill>
              </a:rPr>
              <a:t>- Duplicidade + Classificação)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9A89D076-8359-51CE-6157-56C7C48E6F97}"/>
              </a:ext>
            </a:extLst>
          </p:cNvPr>
          <p:cNvSpPr/>
          <p:nvPr/>
        </p:nvSpPr>
        <p:spPr>
          <a:xfrm>
            <a:off x="0" y="0"/>
            <a:ext cx="61913" cy="787789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2DD446B8-4971-54FF-9CCD-8F18A0E46666}"/>
              </a:ext>
            </a:extLst>
          </p:cNvPr>
          <p:cNvSpPr/>
          <p:nvPr/>
        </p:nvSpPr>
        <p:spPr>
          <a:xfrm>
            <a:off x="238301" y="1181201"/>
            <a:ext cx="11681390" cy="977522"/>
          </a:xfrm>
          <a:prstGeom prst="rect">
            <a:avLst/>
          </a:prstGeom>
          <a:solidFill>
            <a:srgbClr val="F0F4FA"/>
          </a:solidFill>
          <a:ln w="12700">
            <a:solidFill>
              <a:srgbClr val="D8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8BF9E42E-CF73-0DB0-CB00-16521FDAADD6}"/>
              </a:ext>
            </a:extLst>
          </p:cNvPr>
          <p:cNvSpPr/>
          <p:nvPr/>
        </p:nvSpPr>
        <p:spPr>
          <a:xfrm>
            <a:off x="238301" y="1181201"/>
            <a:ext cx="73314" cy="977520"/>
          </a:xfrm>
          <a:prstGeom prst="rect">
            <a:avLst/>
          </a:prstGeom>
          <a:solidFill>
            <a:srgbClr val="1659A8"/>
          </a:solidFill>
          <a:ln w="12700">
            <a:solidFill>
              <a:srgbClr val="1659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DB25EDD6-EB4E-7367-B0A6-666AB92B6F12}"/>
              </a:ext>
            </a:extLst>
          </p:cNvPr>
          <p:cNvSpPr/>
          <p:nvPr/>
        </p:nvSpPr>
        <p:spPr>
          <a:xfrm>
            <a:off x="380802" y="1340310"/>
            <a:ext cx="366571" cy="366571"/>
          </a:xfrm>
          <a:prstGeom prst="ellipse">
            <a:avLst/>
          </a:prstGeom>
          <a:solidFill>
            <a:srgbClr val="1659A8"/>
          </a:solidFill>
          <a:ln w="12700">
            <a:solidFill>
              <a:srgbClr val="1659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738A7B46-6920-714D-E80D-E17432B3F262}"/>
              </a:ext>
            </a:extLst>
          </p:cNvPr>
          <p:cNvSpPr/>
          <p:nvPr/>
        </p:nvSpPr>
        <p:spPr>
          <a:xfrm>
            <a:off x="380802" y="1340310"/>
            <a:ext cx="366571" cy="366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9E94A111-30ED-6A80-29D5-8BD1D05BFE99}"/>
              </a:ext>
            </a:extLst>
          </p:cNvPr>
          <p:cNvSpPr/>
          <p:nvPr/>
        </p:nvSpPr>
        <p:spPr>
          <a:xfrm>
            <a:off x="858701" y="1254352"/>
            <a:ext cx="10833924" cy="342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Unicidade username + date_month</a:t>
            </a:r>
            <a:endParaRPr lang="en-US" sz="1400" dirty="0"/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1CBB970D-E7DB-CAA5-F28B-DE842E779C2B}"/>
              </a:ext>
            </a:extLst>
          </p:cNvPr>
          <p:cNvSpPr/>
          <p:nvPr/>
        </p:nvSpPr>
        <p:spPr>
          <a:xfrm>
            <a:off x="858701" y="1510384"/>
            <a:ext cx="10809486" cy="464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dbt (schema.yml) + pytest (tests/assert_fct_user_month_unique.sql) verificam que nenhum par (username, date_month) aparece mais de uma vez em fct_user_month e em stg_ddi pós-dedup.</a:t>
            </a:r>
            <a:endParaRPr lang="en-US" sz="1100" dirty="0"/>
          </a:p>
        </p:txBody>
      </p:sp>
      <p:sp>
        <p:nvSpPr>
          <p:cNvPr id="9" name="Shape 10">
            <a:extLst>
              <a:ext uri="{FF2B5EF4-FFF2-40B4-BE49-F238E27FC236}">
                <a16:creationId xmlns:a16="http://schemas.microsoft.com/office/drawing/2014/main" id="{81AD60F1-71D5-A569-1A9C-605DB8B161F9}"/>
              </a:ext>
            </a:extLst>
          </p:cNvPr>
          <p:cNvSpPr/>
          <p:nvPr/>
        </p:nvSpPr>
        <p:spPr>
          <a:xfrm>
            <a:off x="238301" y="2305025"/>
            <a:ext cx="11681390" cy="977522"/>
          </a:xfrm>
          <a:prstGeom prst="rect">
            <a:avLst/>
          </a:prstGeom>
          <a:solidFill>
            <a:srgbClr val="F0F4FA"/>
          </a:solidFill>
          <a:ln w="12700">
            <a:solidFill>
              <a:srgbClr val="D8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A0087886-11A6-EAAB-A8B0-E4AC86D98486}"/>
              </a:ext>
            </a:extLst>
          </p:cNvPr>
          <p:cNvSpPr/>
          <p:nvPr/>
        </p:nvSpPr>
        <p:spPr>
          <a:xfrm>
            <a:off x="238301" y="2305025"/>
            <a:ext cx="73314" cy="977520"/>
          </a:xfrm>
          <a:prstGeom prst="rect">
            <a:avLst/>
          </a:prstGeom>
          <a:solidFill>
            <a:srgbClr val="1659A8"/>
          </a:solidFill>
          <a:ln w="12700">
            <a:solidFill>
              <a:srgbClr val="1659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A1D3CF10-4D6B-B051-CC5D-254FB376D86E}"/>
              </a:ext>
            </a:extLst>
          </p:cNvPr>
          <p:cNvSpPr/>
          <p:nvPr/>
        </p:nvSpPr>
        <p:spPr>
          <a:xfrm>
            <a:off x="380802" y="2464134"/>
            <a:ext cx="366571" cy="366571"/>
          </a:xfrm>
          <a:prstGeom prst="ellipse">
            <a:avLst/>
          </a:prstGeom>
          <a:solidFill>
            <a:srgbClr val="1659A8"/>
          </a:solidFill>
          <a:ln w="12700">
            <a:solidFill>
              <a:srgbClr val="1659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3">
            <a:extLst>
              <a:ext uri="{FF2B5EF4-FFF2-40B4-BE49-F238E27FC236}">
                <a16:creationId xmlns:a16="http://schemas.microsoft.com/office/drawing/2014/main" id="{F234506F-F803-A09E-12EC-CAE624EDFA61}"/>
              </a:ext>
            </a:extLst>
          </p:cNvPr>
          <p:cNvSpPr/>
          <p:nvPr/>
        </p:nvSpPr>
        <p:spPr>
          <a:xfrm>
            <a:off x="380802" y="2464134"/>
            <a:ext cx="366571" cy="366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7B86A336-2064-035A-1937-2F1439ED4F01}"/>
              </a:ext>
            </a:extLst>
          </p:cNvPr>
          <p:cNvSpPr/>
          <p:nvPr/>
        </p:nvSpPr>
        <p:spPr>
          <a:xfrm>
            <a:off x="858701" y="2378176"/>
            <a:ext cx="10833924" cy="342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not_null em chaves e dimensões</a:t>
            </a:r>
            <a:endParaRPr lang="en-US" sz="1400" dirty="0"/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D12AEB89-AD36-A393-AE21-67088069226D}"/>
              </a:ext>
            </a:extLst>
          </p:cNvPr>
          <p:cNvSpPr/>
          <p:nvPr/>
        </p:nvSpPr>
        <p:spPr>
          <a:xfrm>
            <a:off x="858701" y="2634208"/>
            <a:ext cx="10809486" cy="464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username, date_month, site, division, department, user_classification marcados como not_null no schema.yml. Pipeline falha e alerta se qualquer nulo for encontrado no mart.</a:t>
            </a:r>
            <a:endParaRPr lang="en-US" sz="1100" dirty="0"/>
          </a:p>
        </p:txBody>
      </p:sp>
      <p:sp>
        <p:nvSpPr>
          <p:cNvPr id="22" name="Shape 16">
            <a:extLst>
              <a:ext uri="{FF2B5EF4-FFF2-40B4-BE49-F238E27FC236}">
                <a16:creationId xmlns:a16="http://schemas.microsoft.com/office/drawing/2014/main" id="{2D15B837-A86B-B8EB-6FAA-948124A5A921}"/>
              </a:ext>
            </a:extLst>
          </p:cNvPr>
          <p:cNvSpPr/>
          <p:nvPr/>
        </p:nvSpPr>
        <p:spPr>
          <a:xfrm>
            <a:off x="238301" y="3434405"/>
            <a:ext cx="11681390" cy="977522"/>
          </a:xfrm>
          <a:prstGeom prst="rect">
            <a:avLst/>
          </a:prstGeom>
          <a:solidFill>
            <a:srgbClr val="F0F4FA"/>
          </a:solidFill>
          <a:ln w="12700">
            <a:solidFill>
              <a:srgbClr val="D8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3" name="Shape 17">
            <a:extLst>
              <a:ext uri="{FF2B5EF4-FFF2-40B4-BE49-F238E27FC236}">
                <a16:creationId xmlns:a16="http://schemas.microsoft.com/office/drawing/2014/main" id="{9178F706-2CB5-F800-AE94-5060E635356E}"/>
              </a:ext>
            </a:extLst>
          </p:cNvPr>
          <p:cNvSpPr/>
          <p:nvPr/>
        </p:nvSpPr>
        <p:spPr>
          <a:xfrm>
            <a:off x="238301" y="3434405"/>
            <a:ext cx="73314" cy="977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18">
            <a:extLst>
              <a:ext uri="{FF2B5EF4-FFF2-40B4-BE49-F238E27FC236}">
                <a16:creationId xmlns:a16="http://schemas.microsoft.com/office/drawing/2014/main" id="{9409CED6-3913-867C-15C0-92E06FF6261C}"/>
              </a:ext>
            </a:extLst>
          </p:cNvPr>
          <p:cNvSpPr/>
          <p:nvPr/>
        </p:nvSpPr>
        <p:spPr>
          <a:xfrm>
            <a:off x="380802" y="3593514"/>
            <a:ext cx="366571" cy="366571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19">
            <a:extLst>
              <a:ext uri="{FF2B5EF4-FFF2-40B4-BE49-F238E27FC236}">
                <a16:creationId xmlns:a16="http://schemas.microsoft.com/office/drawing/2014/main" id="{2091D650-1136-8032-9690-9BCDFACE41E7}"/>
              </a:ext>
            </a:extLst>
          </p:cNvPr>
          <p:cNvSpPr/>
          <p:nvPr/>
        </p:nvSpPr>
        <p:spPr>
          <a:xfrm>
            <a:off x="380802" y="3593514"/>
            <a:ext cx="366571" cy="366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6" name="Text 20">
            <a:extLst>
              <a:ext uri="{FF2B5EF4-FFF2-40B4-BE49-F238E27FC236}">
                <a16:creationId xmlns:a16="http://schemas.microsoft.com/office/drawing/2014/main" id="{D8BB1AE8-CA63-A8D7-90F0-BAC30534A045}"/>
              </a:ext>
            </a:extLst>
          </p:cNvPr>
          <p:cNvSpPr/>
          <p:nvPr/>
        </p:nvSpPr>
        <p:spPr>
          <a:xfrm>
            <a:off x="858701" y="3507556"/>
            <a:ext cx="10833924" cy="342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accepted_values para user_classification</a:t>
            </a:r>
            <a:endParaRPr lang="en-US" sz="1400" dirty="0"/>
          </a:p>
        </p:txBody>
      </p:sp>
      <p:sp>
        <p:nvSpPr>
          <p:cNvPr id="27" name="Text 21">
            <a:extLst>
              <a:ext uri="{FF2B5EF4-FFF2-40B4-BE49-F238E27FC236}">
                <a16:creationId xmlns:a16="http://schemas.microsoft.com/office/drawing/2014/main" id="{130B6882-52D1-A7A6-4CD0-099BA6C1B4DD}"/>
              </a:ext>
            </a:extLst>
          </p:cNvPr>
          <p:cNvSpPr/>
          <p:nvPr/>
        </p:nvSpPr>
        <p:spPr>
          <a:xfrm>
            <a:off x="858701" y="3763588"/>
            <a:ext cx="10809486" cy="464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Domínio válido: {Champion, Advanced, Intermediate, Basic, Beginner, Sleeper, No Use, Sem registro DDI}. Qualquer valor fora desse conjunto levanta um erro de teste dbt antes de chegar ao BI.</a:t>
            </a:r>
            <a:endParaRPr lang="en-US" sz="1100" dirty="0"/>
          </a:p>
        </p:txBody>
      </p:sp>
      <p:sp>
        <p:nvSpPr>
          <p:cNvPr id="28" name="Shape 22">
            <a:extLst>
              <a:ext uri="{FF2B5EF4-FFF2-40B4-BE49-F238E27FC236}">
                <a16:creationId xmlns:a16="http://schemas.microsoft.com/office/drawing/2014/main" id="{22F1B58A-D5B8-9F55-3F87-C08EF15D742B}"/>
              </a:ext>
            </a:extLst>
          </p:cNvPr>
          <p:cNvSpPr/>
          <p:nvPr/>
        </p:nvSpPr>
        <p:spPr>
          <a:xfrm>
            <a:off x="238301" y="4558229"/>
            <a:ext cx="11681390" cy="977522"/>
          </a:xfrm>
          <a:prstGeom prst="rect">
            <a:avLst/>
          </a:prstGeom>
          <a:solidFill>
            <a:srgbClr val="F0F4FA"/>
          </a:solidFill>
          <a:ln w="12700">
            <a:solidFill>
              <a:srgbClr val="D8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9" name="Shape 23">
            <a:extLst>
              <a:ext uri="{FF2B5EF4-FFF2-40B4-BE49-F238E27FC236}">
                <a16:creationId xmlns:a16="http://schemas.microsoft.com/office/drawing/2014/main" id="{DA00BFCB-398A-97AE-8E64-D860A33FB880}"/>
              </a:ext>
            </a:extLst>
          </p:cNvPr>
          <p:cNvSpPr/>
          <p:nvPr/>
        </p:nvSpPr>
        <p:spPr>
          <a:xfrm>
            <a:off x="238301" y="4558229"/>
            <a:ext cx="73314" cy="977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Shape 24">
            <a:extLst>
              <a:ext uri="{FF2B5EF4-FFF2-40B4-BE49-F238E27FC236}">
                <a16:creationId xmlns:a16="http://schemas.microsoft.com/office/drawing/2014/main" id="{1E9AE778-3C4C-5F9D-F8AD-7C9C587A3570}"/>
              </a:ext>
            </a:extLst>
          </p:cNvPr>
          <p:cNvSpPr/>
          <p:nvPr/>
        </p:nvSpPr>
        <p:spPr>
          <a:xfrm>
            <a:off x="380802" y="4717338"/>
            <a:ext cx="366571" cy="366571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DE621C3F-DEB3-A5C1-A9B4-2EC07C0C41EC}"/>
              </a:ext>
            </a:extLst>
          </p:cNvPr>
          <p:cNvSpPr/>
          <p:nvPr/>
        </p:nvSpPr>
        <p:spPr>
          <a:xfrm>
            <a:off x="380802" y="4717338"/>
            <a:ext cx="366571" cy="366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2" name="Text 26">
            <a:extLst>
              <a:ext uri="{FF2B5EF4-FFF2-40B4-BE49-F238E27FC236}">
                <a16:creationId xmlns:a16="http://schemas.microsoft.com/office/drawing/2014/main" id="{31F25148-E430-0F3B-1F7C-479DB0A8317F}"/>
              </a:ext>
            </a:extLst>
          </p:cNvPr>
          <p:cNvSpPr/>
          <p:nvPr/>
        </p:nvSpPr>
        <p:spPr>
          <a:xfrm>
            <a:off x="858701" y="4631380"/>
            <a:ext cx="10833924" cy="342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Sanidade de coverage_rate</a:t>
            </a:r>
            <a:endParaRPr lang="en-US" sz="1400" dirty="0"/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3692218F-4529-C669-99C4-8E9393A204E2}"/>
              </a:ext>
            </a:extLst>
          </p:cNvPr>
          <p:cNvSpPr/>
          <p:nvPr/>
        </p:nvSpPr>
        <p:spPr>
          <a:xfrm>
            <a:off x="858701" y="4887412"/>
            <a:ext cx="10809486" cy="464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de range: coverage_rate BETWEEN 0 AND 100 por dept-mês. Valores acima de 100% indicam problema no denominador (ativos &lt; registros DDI), o que só ocorre com bug de deduplicação.</a:t>
            </a:r>
            <a:endParaRPr lang="en-US" sz="1100" dirty="0"/>
          </a:p>
        </p:txBody>
      </p:sp>
      <p:sp>
        <p:nvSpPr>
          <p:cNvPr id="34" name="Shape 28">
            <a:extLst>
              <a:ext uri="{FF2B5EF4-FFF2-40B4-BE49-F238E27FC236}">
                <a16:creationId xmlns:a16="http://schemas.microsoft.com/office/drawing/2014/main" id="{128B1783-BCF1-806E-1A92-8F7725ABD197}"/>
              </a:ext>
            </a:extLst>
          </p:cNvPr>
          <p:cNvSpPr/>
          <p:nvPr/>
        </p:nvSpPr>
        <p:spPr>
          <a:xfrm>
            <a:off x="238301" y="5679732"/>
            <a:ext cx="11681390" cy="977522"/>
          </a:xfrm>
          <a:prstGeom prst="rect">
            <a:avLst/>
          </a:prstGeom>
          <a:solidFill>
            <a:srgbClr val="F0F4FA"/>
          </a:solidFill>
          <a:ln w="12700">
            <a:solidFill>
              <a:srgbClr val="D8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5" name="Shape 29">
            <a:extLst>
              <a:ext uri="{FF2B5EF4-FFF2-40B4-BE49-F238E27FC236}">
                <a16:creationId xmlns:a16="http://schemas.microsoft.com/office/drawing/2014/main" id="{22D507B1-49AA-1385-7FAA-FEBEA8CFF208}"/>
              </a:ext>
            </a:extLst>
          </p:cNvPr>
          <p:cNvSpPr/>
          <p:nvPr/>
        </p:nvSpPr>
        <p:spPr>
          <a:xfrm>
            <a:off x="238301" y="5679732"/>
            <a:ext cx="73314" cy="9775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Shape 30">
            <a:extLst>
              <a:ext uri="{FF2B5EF4-FFF2-40B4-BE49-F238E27FC236}">
                <a16:creationId xmlns:a16="http://schemas.microsoft.com/office/drawing/2014/main" id="{C22144BC-F645-28B8-6CCC-B3321B57AD3F}"/>
              </a:ext>
            </a:extLst>
          </p:cNvPr>
          <p:cNvSpPr/>
          <p:nvPr/>
        </p:nvSpPr>
        <p:spPr>
          <a:xfrm>
            <a:off x="380802" y="5838841"/>
            <a:ext cx="366571" cy="366571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Text 31">
            <a:extLst>
              <a:ext uri="{FF2B5EF4-FFF2-40B4-BE49-F238E27FC236}">
                <a16:creationId xmlns:a16="http://schemas.microsoft.com/office/drawing/2014/main" id="{C6F9A6CB-F289-78C0-8591-39AA9F508A2C}"/>
              </a:ext>
            </a:extLst>
          </p:cNvPr>
          <p:cNvSpPr/>
          <p:nvPr/>
        </p:nvSpPr>
        <p:spPr>
          <a:xfrm>
            <a:off x="380802" y="5838841"/>
            <a:ext cx="366571" cy="366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8" name="Text 32">
            <a:extLst>
              <a:ext uri="{FF2B5EF4-FFF2-40B4-BE49-F238E27FC236}">
                <a16:creationId xmlns:a16="http://schemas.microsoft.com/office/drawing/2014/main" id="{CC2A7CF0-EEF2-7E2F-253F-802DF26C872C}"/>
              </a:ext>
            </a:extLst>
          </p:cNvPr>
          <p:cNvSpPr/>
          <p:nvPr/>
        </p:nvSpPr>
        <p:spPr>
          <a:xfrm>
            <a:off x="858701" y="5752883"/>
            <a:ext cx="10833924" cy="342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Reconciliação interna (consistência)</a:t>
            </a:r>
            <a:endParaRPr lang="en-US" sz="1400" dirty="0"/>
          </a:p>
        </p:txBody>
      </p:sp>
      <p:sp>
        <p:nvSpPr>
          <p:cNvPr id="39" name="Text 33">
            <a:extLst>
              <a:ext uri="{FF2B5EF4-FFF2-40B4-BE49-F238E27FC236}">
                <a16:creationId xmlns:a16="http://schemas.microsoft.com/office/drawing/2014/main" id="{5E704AD6-9C98-16EE-E91D-FEE4AEF0722D}"/>
              </a:ext>
            </a:extLst>
          </p:cNvPr>
          <p:cNvSpPr/>
          <p:nvPr/>
        </p:nvSpPr>
        <p:spPr>
          <a:xfrm>
            <a:off x="858701" y="6008915"/>
            <a:ext cx="10809486" cy="464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SUM(active_collaborators) agrupado por user_classification dentro do mesmo (date_month, site, division, department) deve igualar COUNT(DISTINCT username) no fct_user_month para o mesmo grupo. Detecta agregações erradas.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2199563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D3E61-BDC6-A973-AEF8-65BA1049E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Agrupar 13">
            <a:extLst>
              <a:ext uri="{FF2B5EF4-FFF2-40B4-BE49-F238E27FC236}">
                <a16:creationId xmlns:a16="http://schemas.microsoft.com/office/drawing/2014/main" id="{08614A1F-43CA-9CB0-CF90-57B88A88BDFA}"/>
              </a:ext>
            </a:extLst>
          </p:cNvPr>
          <p:cNvGrpSpPr/>
          <p:nvPr/>
        </p:nvGrpSpPr>
        <p:grpSpPr>
          <a:xfrm>
            <a:off x="0" y="-2"/>
            <a:ext cx="12192000" cy="787791"/>
            <a:chOff x="0" y="-1"/>
            <a:chExt cx="12192000" cy="787791"/>
          </a:xfrm>
        </p:grpSpPr>
        <p:grpSp>
          <p:nvGrpSpPr>
            <p:cNvPr id="15" name="Agrupar 14">
              <a:extLst>
                <a:ext uri="{FF2B5EF4-FFF2-40B4-BE49-F238E27FC236}">
                  <a16:creationId xmlns:a16="http://schemas.microsoft.com/office/drawing/2014/main" id="{A40F13FB-F6E1-59BD-7460-1AC1CF8EC5DB}"/>
                </a:ext>
              </a:extLst>
            </p:cNvPr>
            <p:cNvGrpSpPr/>
            <p:nvPr/>
          </p:nvGrpSpPr>
          <p:grpSpPr>
            <a:xfrm>
              <a:off x="0" y="-1"/>
              <a:ext cx="12192000" cy="787791"/>
              <a:chOff x="0" y="-1"/>
              <a:chExt cx="12192000" cy="787791"/>
            </a:xfrm>
          </p:grpSpPr>
          <p:sp>
            <p:nvSpPr>
              <p:cNvPr id="17" name="Shape 0">
                <a:extLst>
                  <a:ext uri="{FF2B5EF4-FFF2-40B4-BE49-F238E27FC236}">
                    <a16:creationId xmlns:a16="http://schemas.microsoft.com/office/drawing/2014/main" id="{68A258B6-0F1B-A695-2A5A-C4D14354A718}"/>
                  </a:ext>
                </a:extLst>
              </p:cNvPr>
              <p:cNvSpPr/>
              <p:nvPr/>
            </p:nvSpPr>
            <p:spPr>
              <a:xfrm>
                <a:off x="0" y="-1"/>
                <a:ext cx="12192000" cy="787791"/>
              </a:xfrm>
              <a:prstGeom prst="rect">
                <a:avLst/>
              </a:prstGeom>
              <a:solidFill>
                <a:srgbClr val="333333"/>
              </a:solidFill>
              <a:ln w="12700">
                <a:solidFill>
                  <a:srgbClr val="333333"/>
                </a:solidFill>
                <a:prstDash val="solid"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8" name="Retângulo: Cantos Arredondados 17">
                <a:extLst>
                  <a:ext uri="{FF2B5EF4-FFF2-40B4-BE49-F238E27FC236}">
                    <a16:creationId xmlns:a16="http://schemas.microsoft.com/office/drawing/2014/main" id="{27DFFAD6-BA8D-CD26-AAA9-E3C97C0084F5}"/>
                  </a:ext>
                </a:extLst>
              </p:cNvPr>
              <p:cNvSpPr/>
              <p:nvPr/>
            </p:nvSpPr>
            <p:spPr>
              <a:xfrm>
                <a:off x="9835375" y="306443"/>
                <a:ext cx="1987681" cy="175290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23000">
                    <a:srgbClr val="84B9EB"/>
                  </a:gs>
                  <a:gs pos="54000">
                    <a:srgbClr val="F5EB3F"/>
                  </a:gs>
                </a:gsLst>
                <a:lin ang="0" scaled="1"/>
                <a:tileRect/>
              </a:gradFill>
              <a:ln>
                <a:solidFill>
                  <a:srgbClr val="3333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pic>
          <p:nvPicPr>
            <p:cNvPr id="16" name="Imagem 15">
              <a:extLst>
                <a:ext uri="{FF2B5EF4-FFF2-40B4-BE49-F238E27FC236}">
                  <a16:creationId xmlns:a16="http://schemas.microsoft.com/office/drawing/2014/main" id="{DD4F016F-2246-FCA9-B754-53FAEEF161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7756" y="213902"/>
              <a:ext cx="1279943" cy="359984"/>
            </a:xfrm>
            <a:prstGeom prst="rect">
              <a:avLst/>
            </a:prstGeom>
          </p:spPr>
        </p:pic>
      </p:grpSp>
      <p:sp>
        <p:nvSpPr>
          <p:cNvPr id="19" name="Título 1">
            <a:extLst>
              <a:ext uri="{FF2B5EF4-FFF2-40B4-BE49-F238E27FC236}">
                <a16:creationId xmlns:a16="http://schemas.microsoft.com/office/drawing/2014/main" id="{DE9FBB2C-63B0-2DBF-397E-7A676D589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4635" y="72739"/>
            <a:ext cx="7821795" cy="642310"/>
          </a:xfrm>
        </p:spPr>
        <p:txBody>
          <a:bodyPr anchor="t">
            <a:normAutofit fontScale="90000"/>
          </a:bodyPr>
          <a:lstStyle/>
          <a:p>
            <a:r>
              <a:rPr lang="pt-BR" dirty="0">
                <a:solidFill>
                  <a:schemeClr val="bg1"/>
                </a:solidFill>
              </a:rPr>
              <a:t>| </a:t>
            </a:r>
            <a:r>
              <a:rPr lang="pt-BR" sz="3100" dirty="0">
                <a:solidFill>
                  <a:schemeClr val="bg1"/>
                </a:solidFill>
              </a:rPr>
              <a:t>Práticas para Eficiência e Baixo Custo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12FBC565-C332-36A5-E27D-64ABC1F568E3}"/>
              </a:ext>
            </a:extLst>
          </p:cNvPr>
          <p:cNvSpPr/>
          <p:nvPr/>
        </p:nvSpPr>
        <p:spPr>
          <a:xfrm>
            <a:off x="0" y="0"/>
            <a:ext cx="61913" cy="787789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EA6D9C7E-B369-9B2E-85DA-83A81BA94A6B}"/>
              </a:ext>
            </a:extLst>
          </p:cNvPr>
          <p:cNvSpPr/>
          <p:nvPr/>
        </p:nvSpPr>
        <p:spPr>
          <a:xfrm>
            <a:off x="178630" y="1544044"/>
            <a:ext cx="5820618" cy="1397965"/>
          </a:xfrm>
          <a:prstGeom prst="rect">
            <a:avLst/>
          </a:prstGeom>
          <a:solidFill>
            <a:srgbClr val="F0F4FA"/>
          </a:solidFill>
          <a:ln w="12700">
            <a:solidFill>
              <a:srgbClr val="D8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23865D6F-DF85-A473-73CB-FA2660AED941}"/>
              </a:ext>
            </a:extLst>
          </p:cNvPr>
          <p:cNvSpPr/>
          <p:nvPr/>
        </p:nvSpPr>
        <p:spPr>
          <a:xfrm>
            <a:off x="178629" y="1544044"/>
            <a:ext cx="76253" cy="1397965"/>
          </a:xfrm>
          <a:prstGeom prst="rect">
            <a:avLst/>
          </a:prstGeom>
          <a:solidFill>
            <a:srgbClr val="1659A8"/>
          </a:solidFill>
          <a:ln w="12700">
            <a:solidFill>
              <a:srgbClr val="1659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DAB9209F-EF2A-5575-B621-E47D756CC482}"/>
              </a:ext>
            </a:extLst>
          </p:cNvPr>
          <p:cNvSpPr/>
          <p:nvPr/>
        </p:nvSpPr>
        <p:spPr>
          <a:xfrm>
            <a:off x="306646" y="1909507"/>
            <a:ext cx="5566448" cy="355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  Particionamento por date_month (evolução)</a:t>
            </a:r>
            <a:endParaRPr lang="en-US" sz="1000" dirty="0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CCFCC963-D881-ED60-D9F7-578460495569}"/>
              </a:ext>
            </a:extLst>
          </p:cNvPr>
          <p:cNvSpPr/>
          <p:nvPr/>
        </p:nvSpPr>
        <p:spPr>
          <a:xfrm>
            <a:off x="306646" y="2030078"/>
            <a:ext cx="5566442" cy="838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B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 histórico ultrapassar 12 meses, particionar fct_user_month e agg_ddi_month por date_month elimina full-table scans nas queries de BI, que sempre filtram por mês.</a:t>
            </a:r>
            <a:endParaRPr lang="en-US" sz="880" dirty="0"/>
          </a:p>
        </p:txBody>
      </p:sp>
      <p:sp>
        <p:nvSpPr>
          <p:cNvPr id="7" name="Shape 8">
            <a:extLst>
              <a:ext uri="{FF2B5EF4-FFF2-40B4-BE49-F238E27FC236}">
                <a16:creationId xmlns:a16="http://schemas.microsoft.com/office/drawing/2014/main" id="{4227E198-B332-95CB-2AB7-5B81C97A5101}"/>
              </a:ext>
            </a:extLst>
          </p:cNvPr>
          <p:cNvSpPr/>
          <p:nvPr/>
        </p:nvSpPr>
        <p:spPr>
          <a:xfrm>
            <a:off x="6143846" y="1544044"/>
            <a:ext cx="5820618" cy="1397965"/>
          </a:xfrm>
          <a:prstGeom prst="rect">
            <a:avLst/>
          </a:prstGeom>
          <a:solidFill>
            <a:srgbClr val="F0F4FA"/>
          </a:solidFill>
          <a:ln w="12700">
            <a:solidFill>
              <a:srgbClr val="D8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9">
            <a:extLst>
              <a:ext uri="{FF2B5EF4-FFF2-40B4-BE49-F238E27FC236}">
                <a16:creationId xmlns:a16="http://schemas.microsoft.com/office/drawing/2014/main" id="{8B77383A-4199-2BA2-1CC8-73B385D90E30}"/>
              </a:ext>
            </a:extLst>
          </p:cNvPr>
          <p:cNvSpPr/>
          <p:nvPr/>
        </p:nvSpPr>
        <p:spPr>
          <a:xfrm>
            <a:off x="6143845" y="1544044"/>
            <a:ext cx="76253" cy="1397965"/>
          </a:xfrm>
          <a:prstGeom prst="rect">
            <a:avLst/>
          </a:prstGeom>
          <a:solidFill>
            <a:srgbClr val="1659A8"/>
          </a:solidFill>
          <a:ln w="12700">
            <a:solidFill>
              <a:srgbClr val="1659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10">
            <a:extLst>
              <a:ext uri="{FF2B5EF4-FFF2-40B4-BE49-F238E27FC236}">
                <a16:creationId xmlns:a16="http://schemas.microsoft.com/office/drawing/2014/main" id="{5B055C5C-E218-2735-AF1D-006B9CC06791}"/>
              </a:ext>
            </a:extLst>
          </p:cNvPr>
          <p:cNvSpPr/>
          <p:nvPr/>
        </p:nvSpPr>
        <p:spPr>
          <a:xfrm>
            <a:off x="6271862" y="1909507"/>
            <a:ext cx="5566448" cy="355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Índices estratégicos no PostgreSQL</a:t>
            </a:r>
            <a:endParaRPr lang="en-US" sz="1000" dirty="0"/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F5065E60-6A6A-CE88-B8C2-1D073709D4A9}"/>
              </a:ext>
            </a:extLst>
          </p:cNvPr>
          <p:cNvSpPr/>
          <p:nvPr/>
        </p:nvSpPr>
        <p:spPr>
          <a:xfrm>
            <a:off x="6271862" y="2030078"/>
            <a:ext cx="5566442" cy="838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B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composto em (date_month, site) para filtros do dashboard; índice em (username, date_month) para o streaks join. Ambos cobrem os padrões de acesso dominantes sem overhead de escrita excessivo.</a:t>
            </a:r>
            <a:endParaRPr lang="en-US" sz="880" dirty="0"/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8EF27EDD-39B3-DE9F-C334-1F14B7A6CF45}"/>
              </a:ext>
            </a:extLst>
          </p:cNvPr>
          <p:cNvSpPr/>
          <p:nvPr/>
        </p:nvSpPr>
        <p:spPr>
          <a:xfrm>
            <a:off x="178629" y="3199362"/>
            <a:ext cx="5820618" cy="1397965"/>
          </a:xfrm>
          <a:prstGeom prst="rect">
            <a:avLst/>
          </a:prstGeom>
          <a:solidFill>
            <a:srgbClr val="F0F4FA"/>
          </a:solidFill>
          <a:ln w="12700">
            <a:solidFill>
              <a:srgbClr val="D8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28BEFA6E-F534-10E7-FAE0-B0A88A395CC9}"/>
              </a:ext>
            </a:extLst>
          </p:cNvPr>
          <p:cNvSpPr/>
          <p:nvPr/>
        </p:nvSpPr>
        <p:spPr>
          <a:xfrm>
            <a:off x="178628" y="3199362"/>
            <a:ext cx="76253" cy="1397965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9262CF83-2112-FA1F-1D70-8357DB84CE97}"/>
              </a:ext>
            </a:extLst>
          </p:cNvPr>
          <p:cNvSpPr/>
          <p:nvPr/>
        </p:nvSpPr>
        <p:spPr>
          <a:xfrm>
            <a:off x="306645" y="3564825"/>
            <a:ext cx="5566448" cy="355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Colunas mínimas nos marts</a:t>
            </a:r>
            <a:endParaRPr lang="en-US" sz="1000" dirty="0"/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AEBAD58E-7A3E-897E-3A93-C45A51C64FF5}"/>
              </a:ext>
            </a:extLst>
          </p:cNvPr>
          <p:cNvSpPr/>
          <p:nvPr/>
        </p:nvSpPr>
        <p:spPr>
          <a:xfrm>
            <a:off x="306645" y="3685396"/>
            <a:ext cx="5566442" cy="838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B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Marts expõem apenas as colunas consumidas pelo BI. Zero SELECT * nos modelos intermediários. Reduz I/O de disco e latência de serialização nas queries analíticas.</a:t>
            </a:r>
            <a:endParaRPr lang="en-US" sz="880" dirty="0"/>
          </a:p>
        </p:txBody>
      </p:sp>
      <p:sp>
        <p:nvSpPr>
          <p:cNvPr id="22" name="Shape 16">
            <a:extLst>
              <a:ext uri="{FF2B5EF4-FFF2-40B4-BE49-F238E27FC236}">
                <a16:creationId xmlns:a16="http://schemas.microsoft.com/office/drawing/2014/main" id="{8E0409D3-9965-59A1-3E54-B815061D3B1C}"/>
              </a:ext>
            </a:extLst>
          </p:cNvPr>
          <p:cNvSpPr/>
          <p:nvPr/>
        </p:nvSpPr>
        <p:spPr>
          <a:xfrm>
            <a:off x="6143846" y="3199362"/>
            <a:ext cx="5820618" cy="1397965"/>
          </a:xfrm>
          <a:prstGeom prst="rect">
            <a:avLst/>
          </a:prstGeom>
          <a:solidFill>
            <a:srgbClr val="F0F4FA"/>
          </a:solidFill>
          <a:ln w="12700">
            <a:solidFill>
              <a:srgbClr val="D8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3" name="Shape 17">
            <a:extLst>
              <a:ext uri="{FF2B5EF4-FFF2-40B4-BE49-F238E27FC236}">
                <a16:creationId xmlns:a16="http://schemas.microsoft.com/office/drawing/2014/main" id="{78F5EB41-F919-436D-A42F-C9F4AE479101}"/>
              </a:ext>
            </a:extLst>
          </p:cNvPr>
          <p:cNvSpPr/>
          <p:nvPr/>
        </p:nvSpPr>
        <p:spPr>
          <a:xfrm>
            <a:off x="6143845" y="3199362"/>
            <a:ext cx="76253" cy="1397965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2BB0C9FD-FFD6-738E-2429-34E44F34B752}"/>
              </a:ext>
            </a:extLst>
          </p:cNvPr>
          <p:cNvSpPr/>
          <p:nvPr/>
        </p:nvSpPr>
        <p:spPr>
          <a:xfrm>
            <a:off x="6271862" y="3564825"/>
            <a:ext cx="5566448" cy="355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dbt incremental no Gold (evolução)</a:t>
            </a:r>
            <a:endParaRPr lang="en-US" sz="1000" dirty="0"/>
          </a:p>
        </p:txBody>
      </p:sp>
      <p:sp>
        <p:nvSpPr>
          <p:cNvPr id="25" name="Text 19">
            <a:extLst>
              <a:ext uri="{FF2B5EF4-FFF2-40B4-BE49-F238E27FC236}">
                <a16:creationId xmlns:a16="http://schemas.microsoft.com/office/drawing/2014/main" id="{D8DA7A26-7FBC-0CF0-C405-C3C98EB01217}"/>
              </a:ext>
            </a:extLst>
          </p:cNvPr>
          <p:cNvSpPr/>
          <p:nvPr/>
        </p:nvSpPr>
        <p:spPr>
          <a:xfrm>
            <a:off x="6271862" y="3685396"/>
            <a:ext cx="5566442" cy="838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B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a tabela agg_ddi_month crescer além de ~2 anos, migrar para materialização incremental: processar apenas o mês corrente e fazer MERGE/INSERT poupando reprocessamento completo.</a:t>
            </a:r>
            <a:endParaRPr lang="en-US" sz="880" dirty="0"/>
          </a:p>
        </p:txBody>
      </p:sp>
      <p:sp>
        <p:nvSpPr>
          <p:cNvPr id="26" name="Shape 20">
            <a:extLst>
              <a:ext uri="{FF2B5EF4-FFF2-40B4-BE49-F238E27FC236}">
                <a16:creationId xmlns:a16="http://schemas.microsoft.com/office/drawing/2014/main" id="{D966609A-D4C1-FB46-08A1-FE82266C6DAE}"/>
              </a:ext>
            </a:extLst>
          </p:cNvPr>
          <p:cNvSpPr/>
          <p:nvPr/>
        </p:nvSpPr>
        <p:spPr>
          <a:xfrm>
            <a:off x="177201" y="4854680"/>
            <a:ext cx="5820618" cy="1397965"/>
          </a:xfrm>
          <a:prstGeom prst="rect">
            <a:avLst/>
          </a:prstGeom>
          <a:solidFill>
            <a:srgbClr val="F0F4FA"/>
          </a:solidFill>
          <a:ln w="12700">
            <a:solidFill>
              <a:srgbClr val="D8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7" name="Shape 21">
            <a:extLst>
              <a:ext uri="{FF2B5EF4-FFF2-40B4-BE49-F238E27FC236}">
                <a16:creationId xmlns:a16="http://schemas.microsoft.com/office/drawing/2014/main" id="{9EBF276E-0DE3-9670-FF02-2137DF81EE4C}"/>
              </a:ext>
            </a:extLst>
          </p:cNvPr>
          <p:cNvSpPr/>
          <p:nvPr/>
        </p:nvSpPr>
        <p:spPr>
          <a:xfrm>
            <a:off x="177200" y="4854680"/>
            <a:ext cx="76253" cy="1397965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2">
            <a:extLst>
              <a:ext uri="{FF2B5EF4-FFF2-40B4-BE49-F238E27FC236}">
                <a16:creationId xmlns:a16="http://schemas.microsoft.com/office/drawing/2014/main" id="{D3B29FB9-BBBA-7DA3-A508-F39AC2604A98}"/>
              </a:ext>
            </a:extLst>
          </p:cNvPr>
          <p:cNvSpPr/>
          <p:nvPr/>
        </p:nvSpPr>
        <p:spPr>
          <a:xfrm>
            <a:off x="305217" y="5220143"/>
            <a:ext cx="5566448" cy="355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Cache no Streamlit com TTL</a:t>
            </a:r>
            <a:endParaRPr lang="en-US" sz="1000" dirty="0"/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5618350B-5558-84D1-AB7A-D40A8CB236F0}"/>
              </a:ext>
            </a:extLst>
          </p:cNvPr>
          <p:cNvSpPr/>
          <p:nvPr/>
        </p:nvSpPr>
        <p:spPr>
          <a:xfrm>
            <a:off x="305217" y="5340714"/>
            <a:ext cx="5566442" cy="838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B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@st.cache_data com TTL de ~10 min para queries pesadas (evolução 12 meses). Evita reprocessamento a cada interação do usuário mantendo os dados atualizados dentro da janela de atualização mensal.</a:t>
            </a:r>
            <a:endParaRPr lang="en-US" sz="880" dirty="0"/>
          </a:p>
        </p:txBody>
      </p:sp>
      <p:sp>
        <p:nvSpPr>
          <p:cNvPr id="30" name="Shape 24">
            <a:extLst>
              <a:ext uri="{FF2B5EF4-FFF2-40B4-BE49-F238E27FC236}">
                <a16:creationId xmlns:a16="http://schemas.microsoft.com/office/drawing/2014/main" id="{384F9A95-C8CB-4F26-EC8E-B3A87502B578}"/>
              </a:ext>
            </a:extLst>
          </p:cNvPr>
          <p:cNvSpPr/>
          <p:nvPr/>
        </p:nvSpPr>
        <p:spPr>
          <a:xfrm>
            <a:off x="6142417" y="4854680"/>
            <a:ext cx="5820618" cy="1397965"/>
          </a:xfrm>
          <a:prstGeom prst="rect">
            <a:avLst/>
          </a:prstGeom>
          <a:solidFill>
            <a:srgbClr val="F0F4FA"/>
          </a:solidFill>
          <a:ln w="12700">
            <a:solidFill>
              <a:srgbClr val="D8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1" name="Shape 25">
            <a:extLst>
              <a:ext uri="{FF2B5EF4-FFF2-40B4-BE49-F238E27FC236}">
                <a16:creationId xmlns:a16="http://schemas.microsoft.com/office/drawing/2014/main" id="{0E000782-0C96-2907-DD8F-EAFBF6194296}"/>
              </a:ext>
            </a:extLst>
          </p:cNvPr>
          <p:cNvSpPr/>
          <p:nvPr/>
        </p:nvSpPr>
        <p:spPr>
          <a:xfrm>
            <a:off x="6142416" y="4854680"/>
            <a:ext cx="76253" cy="1397965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26">
            <a:extLst>
              <a:ext uri="{FF2B5EF4-FFF2-40B4-BE49-F238E27FC236}">
                <a16:creationId xmlns:a16="http://schemas.microsoft.com/office/drawing/2014/main" id="{21471488-D783-E8C8-7DFA-9E5609115F53}"/>
              </a:ext>
            </a:extLst>
          </p:cNvPr>
          <p:cNvSpPr/>
          <p:nvPr/>
        </p:nvSpPr>
        <p:spPr>
          <a:xfrm>
            <a:off x="6270433" y="5220143"/>
            <a:ext cx="5566448" cy="355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Views para staging (sem materialização)</a:t>
            </a:r>
            <a:endParaRPr lang="en-US" sz="1000" dirty="0"/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A35DB35F-3CCC-57B1-C2B0-E13A5856D406}"/>
              </a:ext>
            </a:extLst>
          </p:cNvPr>
          <p:cNvSpPr/>
          <p:nvPr/>
        </p:nvSpPr>
        <p:spPr>
          <a:xfrm>
            <a:off x="6270433" y="5340714"/>
            <a:ext cx="5566442" cy="838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B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Camadas stg_* e int_* são views, não tabelas. O custo de storage fica nos marts. Para volumes maiores, converter para tables + refresh periódico via dbt run --select stg_*.</a:t>
            </a:r>
            <a:endParaRPr lang="en-US" sz="880" dirty="0"/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358EC5E4-9C7F-7511-38EA-5DDE4C7AA985}"/>
              </a:ext>
            </a:extLst>
          </p:cNvPr>
          <p:cNvSpPr txBox="1"/>
          <p:nvPr/>
        </p:nvSpPr>
        <p:spPr>
          <a:xfrm>
            <a:off x="253453" y="981250"/>
            <a:ext cx="1470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Performance</a:t>
            </a:r>
          </a:p>
        </p:txBody>
      </p:sp>
    </p:spTree>
    <p:extLst>
      <p:ext uri="{BB962C8B-B14F-4D97-AF65-F5344CB8AC3E}">
        <p14:creationId xmlns:p14="http://schemas.microsoft.com/office/powerpoint/2010/main" val="21386078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33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C2F24F-E476-AB9C-CE6F-0F0B32E63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Agrupar 13">
            <a:extLst>
              <a:ext uri="{FF2B5EF4-FFF2-40B4-BE49-F238E27FC236}">
                <a16:creationId xmlns:a16="http://schemas.microsoft.com/office/drawing/2014/main" id="{3EE5CCCD-E9B6-76CF-381D-570713BFEA0F}"/>
              </a:ext>
            </a:extLst>
          </p:cNvPr>
          <p:cNvGrpSpPr/>
          <p:nvPr/>
        </p:nvGrpSpPr>
        <p:grpSpPr>
          <a:xfrm>
            <a:off x="347756" y="213901"/>
            <a:ext cx="11475300" cy="359984"/>
            <a:chOff x="347756" y="213902"/>
            <a:chExt cx="11475300" cy="359984"/>
          </a:xfrm>
        </p:grpSpPr>
        <p:sp>
          <p:nvSpPr>
            <p:cNvPr id="18" name="Retângulo: Cantos Arredondados 17">
              <a:extLst>
                <a:ext uri="{FF2B5EF4-FFF2-40B4-BE49-F238E27FC236}">
                  <a16:creationId xmlns:a16="http://schemas.microsoft.com/office/drawing/2014/main" id="{22212555-3492-3894-1010-6103F7AE6B16}"/>
                </a:ext>
              </a:extLst>
            </p:cNvPr>
            <p:cNvSpPr/>
            <p:nvPr/>
          </p:nvSpPr>
          <p:spPr>
            <a:xfrm>
              <a:off x="9835375" y="306443"/>
              <a:ext cx="1987681" cy="17529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23000">
                  <a:srgbClr val="84B9EB"/>
                </a:gs>
                <a:gs pos="54000">
                  <a:srgbClr val="F5EB3F"/>
                </a:gs>
              </a:gsLst>
              <a:lin ang="0" scaled="1"/>
              <a:tileRect/>
            </a:gradFill>
            <a:ln>
              <a:solidFill>
                <a:srgbClr val="3333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16" name="Imagem 15">
              <a:extLst>
                <a:ext uri="{FF2B5EF4-FFF2-40B4-BE49-F238E27FC236}">
                  <a16:creationId xmlns:a16="http://schemas.microsoft.com/office/drawing/2014/main" id="{F6E5497C-CA2F-354F-2295-AFD1D9BFC2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7756" y="213902"/>
              <a:ext cx="1279943" cy="359984"/>
            </a:xfrm>
            <a:prstGeom prst="rect">
              <a:avLst/>
            </a:prstGeom>
          </p:spPr>
        </p:pic>
      </p:grpSp>
      <p:sp>
        <p:nvSpPr>
          <p:cNvPr id="19" name="Título 1">
            <a:extLst>
              <a:ext uri="{FF2B5EF4-FFF2-40B4-BE49-F238E27FC236}">
                <a16:creationId xmlns:a16="http://schemas.microsoft.com/office/drawing/2014/main" id="{CCA90576-8150-61DC-77FE-3A3E4AA6E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756" y="2286794"/>
            <a:ext cx="2725000" cy="642310"/>
          </a:xfrm>
        </p:spPr>
        <p:txBody>
          <a:bodyPr anchor="t">
            <a:normAutofit fontScale="90000"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SQL</a:t>
            </a:r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120773D0-F8A4-80A5-C3A4-BDE4ABACE324}"/>
              </a:ext>
            </a:extLst>
          </p:cNvPr>
          <p:cNvSpPr/>
          <p:nvPr/>
        </p:nvSpPr>
        <p:spPr>
          <a:xfrm>
            <a:off x="0" y="0"/>
            <a:ext cx="120682" cy="6858000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C0536FD2-F231-6A95-E559-6219A223F215}"/>
              </a:ext>
            </a:extLst>
          </p:cNvPr>
          <p:cNvSpPr/>
          <p:nvPr/>
        </p:nvSpPr>
        <p:spPr>
          <a:xfrm>
            <a:off x="347756" y="292910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8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Agregada • Métricas • Conceitual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41942650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C67A1-E50A-39C6-2850-1BFA2EA45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Agrupar 13">
            <a:extLst>
              <a:ext uri="{FF2B5EF4-FFF2-40B4-BE49-F238E27FC236}">
                <a16:creationId xmlns:a16="http://schemas.microsoft.com/office/drawing/2014/main" id="{33B8C9EF-E7EA-73DE-7C21-23C4B7933EAD}"/>
              </a:ext>
            </a:extLst>
          </p:cNvPr>
          <p:cNvGrpSpPr/>
          <p:nvPr/>
        </p:nvGrpSpPr>
        <p:grpSpPr>
          <a:xfrm>
            <a:off x="0" y="-2"/>
            <a:ext cx="12192000" cy="787791"/>
            <a:chOff x="0" y="-1"/>
            <a:chExt cx="12192000" cy="787791"/>
          </a:xfrm>
        </p:grpSpPr>
        <p:grpSp>
          <p:nvGrpSpPr>
            <p:cNvPr id="15" name="Agrupar 14">
              <a:extLst>
                <a:ext uri="{FF2B5EF4-FFF2-40B4-BE49-F238E27FC236}">
                  <a16:creationId xmlns:a16="http://schemas.microsoft.com/office/drawing/2014/main" id="{C9B25965-EE51-6E91-C318-48D441AB090D}"/>
                </a:ext>
              </a:extLst>
            </p:cNvPr>
            <p:cNvGrpSpPr/>
            <p:nvPr/>
          </p:nvGrpSpPr>
          <p:grpSpPr>
            <a:xfrm>
              <a:off x="0" y="-1"/>
              <a:ext cx="12192000" cy="787791"/>
              <a:chOff x="0" y="-1"/>
              <a:chExt cx="12192000" cy="787791"/>
            </a:xfrm>
          </p:grpSpPr>
          <p:sp>
            <p:nvSpPr>
              <p:cNvPr id="17" name="Shape 0">
                <a:extLst>
                  <a:ext uri="{FF2B5EF4-FFF2-40B4-BE49-F238E27FC236}">
                    <a16:creationId xmlns:a16="http://schemas.microsoft.com/office/drawing/2014/main" id="{BDD72E81-5066-7104-A717-1880EF44D8D5}"/>
                  </a:ext>
                </a:extLst>
              </p:cNvPr>
              <p:cNvSpPr/>
              <p:nvPr/>
            </p:nvSpPr>
            <p:spPr>
              <a:xfrm>
                <a:off x="0" y="-1"/>
                <a:ext cx="12192000" cy="787791"/>
              </a:xfrm>
              <a:prstGeom prst="rect">
                <a:avLst/>
              </a:prstGeom>
              <a:solidFill>
                <a:srgbClr val="333333"/>
              </a:solidFill>
              <a:ln w="12700">
                <a:solidFill>
                  <a:srgbClr val="333333"/>
                </a:solidFill>
                <a:prstDash val="solid"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8" name="Retângulo: Cantos Arredondados 17">
                <a:extLst>
                  <a:ext uri="{FF2B5EF4-FFF2-40B4-BE49-F238E27FC236}">
                    <a16:creationId xmlns:a16="http://schemas.microsoft.com/office/drawing/2014/main" id="{37E8C0F9-1B58-3740-13CD-CCD315DD5814}"/>
                  </a:ext>
                </a:extLst>
              </p:cNvPr>
              <p:cNvSpPr/>
              <p:nvPr/>
            </p:nvSpPr>
            <p:spPr>
              <a:xfrm>
                <a:off x="9835375" y="306443"/>
                <a:ext cx="1987681" cy="175290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23000">
                    <a:srgbClr val="84B9EB"/>
                  </a:gs>
                  <a:gs pos="54000">
                    <a:srgbClr val="F5EB3F"/>
                  </a:gs>
                </a:gsLst>
                <a:lin ang="0" scaled="1"/>
                <a:tileRect/>
              </a:gradFill>
              <a:ln>
                <a:solidFill>
                  <a:srgbClr val="3333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pic>
          <p:nvPicPr>
            <p:cNvPr id="16" name="Imagem 15">
              <a:extLst>
                <a:ext uri="{FF2B5EF4-FFF2-40B4-BE49-F238E27FC236}">
                  <a16:creationId xmlns:a16="http://schemas.microsoft.com/office/drawing/2014/main" id="{1438C384-B3B3-F23C-7282-B7E1497644C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7756" y="213902"/>
              <a:ext cx="1279943" cy="359984"/>
            </a:xfrm>
            <a:prstGeom prst="rect">
              <a:avLst/>
            </a:prstGeom>
          </p:spPr>
        </p:pic>
      </p:grpSp>
      <p:sp>
        <p:nvSpPr>
          <p:cNvPr id="19" name="Título 1">
            <a:extLst>
              <a:ext uri="{FF2B5EF4-FFF2-40B4-BE49-F238E27FC236}">
                <a16:creationId xmlns:a16="http://schemas.microsoft.com/office/drawing/2014/main" id="{91DAA6DE-D6EA-F601-AB65-6EA8FD456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4636" y="72739"/>
            <a:ext cx="2093246" cy="642310"/>
          </a:xfrm>
        </p:spPr>
        <p:txBody>
          <a:bodyPr anchor="t">
            <a:normAutofit fontScale="90000"/>
          </a:bodyPr>
          <a:lstStyle/>
          <a:p>
            <a:r>
              <a:rPr lang="pt-BR" dirty="0">
                <a:solidFill>
                  <a:schemeClr val="bg1"/>
                </a:solidFill>
              </a:rPr>
              <a:t>| </a:t>
            </a:r>
            <a:r>
              <a:rPr lang="pt-BR" sz="3100" dirty="0">
                <a:solidFill>
                  <a:schemeClr val="bg1"/>
                </a:solidFill>
              </a:rPr>
              <a:t>SQL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AD71AC43-DEE8-FE46-2D5C-560EA1EE9C33}"/>
              </a:ext>
            </a:extLst>
          </p:cNvPr>
          <p:cNvSpPr/>
          <p:nvPr/>
        </p:nvSpPr>
        <p:spPr>
          <a:xfrm>
            <a:off x="0" y="0"/>
            <a:ext cx="61913" cy="787789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D0FE0BBF-F194-B624-6B15-100F69200E32}"/>
              </a:ext>
            </a:extLst>
          </p:cNvPr>
          <p:cNvSpPr/>
          <p:nvPr/>
        </p:nvSpPr>
        <p:spPr>
          <a:xfrm>
            <a:off x="222545" y="1503395"/>
            <a:ext cx="5763326" cy="474323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" name="Shape 6">
            <a:extLst>
              <a:ext uri="{FF2B5EF4-FFF2-40B4-BE49-F238E27FC236}">
                <a16:creationId xmlns:a16="http://schemas.microsoft.com/office/drawing/2014/main" id="{DF584AC0-BF3E-E957-9BFD-9E2E742F658E}"/>
              </a:ext>
            </a:extLst>
          </p:cNvPr>
          <p:cNvSpPr/>
          <p:nvPr/>
        </p:nvSpPr>
        <p:spPr>
          <a:xfrm>
            <a:off x="6292339" y="1163010"/>
            <a:ext cx="5530717" cy="680769"/>
          </a:xfrm>
          <a:prstGeom prst="rect">
            <a:avLst/>
          </a:prstGeom>
          <a:solidFill>
            <a:srgbClr val="F0F4FA"/>
          </a:solidFill>
          <a:ln w="1270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7">
            <a:extLst>
              <a:ext uri="{FF2B5EF4-FFF2-40B4-BE49-F238E27FC236}">
                <a16:creationId xmlns:a16="http://schemas.microsoft.com/office/drawing/2014/main" id="{E418239A-3515-5864-823F-64D46E3F300E}"/>
              </a:ext>
            </a:extLst>
          </p:cNvPr>
          <p:cNvSpPr/>
          <p:nvPr/>
        </p:nvSpPr>
        <p:spPr>
          <a:xfrm>
            <a:off x="6292339" y="1163010"/>
            <a:ext cx="72773" cy="680769"/>
          </a:xfrm>
          <a:prstGeom prst="rect">
            <a:avLst/>
          </a:prstGeom>
          <a:solidFill>
            <a:srgbClr val="1659A8"/>
          </a:solidFill>
          <a:ln w="12700">
            <a:solidFill>
              <a:srgbClr val="1659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908025B9-5C70-856F-6312-9B39F6927A36}"/>
              </a:ext>
            </a:extLst>
          </p:cNvPr>
          <p:cNvSpPr/>
          <p:nvPr/>
        </p:nvSpPr>
        <p:spPr>
          <a:xfrm>
            <a:off x="6624907" y="1190442"/>
            <a:ext cx="5071265" cy="320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active_collaborators</a:t>
            </a:r>
            <a:endParaRPr lang="en-US" sz="1200" dirty="0"/>
          </a:p>
        </p:txBody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9494327F-3E1A-BF0C-B05E-D69B4F55B998}"/>
              </a:ext>
            </a:extLst>
          </p:cNvPr>
          <p:cNvSpPr/>
          <p:nvPr/>
        </p:nvSpPr>
        <p:spPr>
          <a:xfrm>
            <a:off x="6624906" y="1409898"/>
            <a:ext cx="5071279" cy="407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COUNT(DISTINCT username) no grão pós-elegibilidade</a:t>
            </a:r>
            <a:endParaRPr lang="en-US" sz="1000" dirty="0"/>
          </a:p>
        </p:txBody>
      </p:sp>
      <p:sp>
        <p:nvSpPr>
          <p:cNvPr id="8" name="Shape 10">
            <a:extLst>
              <a:ext uri="{FF2B5EF4-FFF2-40B4-BE49-F238E27FC236}">
                <a16:creationId xmlns:a16="http://schemas.microsoft.com/office/drawing/2014/main" id="{49698C45-1C3D-82BE-E6BD-18EE6A716C54}"/>
              </a:ext>
            </a:extLst>
          </p:cNvPr>
          <p:cNvSpPr/>
          <p:nvPr/>
        </p:nvSpPr>
        <p:spPr>
          <a:xfrm>
            <a:off x="6292339" y="1930029"/>
            <a:ext cx="5530717" cy="680769"/>
          </a:xfrm>
          <a:prstGeom prst="rect">
            <a:avLst/>
          </a:prstGeom>
          <a:solidFill>
            <a:srgbClr val="F0F4FA"/>
          </a:solidFill>
          <a:ln w="1270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11">
            <a:extLst>
              <a:ext uri="{FF2B5EF4-FFF2-40B4-BE49-F238E27FC236}">
                <a16:creationId xmlns:a16="http://schemas.microsoft.com/office/drawing/2014/main" id="{87160087-DE76-9299-6A8A-CDD6CFE8BB07}"/>
              </a:ext>
            </a:extLst>
          </p:cNvPr>
          <p:cNvSpPr/>
          <p:nvPr/>
        </p:nvSpPr>
        <p:spPr>
          <a:xfrm>
            <a:off x="6292339" y="1930029"/>
            <a:ext cx="72773" cy="680769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12">
            <a:extLst>
              <a:ext uri="{FF2B5EF4-FFF2-40B4-BE49-F238E27FC236}">
                <a16:creationId xmlns:a16="http://schemas.microsoft.com/office/drawing/2014/main" id="{C63A73F0-1E73-2867-A034-2F97A8C5BD29}"/>
              </a:ext>
            </a:extLst>
          </p:cNvPr>
          <p:cNvSpPr/>
          <p:nvPr/>
        </p:nvSpPr>
        <p:spPr>
          <a:xfrm>
            <a:off x="6624906" y="1957461"/>
            <a:ext cx="5071266" cy="320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potential_users</a:t>
            </a:r>
            <a:endParaRPr lang="en-US" sz="1200" dirty="0"/>
          </a:p>
        </p:txBody>
      </p:sp>
      <p:sp>
        <p:nvSpPr>
          <p:cNvPr id="12" name="Text 13">
            <a:extLst>
              <a:ext uri="{FF2B5EF4-FFF2-40B4-BE49-F238E27FC236}">
                <a16:creationId xmlns:a16="http://schemas.microsoft.com/office/drawing/2014/main" id="{F6F4633C-5D3F-E0E8-E905-4E0EDDF141E7}"/>
              </a:ext>
            </a:extLst>
          </p:cNvPr>
          <p:cNvSpPr/>
          <p:nvPr/>
        </p:nvSpPr>
        <p:spPr>
          <a:xfrm>
            <a:off x="6624906" y="2176917"/>
            <a:ext cx="5071280" cy="407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COUNT(DISTINCT CASE WHEN is_potential_user THEN username END)</a:t>
            </a:r>
            <a:endParaRPr lang="en-US" sz="1000" dirty="0"/>
          </a:p>
        </p:txBody>
      </p:sp>
      <p:sp>
        <p:nvSpPr>
          <p:cNvPr id="13" name="Shape 14">
            <a:extLst>
              <a:ext uri="{FF2B5EF4-FFF2-40B4-BE49-F238E27FC236}">
                <a16:creationId xmlns:a16="http://schemas.microsoft.com/office/drawing/2014/main" id="{7DB3C005-B2E0-564A-21B2-6C38DB68173D}"/>
              </a:ext>
            </a:extLst>
          </p:cNvPr>
          <p:cNvSpPr/>
          <p:nvPr/>
        </p:nvSpPr>
        <p:spPr>
          <a:xfrm>
            <a:off x="6292339" y="2697049"/>
            <a:ext cx="5530717" cy="680770"/>
          </a:xfrm>
          <a:prstGeom prst="rect">
            <a:avLst/>
          </a:prstGeom>
          <a:solidFill>
            <a:srgbClr val="F0F4FA"/>
          </a:solidFill>
          <a:ln w="1270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5">
            <a:extLst>
              <a:ext uri="{FF2B5EF4-FFF2-40B4-BE49-F238E27FC236}">
                <a16:creationId xmlns:a16="http://schemas.microsoft.com/office/drawing/2014/main" id="{8C69A072-0CD9-4372-884F-D07692A2A8F5}"/>
              </a:ext>
            </a:extLst>
          </p:cNvPr>
          <p:cNvSpPr/>
          <p:nvPr/>
        </p:nvSpPr>
        <p:spPr>
          <a:xfrm>
            <a:off x="6292339" y="2697049"/>
            <a:ext cx="72773" cy="68077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F3D5B88B-CAA2-24BA-FBF0-779EAFCCFFD6}"/>
              </a:ext>
            </a:extLst>
          </p:cNvPr>
          <p:cNvSpPr/>
          <p:nvPr/>
        </p:nvSpPr>
        <p:spPr>
          <a:xfrm>
            <a:off x="6624906" y="2724480"/>
            <a:ext cx="5071266" cy="320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data_driven_users</a:t>
            </a:r>
            <a:endParaRPr lang="en-US" sz="1200" dirty="0"/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397D63CB-B9E3-7A04-C72A-0034C191AEA4}"/>
              </a:ext>
            </a:extLst>
          </p:cNvPr>
          <p:cNvSpPr/>
          <p:nvPr/>
        </p:nvSpPr>
        <p:spPr>
          <a:xfrm>
            <a:off x="6624906" y="2943936"/>
            <a:ext cx="5071280" cy="407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COUNT(DISTINCT CASE WHEN is_data_user THEN username END)</a:t>
            </a:r>
            <a:endParaRPr lang="en-US" sz="1000" dirty="0"/>
          </a:p>
        </p:txBody>
      </p:sp>
      <p:sp>
        <p:nvSpPr>
          <p:cNvPr id="23" name="Shape 18">
            <a:extLst>
              <a:ext uri="{FF2B5EF4-FFF2-40B4-BE49-F238E27FC236}">
                <a16:creationId xmlns:a16="http://schemas.microsoft.com/office/drawing/2014/main" id="{0EE91094-8FD8-54A3-7BE8-B135D26AD2CD}"/>
              </a:ext>
            </a:extLst>
          </p:cNvPr>
          <p:cNvSpPr/>
          <p:nvPr/>
        </p:nvSpPr>
        <p:spPr>
          <a:xfrm>
            <a:off x="6292339" y="3465731"/>
            <a:ext cx="5530717" cy="680770"/>
          </a:xfrm>
          <a:prstGeom prst="rect">
            <a:avLst/>
          </a:prstGeom>
          <a:solidFill>
            <a:srgbClr val="F0F4FA"/>
          </a:solidFill>
          <a:ln w="1270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19">
            <a:extLst>
              <a:ext uri="{FF2B5EF4-FFF2-40B4-BE49-F238E27FC236}">
                <a16:creationId xmlns:a16="http://schemas.microsoft.com/office/drawing/2014/main" id="{D7D1A5B6-AA8E-0AA1-2FF5-B5FAC7BEC8D7}"/>
              </a:ext>
            </a:extLst>
          </p:cNvPr>
          <p:cNvSpPr/>
          <p:nvPr/>
        </p:nvSpPr>
        <p:spPr>
          <a:xfrm>
            <a:off x="6292339" y="3465730"/>
            <a:ext cx="72773" cy="680771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7BE02135-2090-70C2-ADCF-91440C2F66CA}"/>
              </a:ext>
            </a:extLst>
          </p:cNvPr>
          <p:cNvSpPr/>
          <p:nvPr/>
        </p:nvSpPr>
        <p:spPr>
          <a:xfrm>
            <a:off x="6624906" y="3493162"/>
            <a:ext cx="5071266" cy="320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share_per_ddi_classification</a:t>
            </a:r>
            <a:endParaRPr lang="en-US" sz="1200" dirty="0"/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D21667B2-C238-D49C-39F1-919C7364883A}"/>
              </a:ext>
            </a:extLst>
          </p:cNvPr>
          <p:cNvSpPr/>
          <p:nvPr/>
        </p:nvSpPr>
        <p:spPr>
          <a:xfrm>
            <a:off x="6624906" y="3712618"/>
            <a:ext cx="5071280" cy="407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potential_users * 100.0 / NULLIF(SUM(potential_users) OVER (PARTITION BY date_month, site, division, department), 0)</a:t>
            </a:r>
            <a:endParaRPr lang="en-US" sz="1000" dirty="0"/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6568C086-D735-BEF8-FB77-FBE09E20216F}"/>
              </a:ext>
            </a:extLst>
          </p:cNvPr>
          <p:cNvSpPr/>
          <p:nvPr/>
        </p:nvSpPr>
        <p:spPr>
          <a:xfrm>
            <a:off x="6292339" y="4232751"/>
            <a:ext cx="5530717" cy="680771"/>
          </a:xfrm>
          <a:prstGeom prst="rect">
            <a:avLst/>
          </a:prstGeom>
          <a:solidFill>
            <a:srgbClr val="F0F4FA"/>
          </a:solidFill>
          <a:ln w="1270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Shape 23">
            <a:extLst>
              <a:ext uri="{FF2B5EF4-FFF2-40B4-BE49-F238E27FC236}">
                <a16:creationId xmlns:a16="http://schemas.microsoft.com/office/drawing/2014/main" id="{3A5B80F1-42BC-EFE3-8DE4-4265CD9E17F9}"/>
              </a:ext>
            </a:extLst>
          </p:cNvPr>
          <p:cNvSpPr/>
          <p:nvPr/>
        </p:nvSpPr>
        <p:spPr>
          <a:xfrm>
            <a:off x="6292339" y="4232751"/>
            <a:ext cx="72773" cy="680771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4">
            <a:extLst>
              <a:ext uri="{FF2B5EF4-FFF2-40B4-BE49-F238E27FC236}">
                <a16:creationId xmlns:a16="http://schemas.microsoft.com/office/drawing/2014/main" id="{2BBE3452-2260-6388-DC22-CDD8D9BFB4BF}"/>
              </a:ext>
            </a:extLst>
          </p:cNvPr>
          <p:cNvSpPr/>
          <p:nvPr/>
        </p:nvSpPr>
        <p:spPr>
          <a:xfrm>
            <a:off x="6624906" y="4260183"/>
            <a:ext cx="5071266" cy="320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coverage_rate</a:t>
            </a:r>
            <a:endParaRPr lang="en-US" sz="1200" dirty="0"/>
          </a:p>
        </p:txBody>
      </p:sp>
      <p:sp>
        <p:nvSpPr>
          <p:cNvPr id="30" name="Text 25">
            <a:extLst>
              <a:ext uri="{FF2B5EF4-FFF2-40B4-BE49-F238E27FC236}">
                <a16:creationId xmlns:a16="http://schemas.microsoft.com/office/drawing/2014/main" id="{6F5700AA-3AB1-1A81-9058-B62D08CC05FD}"/>
              </a:ext>
            </a:extLst>
          </p:cNvPr>
          <p:cNvSpPr/>
          <p:nvPr/>
        </p:nvSpPr>
        <p:spPr>
          <a:xfrm>
            <a:off x="6624906" y="4479639"/>
            <a:ext cx="5071280" cy="407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collaborators_with_ddi * 100.0 / NULLIF(active_collaborators_total, 0)</a:t>
            </a:r>
            <a:endParaRPr lang="en-US" sz="1000" dirty="0"/>
          </a:p>
        </p:txBody>
      </p:sp>
      <p:sp>
        <p:nvSpPr>
          <p:cNvPr id="31" name="Shape 26">
            <a:extLst>
              <a:ext uri="{FF2B5EF4-FFF2-40B4-BE49-F238E27FC236}">
                <a16:creationId xmlns:a16="http://schemas.microsoft.com/office/drawing/2014/main" id="{D0719B08-976D-B9C0-4D64-0E932AD428D0}"/>
              </a:ext>
            </a:extLst>
          </p:cNvPr>
          <p:cNvSpPr/>
          <p:nvPr/>
        </p:nvSpPr>
        <p:spPr>
          <a:xfrm>
            <a:off x="6292339" y="4999773"/>
            <a:ext cx="5530717" cy="680772"/>
          </a:xfrm>
          <a:prstGeom prst="rect">
            <a:avLst/>
          </a:prstGeom>
          <a:solidFill>
            <a:srgbClr val="F0F4FA"/>
          </a:solidFill>
          <a:ln w="1270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Shape 27">
            <a:extLst>
              <a:ext uri="{FF2B5EF4-FFF2-40B4-BE49-F238E27FC236}">
                <a16:creationId xmlns:a16="http://schemas.microsoft.com/office/drawing/2014/main" id="{94152B6A-FF54-96E2-51DA-4CCD42AE2D90}"/>
              </a:ext>
            </a:extLst>
          </p:cNvPr>
          <p:cNvSpPr/>
          <p:nvPr/>
        </p:nvSpPr>
        <p:spPr>
          <a:xfrm>
            <a:off x="6292339" y="4999773"/>
            <a:ext cx="72773" cy="680772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28">
            <a:extLst>
              <a:ext uri="{FF2B5EF4-FFF2-40B4-BE49-F238E27FC236}">
                <a16:creationId xmlns:a16="http://schemas.microsoft.com/office/drawing/2014/main" id="{611FCD09-B0F1-23A0-6FA8-6ED72DA79839}"/>
              </a:ext>
            </a:extLst>
          </p:cNvPr>
          <p:cNvSpPr/>
          <p:nvPr/>
        </p:nvSpPr>
        <p:spPr>
          <a:xfrm>
            <a:off x="6624906" y="5027204"/>
            <a:ext cx="5071266" cy="320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transition_rate</a:t>
            </a:r>
            <a:endParaRPr lang="en-US" sz="1200" dirty="0"/>
          </a:p>
        </p:txBody>
      </p:sp>
      <p:sp>
        <p:nvSpPr>
          <p:cNvPr id="34" name="Text 29">
            <a:extLst>
              <a:ext uri="{FF2B5EF4-FFF2-40B4-BE49-F238E27FC236}">
                <a16:creationId xmlns:a16="http://schemas.microsoft.com/office/drawing/2014/main" id="{AC9BAC96-FBC7-A229-B580-8C8BE4251295}"/>
              </a:ext>
            </a:extLst>
          </p:cNvPr>
          <p:cNvSpPr/>
          <p:nvPr/>
        </p:nvSpPr>
        <p:spPr>
          <a:xfrm>
            <a:off x="6624906" y="5246660"/>
            <a:ext cx="5071280" cy="407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(potential_users - LAG(potential_users)) / NULLIF(LAG(potential_users), 0) * 100 OVER (PARTITION BY site, division, department, user_classification ORDER BY date_month)</a:t>
            </a:r>
            <a:endParaRPr lang="en-US" sz="1000" dirty="0"/>
          </a:p>
        </p:txBody>
      </p:sp>
      <p:sp>
        <p:nvSpPr>
          <p:cNvPr id="35" name="Shape 30">
            <a:extLst>
              <a:ext uri="{FF2B5EF4-FFF2-40B4-BE49-F238E27FC236}">
                <a16:creationId xmlns:a16="http://schemas.microsoft.com/office/drawing/2014/main" id="{B33C9F52-D499-271F-F581-EBA1D932F7B4}"/>
              </a:ext>
            </a:extLst>
          </p:cNvPr>
          <p:cNvSpPr/>
          <p:nvPr/>
        </p:nvSpPr>
        <p:spPr>
          <a:xfrm>
            <a:off x="6292339" y="5766796"/>
            <a:ext cx="5530717" cy="680773"/>
          </a:xfrm>
          <a:prstGeom prst="rect">
            <a:avLst/>
          </a:prstGeom>
          <a:solidFill>
            <a:srgbClr val="F0F4FA"/>
          </a:solidFill>
          <a:ln w="1270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Shape 31">
            <a:extLst>
              <a:ext uri="{FF2B5EF4-FFF2-40B4-BE49-F238E27FC236}">
                <a16:creationId xmlns:a16="http://schemas.microsoft.com/office/drawing/2014/main" id="{3A5D6C8F-692F-94B0-302D-5E07A5FE22E6}"/>
              </a:ext>
            </a:extLst>
          </p:cNvPr>
          <p:cNvSpPr/>
          <p:nvPr/>
        </p:nvSpPr>
        <p:spPr>
          <a:xfrm>
            <a:off x="6292339" y="5766796"/>
            <a:ext cx="72773" cy="680773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Text 32">
            <a:extLst>
              <a:ext uri="{FF2B5EF4-FFF2-40B4-BE49-F238E27FC236}">
                <a16:creationId xmlns:a16="http://schemas.microsoft.com/office/drawing/2014/main" id="{E1FC170D-F52D-0BD4-2622-8030965072A8}"/>
              </a:ext>
            </a:extLst>
          </p:cNvPr>
          <p:cNvSpPr/>
          <p:nvPr/>
        </p:nvSpPr>
        <p:spPr>
          <a:xfrm>
            <a:off x="6624906" y="5794228"/>
            <a:ext cx="5071266" cy="320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gap_to_target</a:t>
            </a:r>
            <a:endParaRPr lang="en-US" sz="1200" dirty="0"/>
          </a:p>
        </p:txBody>
      </p:sp>
      <p:sp>
        <p:nvSpPr>
          <p:cNvPr id="38" name="Text 33">
            <a:extLst>
              <a:ext uri="{FF2B5EF4-FFF2-40B4-BE49-F238E27FC236}">
                <a16:creationId xmlns:a16="http://schemas.microsoft.com/office/drawing/2014/main" id="{D4BE202F-462B-1382-6308-9899CACBC6EF}"/>
              </a:ext>
            </a:extLst>
          </p:cNvPr>
          <p:cNvSpPr/>
          <p:nvPr/>
        </p:nvSpPr>
        <p:spPr>
          <a:xfrm>
            <a:off x="6624906" y="6013684"/>
            <a:ext cx="5071280" cy="407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potential_users - PERCENTILE_CONT(0.5) WITHIN GROUP (ORDER BY total_potential_in_dept) particionado por (date_month, site, division)</a:t>
            </a:r>
            <a:endParaRPr lang="en-US" sz="1000" dirty="0"/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E6C368A6-ABDD-8667-3698-064E50C3872D}"/>
              </a:ext>
            </a:extLst>
          </p:cNvPr>
          <p:cNvSpPr txBox="1"/>
          <p:nvPr/>
        </p:nvSpPr>
        <p:spPr>
          <a:xfrm>
            <a:off x="212775" y="989577"/>
            <a:ext cx="5782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Tabela mensal agregada com métricas (</a:t>
            </a:r>
            <a:r>
              <a:rPr lang="pt-BR" b="1" dirty="0" err="1"/>
              <a:t>agg_ddi_month</a:t>
            </a:r>
            <a:r>
              <a:rPr lang="pt-BR" dirty="0"/>
              <a:t>)</a:t>
            </a:r>
          </a:p>
        </p:txBody>
      </p:sp>
      <p:sp>
        <p:nvSpPr>
          <p:cNvPr id="40" name="Text 5">
            <a:extLst>
              <a:ext uri="{FF2B5EF4-FFF2-40B4-BE49-F238E27FC236}">
                <a16:creationId xmlns:a16="http://schemas.microsoft.com/office/drawing/2014/main" id="{BF994F29-AC70-C6A4-F021-BCBCE5212334}"/>
              </a:ext>
            </a:extLst>
          </p:cNvPr>
          <p:cNvSpPr/>
          <p:nvPr/>
        </p:nvSpPr>
        <p:spPr>
          <a:xfrm>
            <a:off x="347755" y="1623855"/>
            <a:ext cx="5496049" cy="44905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850" dirty="0">
                <a:solidFill>
                  <a:schemeClr val="tx2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850" dirty="0">
              <a:solidFill>
                <a:schemeClr val="tx2">
                  <a:lumMod val="50000"/>
                  <a:lumOff val="50000"/>
                </a:schemeClr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50" dirty="0">
                <a:solidFill>
                  <a:schemeClr val="accent6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① Dimensões (3.1.1)</a:t>
            </a:r>
            <a:endParaRPr lang="en-US" sz="850"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date_month</a:t>
            </a: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8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site,</a:t>
            </a:r>
            <a:endParaRPr lang="en-US" sz="8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division,</a:t>
            </a:r>
            <a:endParaRPr lang="en-US" sz="8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department,</a:t>
            </a:r>
            <a:endParaRPr lang="en-US" sz="8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user_classification,</a:t>
            </a:r>
            <a:endParaRPr lang="en-US" sz="850" dirty="0"/>
          </a:p>
          <a:p>
            <a:pPr marL="0" indent="0">
              <a:lnSpc>
                <a:spcPct val="150000"/>
              </a:lnSpc>
              <a:buNone/>
            </a:pPr>
            <a:endParaRPr lang="en-US" sz="8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50" dirty="0">
                <a:solidFill>
                  <a:schemeClr val="accent6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② Métricas (3.1.2)</a:t>
            </a:r>
            <a:endParaRPr lang="en-US" sz="850"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active_collaborators,</a:t>
            </a:r>
            <a:endParaRPr lang="en-US" sz="8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potential_users,</a:t>
            </a:r>
            <a:endParaRPr lang="en-US" sz="8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data_driven_users,</a:t>
            </a:r>
            <a:endParaRPr lang="en-US" sz="8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share_per_ddi_classification,   </a:t>
            </a:r>
            <a:r>
              <a:rPr lang="en-US" sz="850" dirty="0">
                <a:solidFill>
                  <a:schemeClr val="accent6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% potenciais por classif no dept-mês</a:t>
            </a:r>
            <a:endParaRPr lang="en-US" sz="850"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coverage_rate,                  </a:t>
            </a:r>
            <a:r>
              <a:rPr lang="en-US" sz="850" dirty="0">
                <a:solidFill>
                  <a:schemeClr val="accent6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% ativos com registro DDI no mês</a:t>
            </a:r>
            <a:endParaRPr lang="en-US" sz="850"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transition_rate,                </a:t>
            </a:r>
            <a:r>
              <a:rPr lang="en-US" sz="850" dirty="0">
                <a:solidFill>
                  <a:schemeClr val="accent6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Δ% potential_users MoM (LAG)</a:t>
            </a:r>
            <a:endParaRPr lang="en-US" sz="850"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gap_to_target                   </a:t>
            </a:r>
            <a:r>
              <a:rPr lang="en-US" sz="850" dirty="0">
                <a:solidFill>
                  <a:schemeClr val="accent6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vs. mediana dept na divisão</a:t>
            </a:r>
            <a:endParaRPr lang="en-US" sz="850"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8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850" dirty="0">
                <a:solidFill>
                  <a:schemeClr val="tx2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analytics.agg_ddi_month</a:t>
            </a:r>
            <a:endParaRPr lang="en-US" sz="850" dirty="0">
              <a:solidFill>
                <a:srgbClr val="E6EDF3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850" dirty="0">
              <a:solidFill>
                <a:schemeClr val="tx2">
                  <a:lumMod val="50000"/>
                  <a:lumOff val="50000"/>
                </a:schemeClr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850" dirty="0">
                <a:solidFill>
                  <a:schemeClr val="tx2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</a:t>
            </a: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date_month, site, division, department, user_classification;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27463723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39821-AE5B-54A4-D599-BAE0A22BF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Agrupar 13">
            <a:extLst>
              <a:ext uri="{FF2B5EF4-FFF2-40B4-BE49-F238E27FC236}">
                <a16:creationId xmlns:a16="http://schemas.microsoft.com/office/drawing/2014/main" id="{0C626972-F388-6133-9377-48122CC2B11F}"/>
              </a:ext>
            </a:extLst>
          </p:cNvPr>
          <p:cNvGrpSpPr/>
          <p:nvPr/>
        </p:nvGrpSpPr>
        <p:grpSpPr>
          <a:xfrm>
            <a:off x="0" y="-2"/>
            <a:ext cx="12192000" cy="787791"/>
            <a:chOff x="0" y="-1"/>
            <a:chExt cx="12192000" cy="787791"/>
          </a:xfrm>
        </p:grpSpPr>
        <p:grpSp>
          <p:nvGrpSpPr>
            <p:cNvPr id="15" name="Agrupar 14">
              <a:extLst>
                <a:ext uri="{FF2B5EF4-FFF2-40B4-BE49-F238E27FC236}">
                  <a16:creationId xmlns:a16="http://schemas.microsoft.com/office/drawing/2014/main" id="{17A9EC27-53EC-59CB-B8B3-8338570BF6D6}"/>
                </a:ext>
              </a:extLst>
            </p:cNvPr>
            <p:cNvGrpSpPr/>
            <p:nvPr/>
          </p:nvGrpSpPr>
          <p:grpSpPr>
            <a:xfrm>
              <a:off x="0" y="-1"/>
              <a:ext cx="12192000" cy="787791"/>
              <a:chOff x="0" y="-1"/>
              <a:chExt cx="12192000" cy="787791"/>
            </a:xfrm>
          </p:grpSpPr>
          <p:sp>
            <p:nvSpPr>
              <p:cNvPr id="17" name="Shape 0">
                <a:extLst>
                  <a:ext uri="{FF2B5EF4-FFF2-40B4-BE49-F238E27FC236}">
                    <a16:creationId xmlns:a16="http://schemas.microsoft.com/office/drawing/2014/main" id="{EA86037B-67B3-3F9A-9D9F-779EB8FEE3CE}"/>
                  </a:ext>
                </a:extLst>
              </p:cNvPr>
              <p:cNvSpPr/>
              <p:nvPr/>
            </p:nvSpPr>
            <p:spPr>
              <a:xfrm>
                <a:off x="0" y="-1"/>
                <a:ext cx="12192000" cy="787791"/>
              </a:xfrm>
              <a:prstGeom prst="rect">
                <a:avLst/>
              </a:prstGeom>
              <a:solidFill>
                <a:srgbClr val="333333"/>
              </a:solidFill>
              <a:ln w="12700">
                <a:solidFill>
                  <a:srgbClr val="333333"/>
                </a:solidFill>
                <a:prstDash val="solid"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8" name="Retângulo: Cantos Arredondados 17">
                <a:extLst>
                  <a:ext uri="{FF2B5EF4-FFF2-40B4-BE49-F238E27FC236}">
                    <a16:creationId xmlns:a16="http://schemas.microsoft.com/office/drawing/2014/main" id="{2DE3E52A-6279-C0EF-699B-9017046417C0}"/>
                  </a:ext>
                </a:extLst>
              </p:cNvPr>
              <p:cNvSpPr/>
              <p:nvPr/>
            </p:nvSpPr>
            <p:spPr>
              <a:xfrm>
                <a:off x="9835375" y="306443"/>
                <a:ext cx="1987681" cy="175290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23000">
                    <a:srgbClr val="84B9EB"/>
                  </a:gs>
                  <a:gs pos="54000">
                    <a:srgbClr val="F5EB3F"/>
                  </a:gs>
                </a:gsLst>
                <a:lin ang="0" scaled="1"/>
                <a:tileRect/>
              </a:gradFill>
              <a:ln>
                <a:solidFill>
                  <a:srgbClr val="3333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pic>
          <p:nvPicPr>
            <p:cNvPr id="16" name="Imagem 15">
              <a:extLst>
                <a:ext uri="{FF2B5EF4-FFF2-40B4-BE49-F238E27FC236}">
                  <a16:creationId xmlns:a16="http://schemas.microsoft.com/office/drawing/2014/main" id="{786767A0-0BCB-7993-39F0-DFE0355A844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7756" y="213902"/>
              <a:ext cx="1279943" cy="359984"/>
            </a:xfrm>
            <a:prstGeom prst="rect">
              <a:avLst/>
            </a:prstGeom>
          </p:spPr>
        </p:pic>
      </p:grpSp>
      <p:sp>
        <p:nvSpPr>
          <p:cNvPr id="19" name="Título 1">
            <a:extLst>
              <a:ext uri="{FF2B5EF4-FFF2-40B4-BE49-F238E27FC236}">
                <a16:creationId xmlns:a16="http://schemas.microsoft.com/office/drawing/2014/main" id="{DB7A55E3-4F45-CB42-B709-A91C8BBFE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4636" y="72739"/>
            <a:ext cx="5642714" cy="642310"/>
          </a:xfrm>
        </p:spPr>
        <p:txBody>
          <a:bodyPr anchor="t">
            <a:normAutofit fontScale="90000"/>
          </a:bodyPr>
          <a:lstStyle/>
          <a:p>
            <a:r>
              <a:rPr lang="pt-BR" dirty="0">
                <a:solidFill>
                  <a:schemeClr val="bg1"/>
                </a:solidFill>
              </a:rPr>
              <a:t>| </a:t>
            </a:r>
            <a:r>
              <a:rPr lang="pt-BR" sz="3100" dirty="0">
                <a:solidFill>
                  <a:schemeClr val="bg1"/>
                </a:solidFill>
              </a:rPr>
              <a:t>Exemplos com </a:t>
            </a:r>
            <a:r>
              <a:rPr lang="pt-BR" sz="3100" b="1" dirty="0">
                <a:solidFill>
                  <a:schemeClr val="bg1"/>
                </a:solidFill>
              </a:rPr>
              <a:t>TB_DDI</a:t>
            </a:r>
            <a:endParaRPr lang="pt-BR" b="1" dirty="0">
              <a:solidFill>
                <a:schemeClr val="bg1"/>
              </a:solidFill>
            </a:endParaRPr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F4F658ED-FF4C-61EC-A345-5602EA0E297B}"/>
              </a:ext>
            </a:extLst>
          </p:cNvPr>
          <p:cNvSpPr/>
          <p:nvPr/>
        </p:nvSpPr>
        <p:spPr>
          <a:xfrm>
            <a:off x="0" y="0"/>
            <a:ext cx="61913" cy="787789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53ACA23F-D365-C271-28A6-FFB19E45B502}"/>
              </a:ext>
            </a:extLst>
          </p:cNvPr>
          <p:cNvSpPr/>
          <p:nvPr/>
        </p:nvSpPr>
        <p:spPr>
          <a:xfrm>
            <a:off x="1449765" y="2155942"/>
            <a:ext cx="8741664" cy="320040"/>
          </a:xfrm>
          <a:prstGeom prst="rect">
            <a:avLst/>
          </a:prstGeom>
          <a:solidFill>
            <a:srgbClr val="333333"/>
          </a:solidFill>
          <a:ln w="12700">
            <a:solidFill>
              <a:schemeClr val="bg1">
                <a:lumMod val="85000"/>
              </a:scheme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3D323608-369F-7971-0841-045D96F5309D}"/>
              </a:ext>
            </a:extLst>
          </p:cNvPr>
          <p:cNvSpPr/>
          <p:nvPr/>
        </p:nvSpPr>
        <p:spPr>
          <a:xfrm>
            <a:off x="1522917" y="215594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hipotético: </a:t>
            </a:r>
            <a:r>
              <a:rPr lang="en-US" sz="950" b="1" dirty="0" err="1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duplicidade</a:t>
            </a:r>
            <a:r>
              <a:rPr lang="en-US" sz="950" b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 tb_ddi para um mesmo mês</a:t>
            </a:r>
            <a:endParaRPr lang="en-US" sz="950" dirty="0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401D23B2-C657-8208-47E1-980F5096A03A}"/>
              </a:ext>
            </a:extLst>
          </p:cNvPr>
          <p:cNvSpPr/>
          <p:nvPr/>
        </p:nvSpPr>
        <p:spPr>
          <a:xfrm>
            <a:off x="1449765" y="2503414"/>
            <a:ext cx="2176272" cy="301752"/>
          </a:xfrm>
          <a:prstGeom prst="rect">
            <a:avLst/>
          </a:prstGeom>
          <a:solidFill>
            <a:srgbClr val="1659A8"/>
          </a:solidFill>
          <a:ln w="1270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9974A5D6-2430-1E83-0952-2E698F2C9BEB}"/>
              </a:ext>
            </a:extLst>
          </p:cNvPr>
          <p:cNvSpPr/>
          <p:nvPr/>
        </p:nvSpPr>
        <p:spPr>
          <a:xfrm>
            <a:off x="1449765" y="2503414"/>
            <a:ext cx="2176272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</a:t>
            </a:r>
            <a:endParaRPr lang="en-US" sz="900" dirty="0"/>
          </a:p>
        </p:txBody>
      </p:sp>
      <p:sp>
        <p:nvSpPr>
          <p:cNvPr id="7" name="Shape 8">
            <a:extLst>
              <a:ext uri="{FF2B5EF4-FFF2-40B4-BE49-F238E27FC236}">
                <a16:creationId xmlns:a16="http://schemas.microsoft.com/office/drawing/2014/main" id="{6390B720-EE95-2086-1956-AB698C4A4894}"/>
              </a:ext>
            </a:extLst>
          </p:cNvPr>
          <p:cNvSpPr/>
          <p:nvPr/>
        </p:nvSpPr>
        <p:spPr>
          <a:xfrm>
            <a:off x="3644325" y="2503414"/>
            <a:ext cx="2176272" cy="301752"/>
          </a:xfrm>
          <a:prstGeom prst="rect">
            <a:avLst/>
          </a:prstGeom>
          <a:solidFill>
            <a:srgbClr val="1659A8"/>
          </a:solidFill>
          <a:ln w="1270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51F00230-8FB9-25AB-7B3E-770C7D2A0751}"/>
              </a:ext>
            </a:extLst>
          </p:cNvPr>
          <p:cNvSpPr/>
          <p:nvPr/>
        </p:nvSpPr>
        <p:spPr>
          <a:xfrm>
            <a:off x="3644325" y="2503414"/>
            <a:ext cx="2176272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date_month</a:t>
            </a:r>
            <a:endParaRPr lang="en-US" sz="900" dirty="0"/>
          </a:p>
        </p:txBody>
      </p:sp>
      <p:sp>
        <p:nvSpPr>
          <p:cNvPr id="9" name="Shape 10">
            <a:extLst>
              <a:ext uri="{FF2B5EF4-FFF2-40B4-BE49-F238E27FC236}">
                <a16:creationId xmlns:a16="http://schemas.microsoft.com/office/drawing/2014/main" id="{1326E645-BE86-8E65-7FED-509C422DD5B2}"/>
              </a:ext>
            </a:extLst>
          </p:cNvPr>
          <p:cNvSpPr/>
          <p:nvPr/>
        </p:nvSpPr>
        <p:spPr>
          <a:xfrm>
            <a:off x="5838885" y="2503414"/>
            <a:ext cx="2176272" cy="301752"/>
          </a:xfrm>
          <a:prstGeom prst="rect">
            <a:avLst/>
          </a:prstGeom>
          <a:solidFill>
            <a:srgbClr val="1659A8"/>
          </a:solidFill>
          <a:ln w="1270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D7590276-5826-FB0E-404F-882ADFE21B7E}"/>
              </a:ext>
            </a:extLst>
          </p:cNvPr>
          <p:cNvSpPr/>
          <p:nvPr/>
        </p:nvSpPr>
        <p:spPr>
          <a:xfrm>
            <a:off x="5838885" y="2503414"/>
            <a:ext cx="2176272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user_classification</a:t>
            </a:r>
            <a:endParaRPr lang="en-US" sz="900" dirty="0"/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D1C6BE91-9AF1-18BA-FEF9-629056C46F59}"/>
              </a:ext>
            </a:extLst>
          </p:cNvPr>
          <p:cNvSpPr/>
          <p:nvPr/>
        </p:nvSpPr>
        <p:spPr>
          <a:xfrm>
            <a:off x="8033445" y="2503414"/>
            <a:ext cx="2176272" cy="301752"/>
          </a:xfrm>
          <a:prstGeom prst="rect">
            <a:avLst/>
          </a:prstGeom>
          <a:solidFill>
            <a:srgbClr val="1659A8"/>
          </a:solidFill>
          <a:ln w="1270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3">
            <a:extLst>
              <a:ext uri="{FF2B5EF4-FFF2-40B4-BE49-F238E27FC236}">
                <a16:creationId xmlns:a16="http://schemas.microsoft.com/office/drawing/2014/main" id="{1623C95B-166E-755D-7E86-182297473911}"/>
              </a:ext>
            </a:extLst>
          </p:cNvPr>
          <p:cNvSpPr/>
          <p:nvPr/>
        </p:nvSpPr>
        <p:spPr>
          <a:xfrm>
            <a:off x="8033445" y="2503414"/>
            <a:ext cx="2176272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is_data_user</a:t>
            </a:r>
            <a:endParaRPr lang="en-US" sz="900" dirty="0"/>
          </a:p>
        </p:txBody>
      </p:sp>
      <p:sp>
        <p:nvSpPr>
          <p:cNvPr id="20" name="Shape 14">
            <a:extLst>
              <a:ext uri="{FF2B5EF4-FFF2-40B4-BE49-F238E27FC236}">
                <a16:creationId xmlns:a16="http://schemas.microsoft.com/office/drawing/2014/main" id="{13F0F4FB-14D4-87AD-ADC5-E853BD1C68F9}"/>
              </a:ext>
            </a:extLst>
          </p:cNvPr>
          <p:cNvSpPr/>
          <p:nvPr/>
        </p:nvSpPr>
        <p:spPr>
          <a:xfrm>
            <a:off x="1449765" y="2823454"/>
            <a:ext cx="2176272" cy="301752"/>
          </a:xfrm>
          <a:prstGeom prst="rect">
            <a:avLst/>
          </a:prstGeom>
          <a:solidFill>
            <a:srgbClr val="F0F4FA"/>
          </a:solidFill>
          <a:ln w="1270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F8A366F3-B285-7EFF-64F8-2971FEDF3528}"/>
              </a:ext>
            </a:extLst>
          </p:cNvPr>
          <p:cNvSpPr/>
          <p:nvPr/>
        </p:nvSpPr>
        <p:spPr>
          <a:xfrm>
            <a:off x="1449765" y="2823454"/>
            <a:ext cx="2176272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B5F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u1</a:t>
            </a:r>
            <a:endParaRPr lang="en-US" sz="900" dirty="0"/>
          </a:p>
        </p:txBody>
      </p:sp>
      <p:sp>
        <p:nvSpPr>
          <p:cNvPr id="22" name="Shape 16">
            <a:extLst>
              <a:ext uri="{FF2B5EF4-FFF2-40B4-BE49-F238E27FC236}">
                <a16:creationId xmlns:a16="http://schemas.microsoft.com/office/drawing/2014/main" id="{7F45F8E0-039B-F064-C7B7-B444EFAFD68D}"/>
              </a:ext>
            </a:extLst>
          </p:cNvPr>
          <p:cNvSpPr/>
          <p:nvPr/>
        </p:nvSpPr>
        <p:spPr>
          <a:xfrm>
            <a:off x="3644325" y="2823454"/>
            <a:ext cx="2176272" cy="301752"/>
          </a:xfrm>
          <a:prstGeom prst="rect">
            <a:avLst/>
          </a:prstGeom>
          <a:solidFill>
            <a:srgbClr val="F0F4FA"/>
          </a:solidFill>
          <a:ln w="1270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9564F9EC-3F81-0CEB-0F94-A64BB8B55F7B}"/>
              </a:ext>
            </a:extLst>
          </p:cNvPr>
          <p:cNvSpPr/>
          <p:nvPr/>
        </p:nvSpPr>
        <p:spPr>
          <a:xfrm>
            <a:off x="3644325" y="2823454"/>
            <a:ext cx="2176272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B5F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2025-03-01</a:t>
            </a:r>
            <a:endParaRPr lang="en-US" sz="900" dirty="0"/>
          </a:p>
        </p:txBody>
      </p:sp>
      <p:sp>
        <p:nvSpPr>
          <p:cNvPr id="24" name="Shape 18">
            <a:extLst>
              <a:ext uri="{FF2B5EF4-FFF2-40B4-BE49-F238E27FC236}">
                <a16:creationId xmlns:a16="http://schemas.microsoft.com/office/drawing/2014/main" id="{CEE8FA9F-C72A-D648-0DEB-68D55669CF46}"/>
              </a:ext>
            </a:extLst>
          </p:cNvPr>
          <p:cNvSpPr/>
          <p:nvPr/>
        </p:nvSpPr>
        <p:spPr>
          <a:xfrm>
            <a:off x="5838885" y="2823454"/>
            <a:ext cx="2176272" cy="301752"/>
          </a:xfrm>
          <a:prstGeom prst="rect">
            <a:avLst/>
          </a:prstGeom>
          <a:solidFill>
            <a:srgbClr val="F0F4FA"/>
          </a:solidFill>
          <a:ln w="1270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19">
            <a:extLst>
              <a:ext uri="{FF2B5EF4-FFF2-40B4-BE49-F238E27FC236}">
                <a16:creationId xmlns:a16="http://schemas.microsoft.com/office/drawing/2014/main" id="{F4679AD1-8451-4EA5-13F2-2E7F1D16B37A}"/>
              </a:ext>
            </a:extLst>
          </p:cNvPr>
          <p:cNvSpPr/>
          <p:nvPr/>
        </p:nvSpPr>
        <p:spPr>
          <a:xfrm>
            <a:off x="5838885" y="2823454"/>
            <a:ext cx="2176272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B5F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Beginner</a:t>
            </a:r>
            <a:endParaRPr lang="en-US" sz="900" dirty="0"/>
          </a:p>
        </p:txBody>
      </p:sp>
      <p:sp>
        <p:nvSpPr>
          <p:cNvPr id="26" name="Shape 20">
            <a:extLst>
              <a:ext uri="{FF2B5EF4-FFF2-40B4-BE49-F238E27FC236}">
                <a16:creationId xmlns:a16="http://schemas.microsoft.com/office/drawing/2014/main" id="{F174DDAF-A705-19ED-2140-1923E50458DA}"/>
              </a:ext>
            </a:extLst>
          </p:cNvPr>
          <p:cNvSpPr/>
          <p:nvPr/>
        </p:nvSpPr>
        <p:spPr>
          <a:xfrm>
            <a:off x="8033445" y="2823454"/>
            <a:ext cx="2176272" cy="301752"/>
          </a:xfrm>
          <a:prstGeom prst="rect">
            <a:avLst/>
          </a:prstGeom>
          <a:solidFill>
            <a:srgbClr val="F0F4FA"/>
          </a:solidFill>
          <a:ln w="1270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1">
            <a:extLst>
              <a:ext uri="{FF2B5EF4-FFF2-40B4-BE49-F238E27FC236}">
                <a16:creationId xmlns:a16="http://schemas.microsoft.com/office/drawing/2014/main" id="{C086C7B4-53CA-4879-6582-D096D410AC83}"/>
              </a:ext>
            </a:extLst>
          </p:cNvPr>
          <p:cNvSpPr/>
          <p:nvPr/>
        </p:nvSpPr>
        <p:spPr>
          <a:xfrm>
            <a:off x="8033445" y="2823454"/>
            <a:ext cx="2176272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B5F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900" dirty="0"/>
          </a:p>
        </p:txBody>
      </p:sp>
      <p:sp>
        <p:nvSpPr>
          <p:cNvPr id="28" name="Shape 22">
            <a:extLst>
              <a:ext uri="{FF2B5EF4-FFF2-40B4-BE49-F238E27FC236}">
                <a16:creationId xmlns:a16="http://schemas.microsoft.com/office/drawing/2014/main" id="{83D0768A-7B0A-303A-7698-E96182467377}"/>
              </a:ext>
            </a:extLst>
          </p:cNvPr>
          <p:cNvSpPr/>
          <p:nvPr/>
        </p:nvSpPr>
        <p:spPr>
          <a:xfrm>
            <a:off x="1449765" y="3143494"/>
            <a:ext cx="2176272" cy="301752"/>
          </a:xfrm>
          <a:prstGeom prst="rect">
            <a:avLst/>
          </a:prstGeom>
          <a:solidFill>
            <a:srgbClr val="FFF3CD"/>
          </a:solidFill>
          <a:ln w="1270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FFF39F0C-1B48-ECA5-C75E-88916E6C90CA}"/>
              </a:ext>
            </a:extLst>
          </p:cNvPr>
          <p:cNvSpPr/>
          <p:nvPr/>
        </p:nvSpPr>
        <p:spPr>
          <a:xfrm>
            <a:off x="1449765" y="3143494"/>
            <a:ext cx="2176272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B5F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u1</a:t>
            </a:r>
            <a:endParaRPr lang="en-US" sz="900" dirty="0"/>
          </a:p>
        </p:txBody>
      </p:sp>
      <p:sp>
        <p:nvSpPr>
          <p:cNvPr id="30" name="Shape 24">
            <a:extLst>
              <a:ext uri="{FF2B5EF4-FFF2-40B4-BE49-F238E27FC236}">
                <a16:creationId xmlns:a16="http://schemas.microsoft.com/office/drawing/2014/main" id="{08887C78-6412-0C66-E6D0-B81A97DE127A}"/>
              </a:ext>
            </a:extLst>
          </p:cNvPr>
          <p:cNvSpPr/>
          <p:nvPr/>
        </p:nvSpPr>
        <p:spPr>
          <a:xfrm>
            <a:off x="3644325" y="3143494"/>
            <a:ext cx="2176272" cy="301752"/>
          </a:xfrm>
          <a:prstGeom prst="rect">
            <a:avLst/>
          </a:prstGeom>
          <a:solidFill>
            <a:srgbClr val="FFF3CD"/>
          </a:solidFill>
          <a:ln w="1270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2746801E-B05F-AC0C-031A-36E10C94BF02}"/>
              </a:ext>
            </a:extLst>
          </p:cNvPr>
          <p:cNvSpPr/>
          <p:nvPr/>
        </p:nvSpPr>
        <p:spPr>
          <a:xfrm>
            <a:off x="3644325" y="3143494"/>
            <a:ext cx="2176272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B5F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2025-03-01</a:t>
            </a:r>
            <a:endParaRPr lang="en-US" sz="900" dirty="0"/>
          </a:p>
        </p:txBody>
      </p:sp>
      <p:sp>
        <p:nvSpPr>
          <p:cNvPr id="32" name="Shape 26">
            <a:extLst>
              <a:ext uri="{FF2B5EF4-FFF2-40B4-BE49-F238E27FC236}">
                <a16:creationId xmlns:a16="http://schemas.microsoft.com/office/drawing/2014/main" id="{9DC66053-8A9E-8F1E-BEAE-B2248099C4D7}"/>
              </a:ext>
            </a:extLst>
          </p:cNvPr>
          <p:cNvSpPr/>
          <p:nvPr/>
        </p:nvSpPr>
        <p:spPr>
          <a:xfrm>
            <a:off x="5838885" y="3143494"/>
            <a:ext cx="2176272" cy="301752"/>
          </a:xfrm>
          <a:prstGeom prst="rect">
            <a:avLst/>
          </a:prstGeom>
          <a:solidFill>
            <a:srgbClr val="FFF3CD"/>
          </a:solidFill>
          <a:ln w="1270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BFA9DB11-B029-3710-783E-4EEA7283EBF7}"/>
              </a:ext>
            </a:extLst>
          </p:cNvPr>
          <p:cNvSpPr/>
          <p:nvPr/>
        </p:nvSpPr>
        <p:spPr>
          <a:xfrm>
            <a:off x="5838885" y="3143494"/>
            <a:ext cx="2176272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B5F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Use</a:t>
            </a:r>
            <a:endParaRPr lang="en-US" sz="900" dirty="0"/>
          </a:p>
        </p:txBody>
      </p:sp>
      <p:sp>
        <p:nvSpPr>
          <p:cNvPr id="34" name="Shape 28">
            <a:extLst>
              <a:ext uri="{FF2B5EF4-FFF2-40B4-BE49-F238E27FC236}">
                <a16:creationId xmlns:a16="http://schemas.microsoft.com/office/drawing/2014/main" id="{0E4D18C6-A7E5-0C61-9348-43E3E6E10965}"/>
              </a:ext>
            </a:extLst>
          </p:cNvPr>
          <p:cNvSpPr/>
          <p:nvPr/>
        </p:nvSpPr>
        <p:spPr>
          <a:xfrm>
            <a:off x="8033445" y="3143494"/>
            <a:ext cx="2176272" cy="301752"/>
          </a:xfrm>
          <a:prstGeom prst="rect">
            <a:avLst/>
          </a:prstGeom>
          <a:solidFill>
            <a:srgbClr val="FFF3CD"/>
          </a:solidFill>
          <a:ln w="1270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29">
            <a:extLst>
              <a:ext uri="{FF2B5EF4-FFF2-40B4-BE49-F238E27FC236}">
                <a16:creationId xmlns:a16="http://schemas.microsoft.com/office/drawing/2014/main" id="{43D6B73B-1C74-1D37-33ED-220FF7F96CE2}"/>
              </a:ext>
            </a:extLst>
          </p:cNvPr>
          <p:cNvSpPr/>
          <p:nvPr/>
        </p:nvSpPr>
        <p:spPr>
          <a:xfrm>
            <a:off x="8033445" y="3143494"/>
            <a:ext cx="2176272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B5F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900" dirty="0"/>
          </a:p>
        </p:txBody>
      </p:sp>
      <p:sp>
        <p:nvSpPr>
          <p:cNvPr id="36" name="Shape 30">
            <a:extLst>
              <a:ext uri="{FF2B5EF4-FFF2-40B4-BE49-F238E27FC236}">
                <a16:creationId xmlns:a16="http://schemas.microsoft.com/office/drawing/2014/main" id="{F3DA88BF-AF0E-697C-F546-07B5BFCD6372}"/>
              </a:ext>
            </a:extLst>
          </p:cNvPr>
          <p:cNvSpPr/>
          <p:nvPr/>
        </p:nvSpPr>
        <p:spPr>
          <a:xfrm>
            <a:off x="1449765" y="3463534"/>
            <a:ext cx="2176272" cy="301752"/>
          </a:xfrm>
          <a:prstGeom prst="rect">
            <a:avLst/>
          </a:prstGeom>
          <a:solidFill>
            <a:srgbClr val="F0F4FA"/>
          </a:solidFill>
          <a:ln w="1270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Text 31">
            <a:extLst>
              <a:ext uri="{FF2B5EF4-FFF2-40B4-BE49-F238E27FC236}">
                <a16:creationId xmlns:a16="http://schemas.microsoft.com/office/drawing/2014/main" id="{602D3A96-6E59-76C9-157C-626EE6A44929}"/>
              </a:ext>
            </a:extLst>
          </p:cNvPr>
          <p:cNvSpPr/>
          <p:nvPr/>
        </p:nvSpPr>
        <p:spPr>
          <a:xfrm>
            <a:off x="1449765" y="3463534"/>
            <a:ext cx="2176272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B5F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u2</a:t>
            </a:r>
            <a:endParaRPr lang="en-US" sz="900" dirty="0"/>
          </a:p>
        </p:txBody>
      </p:sp>
      <p:sp>
        <p:nvSpPr>
          <p:cNvPr id="38" name="Shape 32">
            <a:extLst>
              <a:ext uri="{FF2B5EF4-FFF2-40B4-BE49-F238E27FC236}">
                <a16:creationId xmlns:a16="http://schemas.microsoft.com/office/drawing/2014/main" id="{3CA448B5-174F-9F23-DAA6-972BC0E606CE}"/>
              </a:ext>
            </a:extLst>
          </p:cNvPr>
          <p:cNvSpPr/>
          <p:nvPr/>
        </p:nvSpPr>
        <p:spPr>
          <a:xfrm>
            <a:off x="3644325" y="3463534"/>
            <a:ext cx="2176272" cy="301752"/>
          </a:xfrm>
          <a:prstGeom prst="rect">
            <a:avLst/>
          </a:prstGeom>
          <a:solidFill>
            <a:srgbClr val="F0F4FA"/>
          </a:solidFill>
          <a:ln w="1270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Text 33">
            <a:extLst>
              <a:ext uri="{FF2B5EF4-FFF2-40B4-BE49-F238E27FC236}">
                <a16:creationId xmlns:a16="http://schemas.microsoft.com/office/drawing/2014/main" id="{9BF0AD6D-6909-5551-F445-B9BC27580D84}"/>
              </a:ext>
            </a:extLst>
          </p:cNvPr>
          <p:cNvSpPr/>
          <p:nvPr/>
        </p:nvSpPr>
        <p:spPr>
          <a:xfrm>
            <a:off x="3644325" y="3463534"/>
            <a:ext cx="2176272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B5F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2025-03-01</a:t>
            </a:r>
            <a:endParaRPr lang="en-US" sz="900" dirty="0"/>
          </a:p>
        </p:txBody>
      </p:sp>
      <p:sp>
        <p:nvSpPr>
          <p:cNvPr id="40" name="Shape 34">
            <a:extLst>
              <a:ext uri="{FF2B5EF4-FFF2-40B4-BE49-F238E27FC236}">
                <a16:creationId xmlns:a16="http://schemas.microsoft.com/office/drawing/2014/main" id="{4B1FAEFF-4E76-79AC-A733-198C48EEF550}"/>
              </a:ext>
            </a:extLst>
          </p:cNvPr>
          <p:cNvSpPr/>
          <p:nvPr/>
        </p:nvSpPr>
        <p:spPr>
          <a:xfrm>
            <a:off x="5838885" y="3463534"/>
            <a:ext cx="2176272" cy="301752"/>
          </a:xfrm>
          <a:prstGeom prst="rect">
            <a:avLst/>
          </a:prstGeom>
          <a:solidFill>
            <a:srgbClr val="F0F4FA"/>
          </a:solidFill>
          <a:ln w="1270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Text 35">
            <a:extLst>
              <a:ext uri="{FF2B5EF4-FFF2-40B4-BE49-F238E27FC236}">
                <a16:creationId xmlns:a16="http://schemas.microsoft.com/office/drawing/2014/main" id="{A0962E11-EDF2-F30C-DC1A-CE9961E731BC}"/>
              </a:ext>
            </a:extLst>
          </p:cNvPr>
          <p:cNvSpPr/>
          <p:nvPr/>
        </p:nvSpPr>
        <p:spPr>
          <a:xfrm>
            <a:off x="5838885" y="3463534"/>
            <a:ext cx="2176272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B5F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Basic</a:t>
            </a:r>
            <a:endParaRPr lang="en-US" sz="900" dirty="0"/>
          </a:p>
        </p:txBody>
      </p:sp>
      <p:sp>
        <p:nvSpPr>
          <p:cNvPr id="42" name="Shape 36">
            <a:extLst>
              <a:ext uri="{FF2B5EF4-FFF2-40B4-BE49-F238E27FC236}">
                <a16:creationId xmlns:a16="http://schemas.microsoft.com/office/drawing/2014/main" id="{A25FECBD-B981-FA29-A8C5-9A59ABB5282B}"/>
              </a:ext>
            </a:extLst>
          </p:cNvPr>
          <p:cNvSpPr/>
          <p:nvPr/>
        </p:nvSpPr>
        <p:spPr>
          <a:xfrm>
            <a:off x="8033445" y="3463534"/>
            <a:ext cx="2176272" cy="301752"/>
          </a:xfrm>
          <a:prstGeom prst="rect">
            <a:avLst/>
          </a:prstGeom>
          <a:solidFill>
            <a:srgbClr val="F0F4FA"/>
          </a:solidFill>
          <a:ln w="1270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" name="Text 37">
            <a:extLst>
              <a:ext uri="{FF2B5EF4-FFF2-40B4-BE49-F238E27FC236}">
                <a16:creationId xmlns:a16="http://schemas.microsoft.com/office/drawing/2014/main" id="{4EF1B783-7DDC-A176-84F0-54332C3B8B82}"/>
              </a:ext>
            </a:extLst>
          </p:cNvPr>
          <p:cNvSpPr/>
          <p:nvPr/>
        </p:nvSpPr>
        <p:spPr>
          <a:xfrm>
            <a:off x="8033445" y="3463534"/>
            <a:ext cx="2176272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B5F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900" dirty="0"/>
          </a:p>
        </p:txBody>
      </p:sp>
      <p:sp>
        <p:nvSpPr>
          <p:cNvPr id="44" name="Shape 38">
            <a:extLst>
              <a:ext uri="{FF2B5EF4-FFF2-40B4-BE49-F238E27FC236}">
                <a16:creationId xmlns:a16="http://schemas.microsoft.com/office/drawing/2014/main" id="{6C7C231C-CC81-7448-C0EE-A1EAE127EED4}"/>
              </a:ext>
            </a:extLst>
          </p:cNvPr>
          <p:cNvSpPr/>
          <p:nvPr/>
        </p:nvSpPr>
        <p:spPr>
          <a:xfrm>
            <a:off x="1449765" y="3783574"/>
            <a:ext cx="2176272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5" name="Text 39">
            <a:extLst>
              <a:ext uri="{FF2B5EF4-FFF2-40B4-BE49-F238E27FC236}">
                <a16:creationId xmlns:a16="http://schemas.microsoft.com/office/drawing/2014/main" id="{A27A6D7C-2F92-E50A-7CC2-E1E30EAE22C3}"/>
              </a:ext>
            </a:extLst>
          </p:cNvPr>
          <p:cNvSpPr/>
          <p:nvPr/>
        </p:nvSpPr>
        <p:spPr>
          <a:xfrm>
            <a:off x="1449765" y="3783574"/>
            <a:ext cx="2176272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B5F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u3</a:t>
            </a:r>
            <a:endParaRPr lang="en-US" sz="900" dirty="0"/>
          </a:p>
        </p:txBody>
      </p:sp>
      <p:sp>
        <p:nvSpPr>
          <p:cNvPr id="46" name="Shape 40">
            <a:extLst>
              <a:ext uri="{FF2B5EF4-FFF2-40B4-BE49-F238E27FC236}">
                <a16:creationId xmlns:a16="http://schemas.microsoft.com/office/drawing/2014/main" id="{9C437D06-51ED-EA16-EF27-5E175017B5BC}"/>
              </a:ext>
            </a:extLst>
          </p:cNvPr>
          <p:cNvSpPr/>
          <p:nvPr/>
        </p:nvSpPr>
        <p:spPr>
          <a:xfrm>
            <a:off x="3644325" y="3783574"/>
            <a:ext cx="2176272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7" name="Text 41">
            <a:extLst>
              <a:ext uri="{FF2B5EF4-FFF2-40B4-BE49-F238E27FC236}">
                <a16:creationId xmlns:a16="http://schemas.microsoft.com/office/drawing/2014/main" id="{FE245B9D-A476-17E3-A7FA-04E14091F5D6}"/>
              </a:ext>
            </a:extLst>
          </p:cNvPr>
          <p:cNvSpPr/>
          <p:nvPr/>
        </p:nvSpPr>
        <p:spPr>
          <a:xfrm>
            <a:off x="3644325" y="3783574"/>
            <a:ext cx="2176272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B5F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2025-03-01</a:t>
            </a:r>
            <a:endParaRPr lang="en-US" sz="900" dirty="0"/>
          </a:p>
        </p:txBody>
      </p:sp>
      <p:sp>
        <p:nvSpPr>
          <p:cNvPr id="48" name="Shape 42">
            <a:extLst>
              <a:ext uri="{FF2B5EF4-FFF2-40B4-BE49-F238E27FC236}">
                <a16:creationId xmlns:a16="http://schemas.microsoft.com/office/drawing/2014/main" id="{234F5D41-93F0-EE93-6854-206B5828EC05}"/>
              </a:ext>
            </a:extLst>
          </p:cNvPr>
          <p:cNvSpPr/>
          <p:nvPr/>
        </p:nvSpPr>
        <p:spPr>
          <a:xfrm>
            <a:off x="5838885" y="3783574"/>
            <a:ext cx="2176272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9" name="Text 43">
            <a:extLst>
              <a:ext uri="{FF2B5EF4-FFF2-40B4-BE49-F238E27FC236}">
                <a16:creationId xmlns:a16="http://schemas.microsoft.com/office/drawing/2014/main" id="{DFFAA6D9-F1D5-2337-3CC0-6EBFA5EE3321}"/>
              </a:ext>
            </a:extLst>
          </p:cNvPr>
          <p:cNvSpPr/>
          <p:nvPr/>
        </p:nvSpPr>
        <p:spPr>
          <a:xfrm>
            <a:off x="5838885" y="3783574"/>
            <a:ext cx="2176272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94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(NULL)</a:t>
            </a:r>
            <a:endParaRPr lang="en-US" sz="900" dirty="0"/>
          </a:p>
        </p:txBody>
      </p:sp>
      <p:sp>
        <p:nvSpPr>
          <p:cNvPr id="50" name="Shape 44">
            <a:extLst>
              <a:ext uri="{FF2B5EF4-FFF2-40B4-BE49-F238E27FC236}">
                <a16:creationId xmlns:a16="http://schemas.microsoft.com/office/drawing/2014/main" id="{B2EBE4A1-0823-0C7A-7B4B-C78C9AAA96E9}"/>
              </a:ext>
            </a:extLst>
          </p:cNvPr>
          <p:cNvSpPr/>
          <p:nvPr/>
        </p:nvSpPr>
        <p:spPr>
          <a:xfrm>
            <a:off x="8033445" y="3783574"/>
            <a:ext cx="2176272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1" name="Text 45">
            <a:extLst>
              <a:ext uri="{FF2B5EF4-FFF2-40B4-BE49-F238E27FC236}">
                <a16:creationId xmlns:a16="http://schemas.microsoft.com/office/drawing/2014/main" id="{BD6DD12E-987D-5C49-DA5E-5CDD335AE7D1}"/>
              </a:ext>
            </a:extLst>
          </p:cNvPr>
          <p:cNvSpPr/>
          <p:nvPr/>
        </p:nvSpPr>
        <p:spPr>
          <a:xfrm>
            <a:off x="8033445" y="3783574"/>
            <a:ext cx="2176272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B5F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900" dirty="0"/>
          </a:p>
        </p:txBody>
      </p:sp>
      <p:sp>
        <p:nvSpPr>
          <p:cNvPr id="52" name="Shape 46">
            <a:extLst>
              <a:ext uri="{FF2B5EF4-FFF2-40B4-BE49-F238E27FC236}">
                <a16:creationId xmlns:a16="http://schemas.microsoft.com/office/drawing/2014/main" id="{71D496CF-E99C-96DB-CD7C-EB96F1FD249B}"/>
              </a:ext>
            </a:extLst>
          </p:cNvPr>
          <p:cNvSpPr/>
          <p:nvPr/>
        </p:nvSpPr>
        <p:spPr>
          <a:xfrm>
            <a:off x="1449765" y="2869174"/>
            <a:ext cx="8741664" cy="301752"/>
          </a:xfrm>
          <a:prstGeom prst="rect">
            <a:avLst/>
          </a:prstGeom>
          <a:solidFill>
            <a:srgbClr val="FFF3CD"/>
          </a:solidFill>
          <a:ln w="1270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3" name="Shape 48">
            <a:extLst>
              <a:ext uri="{FF2B5EF4-FFF2-40B4-BE49-F238E27FC236}">
                <a16:creationId xmlns:a16="http://schemas.microsoft.com/office/drawing/2014/main" id="{F706E3DD-F341-BC41-BE2D-6A6334C3A456}"/>
              </a:ext>
            </a:extLst>
          </p:cNvPr>
          <p:cNvSpPr/>
          <p:nvPr/>
        </p:nvSpPr>
        <p:spPr>
          <a:xfrm>
            <a:off x="1449765" y="4251542"/>
            <a:ext cx="8741664" cy="320040"/>
          </a:xfrm>
          <a:prstGeom prst="rect">
            <a:avLst/>
          </a:prstGeom>
          <a:solidFill>
            <a:srgbClr val="333333"/>
          </a:solidFill>
          <a:ln w="12700">
            <a:solidFill>
              <a:schemeClr val="bg1">
                <a:lumMod val="85000"/>
              </a:scheme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4" name="Text 49">
            <a:extLst>
              <a:ext uri="{FF2B5EF4-FFF2-40B4-BE49-F238E27FC236}">
                <a16:creationId xmlns:a16="http://schemas.microsoft.com/office/drawing/2014/main" id="{A54D106E-2A43-75AD-91CC-D50A3EF1A0CF}"/>
              </a:ext>
            </a:extLst>
          </p:cNvPr>
          <p:cNvSpPr/>
          <p:nvPr/>
        </p:nvSpPr>
        <p:spPr>
          <a:xfrm>
            <a:off x="1522917" y="425154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para a query: SELECT… FROM tb_ddi WHERE date_month = '2025-03-01'</a:t>
            </a:r>
            <a:endParaRPr lang="en-US" sz="950" dirty="0"/>
          </a:p>
        </p:txBody>
      </p:sp>
      <p:sp>
        <p:nvSpPr>
          <p:cNvPr id="55" name="Shape 50">
            <a:extLst>
              <a:ext uri="{FF2B5EF4-FFF2-40B4-BE49-F238E27FC236}">
                <a16:creationId xmlns:a16="http://schemas.microsoft.com/office/drawing/2014/main" id="{925EFD1B-6E60-21EB-E17D-82C9008CD539}"/>
              </a:ext>
            </a:extLst>
          </p:cNvPr>
          <p:cNvSpPr/>
          <p:nvPr/>
        </p:nvSpPr>
        <p:spPr>
          <a:xfrm>
            <a:off x="1449765" y="4626446"/>
            <a:ext cx="8741664" cy="301752"/>
          </a:xfrm>
          <a:prstGeom prst="rect">
            <a:avLst/>
          </a:prstGeom>
          <a:solidFill>
            <a:srgbClr val="F0F4FA"/>
          </a:solidFill>
          <a:ln w="1270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6" name="Text 51">
            <a:extLst>
              <a:ext uri="{FF2B5EF4-FFF2-40B4-BE49-F238E27FC236}">
                <a16:creationId xmlns:a16="http://schemas.microsoft.com/office/drawing/2014/main" id="{2EF6F607-A3B8-DDB0-93DF-6E66B6340783}"/>
              </a:ext>
            </a:extLst>
          </p:cNvPr>
          <p:cNvSpPr/>
          <p:nvPr/>
        </p:nvSpPr>
        <p:spPr>
          <a:xfrm>
            <a:off x="1504629" y="4626446"/>
            <a:ext cx="2926080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5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COUNT(*)</a:t>
            </a:r>
            <a:endParaRPr lang="en-US" sz="900" dirty="0"/>
          </a:p>
        </p:txBody>
      </p:sp>
      <p:sp>
        <p:nvSpPr>
          <p:cNvPr id="57" name="Text 52">
            <a:extLst>
              <a:ext uri="{FF2B5EF4-FFF2-40B4-BE49-F238E27FC236}">
                <a16:creationId xmlns:a16="http://schemas.microsoft.com/office/drawing/2014/main" id="{95C4B154-74B5-2AC1-FF15-775045C16BE8}"/>
              </a:ext>
            </a:extLst>
          </p:cNvPr>
          <p:cNvSpPr/>
          <p:nvPr/>
        </p:nvSpPr>
        <p:spPr>
          <a:xfrm>
            <a:off x="4467285" y="4626446"/>
            <a:ext cx="548640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4</a:t>
            </a:r>
            <a:endParaRPr lang="en-US" sz="1000" dirty="0"/>
          </a:p>
        </p:txBody>
      </p:sp>
      <p:sp>
        <p:nvSpPr>
          <p:cNvPr id="58" name="Text 53">
            <a:extLst>
              <a:ext uri="{FF2B5EF4-FFF2-40B4-BE49-F238E27FC236}">
                <a16:creationId xmlns:a16="http://schemas.microsoft.com/office/drawing/2014/main" id="{94EF0B5B-954F-8F03-DC38-356D5796A6AF}"/>
              </a:ext>
            </a:extLst>
          </p:cNvPr>
          <p:cNvSpPr/>
          <p:nvPr/>
        </p:nvSpPr>
        <p:spPr>
          <a:xfrm>
            <a:off x="5052501" y="4626446"/>
            <a:ext cx="5084064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B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 todas as linhas, incluindo a duplicata e a linha com NULL.</a:t>
            </a:r>
            <a:endParaRPr lang="en-US" sz="850" dirty="0"/>
          </a:p>
        </p:txBody>
      </p:sp>
      <p:sp>
        <p:nvSpPr>
          <p:cNvPr id="59" name="Shape 54">
            <a:extLst>
              <a:ext uri="{FF2B5EF4-FFF2-40B4-BE49-F238E27FC236}">
                <a16:creationId xmlns:a16="http://schemas.microsoft.com/office/drawing/2014/main" id="{5A1FD8C6-EA39-E313-8984-0D48CB47DCB1}"/>
              </a:ext>
            </a:extLst>
          </p:cNvPr>
          <p:cNvSpPr/>
          <p:nvPr/>
        </p:nvSpPr>
        <p:spPr>
          <a:xfrm>
            <a:off x="1449765" y="4946486"/>
            <a:ext cx="874166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0" name="Text 55">
            <a:extLst>
              <a:ext uri="{FF2B5EF4-FFF2-40B4-BE49-F238E27FC236}">
                <a16:creationId xmlns:a16="http://schemas.microsoft.com/office/drawing/2014/main" id="{97C4FBB8-7D85-C86B-3AAB-25E92FEB58FD}"/>
              </a:ext>
            </a:extLst>
          </p:cNvPr>
          <p:cNvSpPr/>
          <p:nvPr/>
        </p:nvSpPr>
        <p:spPr>
          <a:xfrm>
            <a:off x="1504629" y="4946486"/>
            <a:ext cx="2926080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5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COUNT(user_classification)</a:t>
            </a:r>
            <a:endParaRPr lang="en-US" sz="900" dirty="0"/>
          </a:p>
        </p:txBody>
      </p:sp>
      <p:sp>
        <p:nvSpPr>
          <p:cNvPr id="61" name="Text 56">
            <a:extLst>
              <a:ext uri="{FF2B5EF4-FFF2-40B4-BE49-F238E27FC236}">
                <a16:creationId xmlns:a16="http://schemas.microsoft.com/office/drawing/2014/main" id="{333D8C13-6608-BF8C-2D94-3831FE05F1FA}"/>
              </a:ext>
            </a:extLst>
          </p:cNvPr>
          <p:cNvSpPr/>
          <p:nvPr/>
        </p:nvSpPr>
        <p:spPr>
          <a:xfrm>
            <a:off x="4467285" y="4946486"/>
            <a:ext cx="548640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3</a:t>
            </a:r>
            <a:endParaRPr lang="en-US" sz="1000" dirty="0"/>
          </a:p>
        </p:txBody>
      </p:sp>
      <p:sp>
        <p:nvSpPr>
          <p:cNvPr id="62" name="Text 57">
            <a:extLst>
              <a:ext uri="{FF2B5EF4-FFF2-40B4-BE49-F238E27FC236}">
                <a16:creationId xmlns:a16="http://schemas.microsoft.com/office/drawing/2014/main" id="{B47E268C-92DF-8D2F-CDE2-CDB0960A9D79}"/>
              </a:ext>
            </a:extLst>
          </p:cNvPr>
          <p:cNvSpPr/>
          <p:nvPr/>
        </p:nvSpPr>
        <p:spPr>
          <a:xfrm>
            <a:off x="5052501" y="4946486"/>
            <a:ext cx="5084064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B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Ignora o NULL na linha de u3. Conta apenas linhas onde user_classification IS NOT NULL.</a:t>
            </a:r>
            <a:endParaRPr lang="en-US" sz="850" dirty="0"/>
          </a:p>
        </p:txBody>
      </p:sp>
      <p:sp>
        <p:nvSpPr>
          <p:cNvPr id="63" name="Shape 58">
            <a:extLst>
              <a:ext uri="{FF2B5EF4-FFF2-40B4-BE49-F238E27FC236}">
                <a16:creationId xmlns:a16="http://schemas.microsoft.com/office/drawing/2014/main" id="{01D0056A-C98A-36E6-357F-BA41AC244D8D}"/>
              </a:ext>
            </a:extLst>
          </p:cNvPr>
          <p:cNvSpPr/>
          <p:nvPr/>
        </p:nvSpPr>
        <p:spPr>
          <a:xfrm>
            <a:off x="1449765" y="5266526"/>
            <a:ext cx="8741664" cy="301752"/>
          </a:xfrm>
          <a:prstGeom prst="rect">
            <a:avLst/>
          </a:prstGeom>
          <a:solidFill>
            <a:srgbClr val="F0F4FA"/>
          </a:solidFill>
          <a:ln w="1270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4" name="Text 59">
            <a:extLst>
              <a:ext uri="{FF2B5EF4-FFF2-40B4-BE49-F238E27FC236}">
                <a16:creationId xmlns:a16="http://schemas.microsoft.com/office/drawing/2014/main" id="{3DACCB45-68CB-FC4A-2B4E-E55CFEC71EF9}"/>
              </a:ext>
            </a:extLst>
          </p:cNvPr>
          <p:cNvSpPr/>
          <p:nvPr/>
        </p:nvSpPr>
        <p:spPr>
          <a:xfrm>
            <a:off x="1504629" y="5266526"/>
            <a:ext cx="2926080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5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COUNT(DISTINCT username)</a:t>
            </a:r>
            <a:endParaRPr lang="en-US" sz="900" dirty="0"/>
          </a:p>
        </p:txBody>
      </p:sp>
      <p:sp>
        <p:nvSpPr>
          <p:cNvPr id="65" name="Text 60">
            <a:extLst>
              <a:ext uri="{FF2B5EF4-FFF2-40B4-BE49-F238E27FC236}">
                <a16:creationId xmlns:a16="http://schemas.microsoft.com/office/drawing/2014/main" id="{C378B923-CFA7-15B6-0393-45E91323C61F}"/>
              </a:ext>
            </a:extLst>
          </p:cNvPr>
          <p:cNvSpPr/>
          <p:nvPr/>
        </p:nvSpPr>
        <p:spPr>
          <a:xfrm>
            <a:off x="4467285" y="5266526"/>
            <a:ext cx="548640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3</a:t>
            </a:r>
            <a:endParaRPr lang="en-US" sz="1000" dirty="0"/>
          </a:p>
        </p:txBody>
      </p:sp>
      <p:sp>
        <p:nvSpPr>
          <p:cNvPr id="66" name="Text 61">
            <a:extLst>
              <a:ext uri="{FF2B5EF4-FFF2-40B4-BE49-F238E27FC236}">
                <a16:creationId xmlns:a16="http://schemas.microsoft.com/office/drawing/2014/main" id="{A7684852-0E06-45AE-3C3F-EA9CDC920DC3}"/>
              </a:ext>
            </a:extLst>
          </p:cNvPr>
          <p:cNvSpPr/>
          <p:nvPr/>
        </p:nvSpPr>
        <p:spPr>
          <a:xfrm>
            <a:off x="5052501" y="5266526"/>
            <a:ext cx="5084064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B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 aparece 2×, mas é contado 1× (u1, u2, u3). Nulos em username seriam também ignorados.</a:t>
            </a:r>
            <a:endParaRPr lang="en-US" sz="850" dirty="0"/>
          </a:p>
        </p:txBody>
      </p:sp>
      <p:sp>
        <p:nvSpPr>
          <p:cNvPr id="67" name="Shape 62">
            <a:extLst>
              <a:ext uri="{FF2B5EF4-FFF2-40B4-BE49-F238E27FC236}">
                <a16:creationId xmlns:a16="http://schemas.microsoft.com/office/drawing/2014/main" id="{BA15B471-41CF-7737-77F2-A32D113BAE94}"/>
              </a:ext>
            </a:extLst>
          </p:cNvPr>
          <p:cNvSpPr/>
          <p:nvPr/>
        </p:nvSpPr>
        <p:spPr>
          <a:xfrm>
            <a:off x="1449765" y="5586566"/>
            <a:ext cx="874166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8" name="Text 63">
            <a:extLst>
              <a:ext uri="{FF2B5EF4-FFF2-40B4-BE49-F238E27FC236}">
                <a16:creationId xmlns:a16="http://schemas.microsoft.com/office/drawing/2014/main" id="{48508B7F-B25C-830D-D3DC-5791B8BD02BD}"/>
              </a:ext>
            </a:extLst>
          </p:cNvPr>
          <p:cNvSpPr/>
          <p:nvPr/>
        </p:nvSpPr>
        <p:spPr>
          <a:xfrm>
            <a:off x="1504629" y="5586566"/>
            <a:ext cx="2926080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5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COUNT(DISTINCT user_classification)</a:t>
            </a:r>
            <a:endParaRPr lang="en-US" sz="900" dirty="0"/>
          </a:p>
        </p:txBody>
      </p:sp>
      <p:sp>
        <p:nvSpPr>
          <p:cNvPr id="69" name="Text 64">
            <a:extLst>
              <a:ext uri="{FF2B5EF4-FFF2-40B4-BE49-F238E27FC236}">
                <a16:creationId xmlns:a16="http://schemas.microsoft.com/office/drawing/2014/main" id="{A5449E6B-1420-13A9-50E2-7A5E3204C3B3}"/>
              </a:ext>
            </a:extLst>
          </p:cNvPr>
          <p:cNvSpPr/>
          <p:nvPr/>
        </p:nvSpPr>
        <p:spPr>
          <a:xfrm>
            <a:off x="4467285" y="5586566"/>
            <a:ext cx="548640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3</a:t>
            </a:r>
            <a:endParaRPr lang="en-US" sz="1000" dirty="0"/>
          </a:p>
        </p:txBody>
      </p:sp>
      <p:sp>
        <p:nvSpPr>
          <p:cNvPr id="70" name="Text 65">
            <a:extLst>
              <a:ext uri="{FF2B5EF4-FFF2-40B4-BE49-F238E27FC236}">
                <a16:creationId xmlns:a16="http://schemas.microsoft.com/office/drawing/2014/main" id="{BB75B7F9-0456-B4F0-4599-0255ACBFF301}"/>
              </a:ext>
            </a:extLst>
          </p:cNvPr>
          <p:cNvSpPr/>
          <p:nvPr/>
        </p:nvSpPr>
        <p:spPr>
          <a:xfrm>
            <a:off x="5052501" y="5586566"/>
            <a:ext cx="5084064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B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distintos não nulos: Beginner, No Use, Basic. NULL de u3 não entra na contagem.</a:t>
            </a:r>
            <a:endParaRPr lang="en-US" sz="850" dirty="0"/>
          </a:p>
        </p:txBody>
      </p:sp>
      <p:sp>
        <p:nvSpPr>
          <p:cNvPr id="71" name="Text 47">
            <a:extLst>
              <a:ext uri="{FF2B5EF4-FFF2-40B4-BE49-F238E27FC236}">
                <a16:creationId xmlns:a16="http://schemas.microsoft.com/office/drawing/2014/main" id="{2707205A-F0E2-A609-067E-F9398FDDFC87}"/>
              </a:ext>
            </a:extLst>
          </p:cNvPr>
          <p:cNvSpPr/>
          <p:nvPr/>
        </p:nvSpPr>
        <p:spPr>
          <a:xfrm>
            <a:off x="1522917" y="288746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/>
              <a:t>← linha duplicada (mesma chave, classificação diferente)</a:t>
            </a:r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47017A3C-B746-163D-7A11-86846DBE829A}"/>
              </a:ext>
            </a:extLst>
          </p:cNvPr>
          <p:cNvSpPr txBox="1"/>
          <p:nvPr/>
        </p:nvSpPr>
        <p:spPr>
          <a:xfrm>
            <a:off x="1449765" y="1459149"/>
            <a:ext cx="4900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COUNT(*) vs COUNT(col) vs COUNT(DISTINCT col)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634216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E6E3C-0CA9-EE04-B93F-9026712D4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Agrupar 13">
            <a:extLst>
              <a:ext uri="{FF2B5EF4-FFF2-40B4-BE49-F238E27FC236}">
                <a16:creationId xmlns:a16="http://schemas.microsoft.com/office/drawing/2014/main" id="{DC8E7BE8-9B8D-E57A-D627-43097C09662C}"/>
              </a:ext>
            </a:extLst>
          </p:cNvPr>
          <p:cNvGrpSpPr/>
          <p:nvPr/>
        </p:nvGrpSpPr>
        <p:grpSpPr>
          <a:xfrm>
            <a:off x="0" y="-2"/>
            <a:ext cx="12192000" cy="787791"/>
            <a:chOff x="0" y="-1"/>
            <a:chExt cx="12192000" cy="787791"/>
          </a:xfrm>
        </p:grpSpPr>
        <p:grpSp>
          <p:nvGrpSpPr>
            <p:cNvPr id="15" name="Agrupar 14">
              <a:extLst>
                <a:ext uri="{FF2B5EF4-FFF2-40B4-BE49-F238E27FC236}">
                  <a16:creationId xmlns:a16="http://schemas.microsoft.com/office/drawing/2014/main" id="{E98E61FB-64B2-14BC-E397-4C4F4F03AB16}"/>
                </a:ext>
              </a:extLst>
            </p:cNvPr>
            <p:cNvGrpSpPr/>
            <p:nvPr/>
          </p:nvGrpSpPr>
          <p:grpSpPr>
            <a:xfrm>
              <a:off x="0" y="-1"/>
              <a:ext cx="12192000" cy="787791"/>
              <a:chOff x="0" y="-1"/>
              <a:chExt cx="12192000" cy="787791"/>
            </a:xfrm>
          </p:grpSpPr>
          <p:sp>
            <p:nvSpPr>
              <p:cNvPr id="17" name="Shape 0">
                <a:extLst>
                  <a:ext uri="{FF2B5EF4-FFF2-40B4-BE49-F238E27FC236}">
                    <a16:creationId xmlns:a16="http://schemas.microsoft.com/office/drawing/2014/main" id="{24122A38-569F-CF7D-5B11-50051034E3F6}"/>
                  </a:ext>
                </a:extLst>
              </p:cNvPr>
              <p:cNvSpPr/>
              <p:nvPr/>
            </p:nvSpPr>
            <p:spPr>
              <a:xfrm>
                <a:off x="0" y="-1"/>
                <a:ext cx="12192000" cy="787791"/>
              </a:xfrm>
              <a:prstGeom prst="rect">
                <a:avLst/>
              </a:prstGeom>
              <a:solidFill>
                <a:srgbClr val="333333"/>
              </a:solidFill>
              <a:ln w="12700">
                <a:solidFill>
                  <a:srgbClr val="333333"/>
                </a:solidFill>
                <a:prstDash val="solid"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8" name="Retângulo: Cantos Arredondados 17">
                <a:extLst>
                  <a:ext uri="{FF2B5EF4-FFF2-40B4-BE49-F238E27FC236}">
                    <a16:creationId xmlns:a16="http://schemas.microsoft.com/office/drawing/2014/main" id="{467E8DAF-8F4A-C3A8-3A8E-13A2F29C1A81}"/>
                  </a:ext>
                </a:extLst>
              </p:cNvPr>
              <p:cNvSpPr/>
              <p:nvPr/>
            </p:nvSpPr>
            <p:spPr>
              <a:xfrm>
                <a:off x="9835375" y="306443"/>
                <a:ext cx="1987681" cy="175290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23000">
                    <a:srgbClr val="84B9EB"/>
                  </a:gs>
                  <a:gs pos="54000">
                    <a:srgbClr val="F5EB3F"/>
                  </a:gs>
                </a:gsLst>
                <a:lin ang="0" scaled="1"/>
                <a:tileRect/>
              </a:gradFill>
              <a:ln>
                <a:solidFill>
                  <a:srgbClr val="3333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pic>
          <p:nvPicPr>
            <p:cNvPr id="16" name="Imagem 15">
              <a:extLst>
                <a:ext uri="{FF2B5EF4-FFF2-40B4-BE49-F238E27FC236}">
                  <a16:creationId xmlns:a16="http://schemas.microsoft.com/office/drawing/2014/main" id="{171FE277-3DE4-2494-14F5-BB32412BAB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7756" y="213902"/>
              <a:ext cx="1279943" cy="359984"/>
            </a:xfrm>
            <a:prstGeom prst="rect">
              <a:avLst/>
            </a:prstGeom>
          </p:spPr>
        </p:pic>
      </p:grpSp>
      <p:sp>
        <p:nvSpPr>
          <p:cNvPr id="19" name="Título 1">
            <a:extLst>
              <a:ext uri="{FF2B5EF4-FFF2-40B4-BE49-F238E27FC236}">
                <a16:creationId xmlns:a16="http://schemas.microsoft.com/office/drawing/2014/main" id="{24F9D7F5-50B7-C2E2-B645-347D9919A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4635" y="72739"/>
            <a:ext cx="7821795" cy="642310"/>
          </a:xfrm>
        </p:spPr>
        <p:txBody>
          <a:bodyPr anchor="t">
            <a:normAutofit fontScale="90000"/>
          </a:bodyPr>
          <a:lstStyle/>
          <a:p>
            <a:r>
              <a:rPr lang="pt-BR" dirty="0">
                <a:solidFill>
                  <a:schemeClr val="bg1"/>
                </a:solidFill>
              </a:rPr>
              <a:t>| </a:t>
            </a:r>
            <a:r>
              <a:rPr lang="pt-BR" sz="3100" dirty="0">
                <a:solidFill>
                  <a:schemeClr val="bg1"/>
                </a:solidFill>
              </a:rPr>
              <a:t>Efeito, Detecção e Correção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0D661185-2E91-C142-0B03-7A230D3A1EE8}"/>
              </a:ext>
            </a:extLst>
          </p:cNvPr>
          <p:cNvSpPr/>
          <p:nvPr/>
        </p:nvSpPr>
        <p:spPr>
          <a:xfrm>
            <a:off x="0" y="0"/>
            <a:ext cx="61913" cy="787789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5416B223-2D5F-CC82-9FB8-FBD16F4D3A02}"/>
              </a:ext>
            </a:extLst>
          </p:cNvPr>
          <p:cNvSpPr/>
          <p:nvPr/>
        </p:nvSpPr>
        <p:spPr>
          <a:xfrm>
            <a:off x="347756" y="1673213"/>
            <a:ext cx="4206240" cy="320040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FD3945EE-B3CF-40EC-B355-BFD03F77274D}"/>
              </a:ext>
            </a:extLst>
          </p:cNvPr>
          <p:cNvSpPr/>
          <p:nvPr/>
        </p:nvSpPr>
        <p:spPr>
          <a:xfrm>
            <a:off x="347756" y="1673213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Efeito nas métricas</a:t>
            </a:r>
            <a:endParaRPr lang="en-US" sz="1000" dirty="0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693A1D11-42D6-54BF-ABBD-BBA6C8FE547C}"/>
              </a:ext>
            </a:extLst>
          </p:cNvPr>
          <p:cNvSpPr/>
          <p:nvPr/>
        </p:nvSpPr>
        <p:spPr>
          <a:xfrm>
            <a:off x="347756" y="2038973"/>
            <a:ext cx="4206240" cy="685800"/>
          </a:xfrm>
          <a:prstGeom prst="rect">
            <a:avLst/>
          </a:prstGeom>
          <a:solidFill>
            <a:srgbClr val="F0F4FA"/>
          </a:solidFill>
          <a:ln w="1270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7">
            <a:extLst>
              <a:ext uri="{FF2B5EF4-FFF2-40B4-BE49-F238E27FC236}">
                <a16:creationId xmlns:a16="http://schemas.microsoft.com/office/drawing/2014/main" id="{14AC02A7-DB09-4B1A-9652-875DDDE8FD11}"/>
              </a:ext>
            </a:extLst>
          </p:cNvPr>
          <p:cNvSpPr/>
          <p:nvPr/>
        </p:nvSpPr>
        <p:spPr>
          <a:xfrm>
            <a:off x="347756" y="2038973"/>
            <a:ext cx="54864" cy="685800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7F1B1582-A668-F509-04E6-DF5382A0976D}"/>
              </a:ext>
            </a:extLst>
          </p:cNvPr>
          <p:cNvSpPr/>
          <p:nvPr/>
        </p:nvSpPr>
        <p:spPr>
          <a:xfrm>
            <a:off x="466628" y="2093837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COUNT(*)</a:t>
            </a:r>
            <a:endParaRPr lang="en-US" sz="950" dirty="0"/>
          </a:p>
        </p:txBody>
      </p:sp>
      <p:sp>
        <p:nvSpPr>
          <p:cNvPr id="8" name="Shape 9">
            <a:extLst>
              <a:ext uri="{FF2B5EF4-FFF2-40B4-BE49-F238E27FC236}">
                <a16:creationId xmlns:a16="http://schemas.microsoft.com/office/drawing/2014/main" id="{EA49B0C6-21F3-65E3-1C44-8E41343BF27C}"/>
              </a:ext>
            </a:extLst>
          </p:cNvPr>
          <p:cNvSpPr/>
          <p:nvPr/>
        </p:nvSpPr>
        <p:spPr>
          <a:xfrm>
            <a:off x="2341148" y="2093837"/>
            <a:ext cx="914400" cy="228600"/>
          </a:xfrm>
          <a:prstGeom prst="roundRect">
            <a:avLst>
              <a:gd name="adj" fmla="val 20000"/>
            </a:avLst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10">
            <a:extLst>
              <a:ext uri="{FF2B5EF4-FFF2-40B4-BE49-F238E27FC236}">
                <a16:creationId xmlns:a16="http://schemas.microsoft.com/office/drawing/2014/main" id="{5C396597-7B1D-3EE1-6F95-62B2390CDA66}"/>
              </a:ext>
            </a:extLst>
          </p:cNvPr>
          <p:cNvSpPr/>
          <p:nvPr/>
        </p:nvSpPr>
        <p:spPr>
          <a:xfrm>
            <a:off x="2341148" y="2093837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Inflado</a:t>
            </a:r>
            <a:endParaRPr lang="en-US" sz="850" dirty="0"/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CF215B32-0F50-68A6-9AA1-10FA2FF7E73C}"/>
              </a:ext>
            </a:extLst>
          </p:cNvPr>
          <p:cNvSpPr/>
          <p:nvPr/>
        </p:nvSpPr>
        <p:spPr>
          <a:xfrm>
            <a:off x="466628" y="2359013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B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linha duplicada conta como um usuário extra. active_collaborators e data_driven_users ficam maiores que o real.</a:t>
            </a:r>
            <a:endParaRPr lang="en-US" sz="850" dirty="0"/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5E70D806-1603-2B2C-4D5E-F91F9097B1EE}"/>
              </a:ext>
            </a:extLst>
          </p:cNvPr>
          <p:cNvSpPr/>
          <p:nvPr/>
        </p:nvSpPr>
        <p:spPr>
          <a:xfrm>
            <a:off x="347756" y="2788781"/>
            <a:ext cx="4206240" cy="685800"/>
          </a:xfrm>
          <a:prstGeom prst="rect">
            <a:avLst/>
          </a:prstGeom>
          <a:solidFill>
            <a:srgbClr val="F0F4FA"/>
          </a:solidFill>
          <a:ln w="1270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46FA5E4E-A9D5-3746-0E2B-BF8E49796FD6}"/>
              </a:ext>
            </a:extLst>
          </p:cNvPr>
          <p:cNvSpPr/>
          <p:nvPr/>
        </p:nvSpPr>
        <p:spPr>
          <a:xfrm>
            <a:off x="347756" y="2788781"/>
            <a:ext cx="54864" cy="6858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A1FE1E1E-07D0-E51B-9BB6-07915CBDAC15}"/>
              </a:ext>
            </a:extLst>
          </p:cNvPr>
          <p:cNvSpPr/>
          <p:nvPr/>
        </p:nvSpPr>
        <p:spPr>
          <a:xfrm>
            <a:off x="466628" y="2843645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COUNT(DISTINCT username)</a:t>
            </a:r>
            <a:endParaRPr lang="en-US" sz="950" dirty="0"/>
          </a:p>
        </p:txBody>
      </p:sp>
      <p:sp>
        <p:nvSpPr>
          <p:cNvPr id="21" name="Shape 15">
            <a:extLst>
              <a:ext uri="{FF2B5EF4-FFF2-40B4-BE49-F238E27FC236}">
                <a16:creationId xmlns:a16="http://schemas.microsoft.com/office/drawing/2014/main" id="{96581800-BD70-A8B0-5DDD-A0EEC799F73F}"/>
              </a:ext>
            </a:extLst>
          </p:cNvPr>
          <p:cNvSpPr/>
          <p:nvPr/>
        </p:nvSpPr>
        <p:spPr>
          <a:xfrm>
            <a:off x="2341148" y="2843645"/>
            <a:ext cx="914400" cy="228600"/>
          </a:xfrm>
          <a:prstGeom prst="roundRect">
            <a:avLst>
              <a:gd name="adj" fmla="val 20000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16">
            <a:extLst>
              <a:ext uri="{FF2B5EF4-FFF2-40B4-BE49-F238E27FC236}">
                <a16:creationId xmlns:a16="http://schemas.microsoft.com/office/drawing/2014/main" id="{2306A103-4E68-5B86-72E8-68236598950A}"/>
              </a:ext>
            </a:extLst>
          </p:cNvPr>
          <p:cNvSpPr/>
          <p:nvPr/>
        </p:nvSpPr>
        <p:spPr>
          <a:xfrm>
            <a:off x="2341148" y="2843645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Correto</a:t>
            </a:r>
            <a:endParaRPr lang="en-US" sz="850" dirty="0"/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8DAB4BAB-A016-28C6-974A-34CD80430871}"/>
              </a:ext>
            </a:extLst>
          </p:cNvPr>
          <p:cNvSpPr/>
          <p:nvPr/>
        </p:nvSpPr>
        <p:spPr>
          <a:xfrm>
            <a:off x="466628" y="3108821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B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Corrige a contagem de usuários únicos. Mas não resolve o problema se a duplicata tiver classificações diferentes.</a:t>
            </a:r>
            <a:endParaRPr lang="en-US" sz="850" dirty="0"/>
          </a:p>
        </p:txBody>
      </p:sp>
      <p:sp>
        <p:nvSpPr>
          <p:cNvPr id="24" name="Shape 18">
            <a:extLst>
              <a:ext uri="{FF2B5EF4-FFF2-40B4-BE49-F238E27FC236}">
                <a16:creationId xmlns:a16="http://schemas.microsoft.com/office/drawing/2014/main" id="{3AD51DE0-0C6F-342B-02E4-55A8E999BD17}"/>
              </a:ext>
            </a:extLst>
          </p:cNvPr>
          <p:cNvSpPr/>
          <p:nvPr/>
        </p:nvSpPr>
        <p:spPr>
          <a:xfrm>
            <a:off x="347756" y="3538589"/>
            <a:ext cx="4206240" cy="685800"/>
          </a:xfrm>
          <a:prstGeom prst="rect">
            <a:avLst/>
          </a:prstGeom>
          <a:solidFill>
            <a:srgbClr val="F0F4FA"/>
          </a:solidFill>
          <a:ln w="1270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19">
            <a:extLst>
              <a:ext uri="{FF2B5EF4-FFF2-40B4-BE49-F238E27FC236}">
                <a16:creationId xmlns:a16="http://schemas.microsoft.com/office/drawing/2014/main" id="{A5E48149-5ED4-8BEE-9C09-0CD14C4918F7}"/>
              </a:ext>
            </a:extLst>
          </p:cNvPr>
          <p:cNvSpPr/>
          <p:nvPr/>
        </p:nvSpPr>
        <p:spPr>
          <a:xfrm>
            <a:off x="347756" y="3538589"/>
            <a:ext cx="54864" cy="685800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0">
            <a:extLst>
              <a:ext uri="{FF2B5EF4-FFF2-40B4-BE49-F238E27FC236}">
                <a16:creationId xmlns:a16="http://schemas.microsoft.com/office/drawing/2014/main" id="{3354D6D3-607D-FB52-15CB-219CF6FA19C4}"/>
              </a:ext>
            </a:extLst>
          </p:cNvPr>
          <p:cNvSpPr/>
          <p:nvPr/>
        </p:nvSpPr>
        <p:spPr>
          <a:xfrm>
            <a:off x="466628" y="3593453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share_per_ddi_classification</a:t>
            </a:r>
            <a:endParaRPr lang="en-US" sz="950" dirty="0"/>
          </a:p>
        </p:txBody>
      </p:sp>
      <p:sp>
        <p:nvSpPr>
          <p:cNvPr id="27" name="Shape 21">
            <a:extLst>
              <a:ext uri="{FF2B5EF4-FFF2-40B4-BE49-F238E27FC236}">
                <a16:creationId xmlns:a16="http://schemas.microsoft.com/office/drawing/2014/main" id="{C45ED675-1F81-E38E-99FA-EBCD1199C074}"/>
              </a:ext>
            </a:extLst>
          </p:cNvPr>
          <p:cNvSpPr/>
          <p:nvPr/>
        </p:nvSpPr>
        <p:spPr>
          <a:xfrm>
            <a:off x="2341148" y="3593453"/>
            <a:ext cx="914400" cy="228600"/>
          </a:xfrm>
          <a:prstGeom prst="roundRect">
            <a:avLst>
              <a:gd name="adj" fmla="val 20000"/>
            </a:avLst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2">
            <a:extLst>
              <a:ext uri="{FF2B5EF4-FFF2-40B4-BE49-F238E27FC236}">
                <a16:creationId xmlns:a16="http://schemas.microsoft.com/office/drawing/2014/main" id="{139B4F40-3EDF-8B7B-0EC1-4F43CAB5FC1A}"/>
              </a:ext>
            </a:extLst>
          </p:cNvPr>
          <p:cNvSpPr/>
          <p:nvPr/>
        </p:nvSpPr>
        <p:spPr>
          <a:xfrm>
            <a:off x="2341148" y="3593453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Distorcido</a:t>
            </a:r>
            <a:endParaRPr lang="en-US" sz="850" dirty="0"/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F82E572A-9CFA-3CCE-83AB-743ED36221B2}"/>
              </a:ext>
            </a:extLst>
          </p:cNvPr>
          <p:cNvSpPr/>
          <p:nvPr/>
        </p:nvSpPr>
        <p:spPr>
          <a:xfrm>
            <a:off x="466628" y="3858629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B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u1 tem 2 linhas (Beginner + No Use), ambas entram no cálculo de share. A distribuição percentual por classificação fica errada.</a:t>
            </a:r>
            <a:endParaRPr lang="en-US" sz="850" dirty="0"/>
          </a:p>
        </p:txBody>
      </p:sp>
      <p:sp>
        <p:nvSpPr>
          <p:cNvPr id="30" name="Shape 24">
            <a:extLst>
              <a:ext uri="{FF2B5EF4-FFF2-40B4-BE49-F238E27FC236}">
                <a16:creationId xmlns:a16="http://schemas.microsoft.com/office/drawing/2014/main" id="{7F6BCED6-29A5-3E6A-01A8-3333045710D6}"/>
              </a:ext>
            </a:extLst>
          </p:cNvPr>
          <p:cNvSpPr/>
          <p:nvPr/>
        </p:nvSpPr>
        <p:spPr>
          <a:xfrm>
            <a:off x="4997636" y="1037033"/>
            <a:ext cx="6762845" cy="505769"/>
          </a:xfrm>
          <a:prstGeom prst="rect">
            <a:avLst/>
          </a:prstGeom>
          <a:solidFill>
            <a:srgbClr val="1659A8"/>
          </a:solidFill>
          <a:ln w="12700">
            <a:solidFill>
              <a:srgbClr val="1659A8"/>
            </a:solidFill>
            <a:prstDash val="solid"/>
          </a:ln>
        </p:spPr>
        <p:txBody>
          <a:bodyPr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Detecção</a:t>
            </a:r>
            <a:endParaRPr lang="en-US" dirty="0"/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7F6007A0-5316-8A53-D402-2B4CE82F3B4E}"/>
              </a:ext>
            </a:extLst>
          </p:cNvPr>
          <p:cNvSpPr/>
          <p:nvPr/>
        </p:nvSpPr>
        <p:spPr>
          <a:xfrm>
            <a:off x="4997636" y="1037033"/>
            <a:ext cx="6762845" cy="5057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32" name="Shape 26">
            <a:extLst>
              <a:ext uri="{FF2B5EF4-FFF2-40B4-BE49-F238E27FC236}">
                <a16:creationId xmlns:a16="http://schemas.microsoft.com/office/drawing/2014/main" id="{69D94E9F-8A5C-99B5-19D3-652232533291}"/>
              </a:ext>
            </a:extLst>
          </p:cNvPr>
          <p:cNvSpPr/>
          <p:nvPr/>
        </p:nvSpPr>
        <p:spPr>
          <a:xfrm>
            <a:off x="4997636" y="1402793"/>
            <a:ext cx="6762845" cy="158955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84DE449F-9B50-1A28-C362-D8E67ED0341C}"/>
              </a:ext>
            </a:extLst>
          </p:cNvPr>
          <p:cNvSpPr/>
          <p:nvPr/>
        </p:nvSpPr>
        <p:spPr>
          <a:xfrm>
            <a:off x="5076613" y="1448513"/>
            <a:ext cx="6531636" cy="1445053"/>
          </a:xfrm>
          <a:prstGeom prst="rect">
            <a:avLst/>
          </a:prstGeom>
          <a:noFill/>
          <a:ln/>
        </p:spPr>
        <p:txBody>
          <a:bodyPr wrap="square" lIns="50800" tIns="50800" rIns="50800" bIns="50800" numCol="2" rtlCol="0" anchor="t"/>
          <a:lstStyle/>
          <a:p>
            <a:pPr marL="0" indent="0">
              <a:lnSpc>
                <a:spcPct val="200000"/>
              </a:lnSpc>
              <a:buNone/>
            </a:pPr>
            <a:r>
              <a:rPr lang="en-US" sz="800" dirty="0">
                <a:solidFill>
                  <a:schemeClr val="tx2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username, date_month, </a:t>
            </a:r>
            <a:r>
              <a:rPr lang="en-US" sz="8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r>
              <a:rPr lang="en-US" sz="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(*) </a:t>
            </a:r>
            <a:r>
              <a:rPr lang="en-US" sz="800" dirty="0">
                <a:solidFill>
                  <a:schemeClr val="tx2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</a:t>
            </a:r>
            <a:endParaRPr lang="en-US" sz="80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800" dirty="0">
                <a:solidFill>
                  <a:schemeClr val="tx2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tb_ddi</a:t>
            </a:r>
            <a:endParaRPr lang="en-US" sz="80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800" dirty="0">
                <a:solidFill>
                  <a:schemeClr val="tx2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</a:t>
            </a:r>
            <a:r>
              <a:rPr lang="en-US" sz="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1, 2</a:t>
            </a:r>
            <a:endParaRPr lang="en-US" sz="80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800" dirty="0">
                <a:solidFill>
                  <a:schemeClr val="tx2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HAVING</a:t>
            </a:r>
            <a:r>
              <a:rPr lang="en-US" sz="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r>
              <a:rPr lang="en-US" sz="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(*) &gt; 1;</a:t>
            </a:r>
            <a:endParaRPr lang="en-US" sz="80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800" dirty="0">
                <a:solidFill>
                  <a:schemeClr val="accent6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Retorna todos os pares com &gt; 1 linha</a:t>
            </a:r>
            <a:endParaRPr lang="en-US" sz="8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4" name="Shape 28">
            <a:extLst>
              <a:ext uri="{FF2B5EF4-FFF2-40B4-BE49-F238E27FC236}">
                <a16:creationId xmlns:a16="http://schemas.microsoft.com/office/drawing/2014/main" id="{8E550479-52B0-B21A-7EDC-2B9E84DC65EC}"/>
              </a:ext>
            </a:extLst>
          </p:cNvPr>
          <p:cNvSpPr/>
          <p:nvPr/>
        </p:nvSpPr>
        <p:spPr>
          <a:xfrm>
            <a:off x="4997635" y="3104480"/>
            <a:ext cx="6762846" cy="507261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pPr algn="ctr"/>
            <a:r>
              <a:rPr lang="en-US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Correção — 2 abordagens</a:t>
            </a:r>
            <a:endParaRPr lang="en-US" dirty="0"/>
          </a:p>
        </p:txBody>
      </p:sp>
      <p:sp>
        <p:nvSpPr>
          <p:cNvPr id="35" name="Text 29">
            <a:extLst>
              <a:ext uri="{FF2B5EF4-FFF2-40B4-BE49-F238E27FC236}">
                <a16:creationId xmlns:a16="http://schemas.microsoft.com/office/drawing/2014/main" id="{F72E79C6-A58C-3B31-1F84-C6DD05FB786B}"/>
              </a:ext>
            </a:extLst>
          </p:cNvPr>
          <p:cNvSpPr/>
          <p:nvPr/>
        </p:nvSpPr>
        <p:spPr>
          <a:xfrm>
            <a:off x="4977676" y="3705582"/>
            <a:ext cx="6782806" cy="5072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Correção — 2 abordagens</a:t>
            </a:r>
            <a:endParaRPr lang="en-US" sz="1000" dirty="0"/>
          </a:p>
        </p:txBody>
      </p:sp>
      <p:sp>
        <p:nvSpPr>
          <p:cNvPr id="36" name="Shape 30">
            <a:extLst>
              <a:ext uri="{FF2B5EF4-FFF2-40B4-BE49-F238E27FC236}">
                <a16:creationId xmlns:a16="http://schemas.microsoft.com/office/drawing/2014/main" id="{11971A50-2107-8BF7-CE0C-AFECD1D33D14}"/>
              </a:ext>
            </a:extLst>
          </p:cNvPr>
          <p:cNvSpPr/>
          <p:nvPr/>
        </p:nvSpPr>
        <p:spPr>
          <a:xfrm>
            <a:off x="4997635" y="3470241"/>
            <a:ext cx="6762845" cy="1522557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7" name="Text 31">
            <a:extLst>
              <a:ext uri="{FF2B5EF4-FFF2-40B4-BE49-F238E27FC236}">
                <a16:creationId xmlns:a16="http://schemas.microsoft.com/office/drawing/2014/main" id="{2794B3E3-9A4D-FEDF-3A40-F97BE0B50EEA}"/>
              </a:ext>
            </a:extLst>
          </p:cNvPr>
          <p:cNvSpPr/>
          <p:nvPr/>
        </p:nvSpPr>
        <p:spPr>
          <a:xfrm>
            <a:off x="5050826" y="3515961"/>
            <a:ext cx="6550915" cy="140427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780" dirty="0">
                <a:solidFill>
                  <a:schemeClr val="accent6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① Curadoria na staging (solução adotada)</a:t>
            </a:r>
            <a:endParaRPr lang="en-US" sz="780"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780" dirty="0">
                <a:solidFill>
                  <a:schemeClr val="tx2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DISTINCT ON </a:t>
            </a:r>
            <a:r>
              <a:rPr lang="en-US" sz="7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(username, date_month)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username, </a:t>
            </a:r>
          </a:p>
          <a:p>
            <a:pPr marL="0" indent="0">
              <a:buNone/>
            </a:pPr>
            <a:r>
              <a:rPr lang="en-US" sz="7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78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date_month</a:t>
            </a:r>
            <a:r>
              <a:rPr lang="en-US" sz="7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user_classification, </a:t>
            </a:r>
          </a:p>
          <a:p>
            <a:pPr marL="0" indent="0">
              <a:buNone/>
            </a:pPr>
            <a:r>
              <a:rPr lang="en-US" sz="7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78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is_data_user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chemeClr val="tx2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7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tb_ddi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chemeClr val="tx2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</a:t>
            </a:r>
            <a:r>
              <a:rPr lang="en-US" sz="7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username, </a:t>
            </a:r>
            <a:r>
              <a:rPr lang="en-US" sz="78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date_month</a:t>
            </a:r>
            <a:r>
              <a:rPr lang="en-US" sz="7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78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is_data_user</a:t>
            </a:r>
            <a:r>
              <a:rPr lang="en-US" sz="7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780" dirty="0">
                <a:solidFill>
                  <a:schemeClr val="tx2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</a:t>
            </a:r>
            <a:r>
              <a:rPr lang="en-US" sz="7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</a:t>
            </a:r>
            <a:r>
              <a:rPr lang="en-US" sz="780" dirty="0">
                <a:solidFill>
                  <a:schemeClr val="accent6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TRUE &gt; FALSE</a:t>
            </a:r>
            <a:endParaRPr lang="en-US" sz="780"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780" dirty="0">
                <a:solidFill>
                  <a:schemeClr val="accent6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② Preferencial: corrigir o pipeline</a:t>
            </a:r>
            <a:endParaRPr lang="en-US" sz="780"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780" dirty="0">
                <a:solidFill>
                  <a:schemeClr val="accent6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que grava tb_ddi na origem.</a:t>
            </a:r>
            <a:endParaRPr lang="en-US" sz="78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8" name="Shape 32">
            <a:extLst>
              <a:ext uri="{FF2B5EF4-FFF2-40B4-BE49-F238E27FC236}">
                <a16:creationId xmlns:a16="http://schemas.microsoft.com/office/drawing/2014/main" id="{C9E0D5BF-8114-6D1C-F3CD-8512A3E3EF02}"/>
              </a:ext>
            </a:extLst>
          </p:cNvPr>
          <p:cNvSpPr/>
          <p:nvPr/>
        </p:nvSpPr>
        <p:spPr>
          <a:xfrm>
            <a:off x="4997636" y="5119621"/>
            <a:ext cx="6787447" cy="1566334"/>
          </a:xfrm>
          <a:prstGeom prst="rect">
            <a:avLst/>
          </a:prstGeom>
          <a:solidFill>
            <a:srgbClr val="FFF3CD"/>
          </a:solidFill>
          <a:ln w="12700">
            <a:solidFill>
              <a:srgbClr val="F0D07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Text 33">
            <a:extLst>
              <a:ext uri="{FF2B5EF4-FFF2-40B4-BE49-F238E27FC236}">
                <a16:creationId xmlns:a16="http://schemas.microsoft.com/office/drawing/2014/main" id="{0338E299-57CB-7DB4-1986-A1ADF02C6FFD}"/>
              </a:ext>
            </a:extLst>
          </p:cNvPr>
          <p:cNvSpPr/>
          <p:nvPr/>
        </p:nvSpPr>
        <p:spPr>
          <a:xfrm>
            <a:off x="5070789" y="5156196"/>
            <a:ext cx="6555398" cy="406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Por que não basta COUNT(DISTINCT username)?</a:t>
            </a:r>
            <a:endParaRPr lang="en-US" sz="1400" dirty="0"/>
          </a:p>
        </p:txBody>
      </p:sp>
      <p:sp>
        <p:nvSpPr>
          <p:cNvPr id="40" name="Text 34">
            <a:extLst>
              <a:ext uri="{FF2B5EF4-FFF2-40B4-BE49-F238E27FC236}">
                <a16:creationId xmlns:a16="http://schemas.microsoft.com/office/drawing/2014/main" id="{81A7ED14-86AE-528E-F5F3-1D83AF0746D9}"/>
              </a:ext>
            </a:extLst>
          </p:cNvPr>
          <p:cNvSpPr/>
          <p:nvPr/>
        </p:nvSpPr>
        <p:spPr>
          <a:xfrm>
            <a:off x="5070789" y="5430517"/>
            <a:ext cx="6555398" cy="986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COUNT(DISTINCT username) corrige a contagem de pessoas mas não elimina as linhas extras.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7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as duplicatas tiverem user_classification diferentes, o </a:t>
            </a:r>
            <a:r>
              <a:rPr lang="en-US" sz="1200" dirty="0" err="1">
                <a:solidFill>
                  <a:srgbClr val="7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share_per_ddi_classification</a:t>
            </a:r>
            <a:r>
              <a:rPr lang="en-US" sz="1200" dirty="0">
                <a:solidFill>
                  <a:srgbClr val="7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1200" dirty="0">
                <a:solidFill>
                  <a:srgbClr val="7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200" dirty="0">
                <a:solidFill>
                  <a:srgbClr val="7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 distorcido — a mesma pessoa entra em dois buckets diferentes.</a:t>
            </a:r>
            <a:endParaRPr lang="en-US" sz="1200" dirty="0"/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DA712735-F8EA-FF0F-53EB-82DA8FC991AA}"/>
              </a:ext>
            </a:extLst>
          </p:cNvPr>
          <p:cNvSpPr txBox="1"/>
          <p:nvPr/>
        </p:nvSpPr>
        <p:spPr>
          <a:xfrm>
            <a:off x="375188" y="1096355"/>
            <a:ext cx="3723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Duplicidade username + date_month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139629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551EE-67D4-0192-6BA8-D58D734C0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Agrupar 13">
            <a:extLst>
              <a:ext uri="{FF2B5EF4-FFF2-40B4-BE49-F238E27FC236}">
                <a16:creationId xmlns:a16="http://schemas.microsoft.com/office/drawing/2014/main" id="{AC2294C3-2194-4275-A047-A8DA48D05661}"/>
              </a:ext>
            </a:extLst>
          </p:cNvPr>
          <p:cNvGrpSpPr/>
          <p:nvPr/>
        </p:nvGrpSpPr>
        <p:grpSpPr>
          <a:xfrm>
            <a:off x="0" y="-2"/>
            <a:ext cx="12192000" cy="787791"/>
            <a:chOff x="0" y="-1"/>
            <a:chExt cx="12192000" cy="787791"/>
          </a:xfrm>
        </p:grpSpPr>
        <p:grpSp>
          <p:nvGrpSpPr>
            <p:cNvPr id="15" name="Agrupar 14">
              <a:extLst>
                <a:ext uri="{FF2B5EF4-FFF2-40B4-BE49-F238E27FC236}">
                  <a16:creationId xmlns:a16="http://schemas.microsoft.com/office/drawing/2014/main" id="{703D2A22-DE70-AFF5-0FEC-F3A498E9449F}"/>
                </a:ext>
              </a:extLst>
            </p:cNvPr>
            <p:cNvGrpSpPr/>
            <p:nvPr/>
          </p:nvGrpSpPr>
          <p:grpSpPr>
            <a:xfrm>
              <a:off x="0" y="-1"/>
              <a:ext cx="12192000" cy="787791"/>
              <a:chOff x="0" y="-1"/>
              <a:chExt cx="12192000" cy="787791"/>
            </a:xfrm>
          </p:grpSpPr>
          <p:sp>
            <p:nvSpPr>
              <p:cNvPr id="17" name="Shape 0">
                <a:extLst>
                  <a:ext uri="{FF2B5EF4-FFF2-40B4-BE49-F238E27FC236}">
                    <a16:creationId xmlns:a16="http://schemas.microsoft.com/office/drawing/2014/main" id="{C512A811-C155-D8AA-6CC4-C9D39D6892ED}"/>
                  </a:ext>
                </a:extLst>
              </p:cNvPr>
              <p:cNvSpPr/>
              <p:nvPr/>
            </p:nvSpPr>
            <p:spPr>
              <a:xfrm>
                <a:off x="0" y="-1"/>
                <a:ext cx="12192000" cy="787791"/>
              </a:xfrm>
              <a:prstGeom prst="rect">
                <a:avLst/>
              </a:prstGeom>
              <a:solidFill>
                <a:srgbClr val="333333"/>
              </a:solidFill>
              <a:ln w="12700">
                <a:solidFill>
                  <a:srgbClr val="333333"/>
                </a:solidFill>
                <a:prstDash val="solid"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8" name="Retângulo: Cantos Arredondados 17">
                <a:extLst>
                  <a:ext uri="{FF2B5EF4-FFF2-40B4-BE49-F238E27FC236}">
                    <a16:creationId xmlns:a16="http://schemas.microsoft.com/office/drawing/2014/main" id="{077C3A43-C2A9-A9CB-39F4-91A0233A3821}"/>
                  </a:ext>
                </a:extLst>
              </p:cNvPr>
              <p:cNvSpPr/>
              <p:nvPr/>
            </p:nvSpPr>
            <p:spPr>
              <a:xfrm>
                <a:off x="9835375" y="306443"/>
                <a:ext cx="1987681" cy="175290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23000">
                    <a:srgbClr val="84B9EB"/>
                  </a:gs>
                  <a:gs pos="54000">
                    <a:srgbClr val="F5EB3F"/>
                  </a:gs>
                </a:gsLst>
                <a:lin ang="0" scaled="1"/>
                <a:tileRect/>
              </a:gradFill>
              <a:ln>
                <a:solidFill>
                  <a:srgbClr val="3333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pic>
          <p:nvPicPr>
            <p:cNvPr id="16" name="Imagem 15">
              <a:extLst>
                <a:ext uri="{FF2B5EF4-FFF2-40B4-BE49-F238E27FC236}">
                  <a16:creationId xmlns:a16="http://schemas.microsoft.com/office/drawing/2014/main" id="{331390A1-E1E8-791F-300E-2641F78E26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7756" y="213902"/>
              <a:ext cx="1279943" cy="359984"/>
            </a:xfrm>
            <a:prstGeom prst="rect">
              <a:avLst/>
            </a:prstGeom>
          </p:spPr>
        </p:pic>
      </p:grpSp>
      <p:sp>
        <p:nvSpPr>
          <p:cNvPr id="19" name="Título 1">
            <a:extLst>
              <a:ext uri="{FF2B5EF4-FFF2-40B4-BE49-F238E27FC236}">
                <a16:creationId xmlns:a16="http://schemas.microsoft.com/office/drawing/2014/main" id="{C2E4E561-81EF-2F6F-053C-099CCAD5F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4635" y="72739"/>
            <a:ext cx="7821795" cy="642310"/>
          </a:xfrm>
        </p:spPr>
        <p:txBody>
          <a:bodyPr anchor="t">
            <a:normAutofit fontScale="90000"/>
          </a:bodyPr>
          <a:lstStyle/>
          <a:p>
            <a:r>
              <a:rPr lang="pt-BR" dirty="0">
                <a:solidFill>
                  <a:schemeClr val="bg1"/>
                </a:solidFill>
              </a:rPr>
              <a:t>| </a:t>
            </a:r>
            <a:r>
              <a:rPr lang="pt-BR" sz="3100" dirty="0">
                <a:solidFill>
                  <a:schemeClr val="bg1"/>
                </a:solidFill>
              </a:rPr>
              <a:t>Efeito e Exemplos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7FA9AC58-037F-6252-66B0-024EF73C28F2}"/>
              </a:ext>
            </a:extLst>
          </p:cNvPr>
          <p:cNvSpPr/>
          <p:nvPr/>
        </p:nvSpPr>
        <p:spPr>
          <a:xfrm>
            <a:off x="0" y="0"/>
            <a:ext cx="61913" cy="787789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9699E3F2-E045-82BE-C2B4-07735AE8289C}"/>
              </a:ext>
            </a:extLst>
          </p:cNvPr>
          <p:cNvSpPr/>
          <p:nvPr/>
        </p:nvSpPr>
        <p:spPr>
          <a:xfrm>
            <a:off x="804579" y="1826387"/>
            <a:ext cx="4206240" cy="320040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C9D63015-47D9-D1BC-6CFF-7A1C19E935B5}"/>
              </a:ext>
            </a:extLst>
          </p:cNvPr>
          <p:cNvSpPr/>
          <p:nvPr/>
        </p:nvSpPr>
        <p:spPr>
          <a:xfrm>
            <a:off x="804579" y="1826387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WHERE no lado direito — comportamento INNER JOIN</a:t>
            </a:r>
            <a:endParaRPr lang="en-US" sz="950" dirty="0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485CE902-EF5F-503C-E451-D5FD672058B7}"/>
              </a:ext>
            </a:extLst>
          </p:cNvPr>
          <p:cNvSpPr/>
          <p:nvPr/>
        </p:nvSpPr>
        <p:spPr>
          <a:xfrm>
            <a:off x="804579" y="2173859"/>
            <a:ext cx="4206240" cy="15087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52415A18-55B0-7B76-8E61-6A71003F5574}"/>
              </a:ext>
            </a:extLst>
          </p:cNvPr>
          <p:cNvSpPr/>
          <p:nvPr/>
        </p:nvSpPr>
        <p:spPr>
          <a:xfrm>
            <a:off x="877731" y="2219579"/>
            <a:ext cx="4059936" cy="1417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800" dirty="0">
                <a:solidFill>
                  <a:schemeClr val="tx2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p.username, d.user_classification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chemeClr val="tx2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stg_people_history p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chemeClr val="tx2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 </a:t>
            </a:r>
            <a:r>
              <a:rPr lang="en-US" sz="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tb_ddi d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00" dirty="0">
                <a:solidFill>
                  <a:schemeClr val="tx2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r>
              <a:rPr lang="en-US" sz="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p.username = d.username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r>
              <a:rPr lang="en-US" sz="800" dirty="0">
                <a:solidFill>
                  <a:schemeClr val="tx2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r>
              <a:rPr lang="en-US" sz="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d.date_month = </a:t>
            </a:r>
            <a:r>
              <a:rPr lang="en-US" sz="8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'2025-06-01'</a:t>
            </a:r>
            <a:endParaRPr lang="en-US" sz="8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800" dirty="0">
                <a:solidFill>
                  <a:schemeClr val="tx2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d.user_classification = </a:t>
            </a:r>
            <a:r>
              <a:rPr lang="en-US" sz="8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'Beginner'</a:t>
            </a:r>
            <a:r>
              <a:rPr lang="en-US" sz="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chemeClr val="accent6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Elimina linhas onde d.user_classification IS NULL</a:t>
            </a:r>
            <a:endParaRPr lang="en-US" sz="800"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800" dirty="0">
                <a:solidFill>
                  <a:schemeClr val="accent6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(ou seja, usuários sem DDI no mês somem do resultado)</a:t>
            </a:r>
            <a:endParaRPr lang="en-US" sz="800"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800" dirty="0">
                <a:solidFill>
                  <a:schemeClr val="accent6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O LEFT JOIN vira efetivamente um INNER JOIN</a:t>
            </a:r>
            <a:endParaRPr lang="en-US" sz="8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7" name="Shape 8">
            <a:extLst>
              <a:ext uri="{FF2B5EF4-FFF2-40B4-BE49-F238E27FC236}">
                <a16:creationId xmlns:a16="http://schemas.microsoft.com/office/drawing/2014/main" id="{896A2560-F655-0A0C-0AD0-61E4FF570193}"/>
              </a:ext>
            </a:extLst>
          </p:cNvPr>
          <p:cNvSpPr/>
          <p:nvPr/>
        </p:nvSpPr>
        <p:spPr>
          <a:xfrm>
            <a:off x="804579" y="3764915"/>
            <a:ext cx="4206240" cy="3200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15A16106-949E-355C-6E92-C2A817447B53}"/>
              </a:ext>
            </a:extLst>
          </p:cNvPr>
          <p:cNvSpPr/>
          <p:nvPr/>
        </p:nvSpPr>
        <p:spPr>
          <a:xfrm>
            <a:off x="804579" y="3764915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Filtro no ON — preserva todos da tabela esquerda</a:t>
            </a:r>
            <a:endParaRPr lang="en-US" sz="950" dirty="0"/>
          </a:p>
        </p:txBody>
      </p:sp>
      <p:sp>
        <p:nvSpPr>
          <p:cNvPr id="9" name="Shape 10">
            <a:extLst>
              <a:ext uri="{FF2B5EF4-FFF2-40B4-BE49-F238E27FC236}">
                <a16:creationId xmlns:a16="http://schemas.microsoft.com/office/drawing/2014/main" id="{820B2C07-6682-945C-F9B2-919468672FDB}"/>
              </a:ext>
            </a:extLst>
          </p:cNvPr>
          <p:cNvSpPr/>
          <p:nvPr/>
        </p:nvSpPr>
        <p:spPr>
          <a:xfrm>
            <a:off x="804579" y="4112387"/>
            <a:ext cx="4206240" cy="15544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C13B746D-AF06-B025-09FE-F52124690D01}"/>
              </a:ext>
            </a:extLst>
          </p:cNvPr>
          <p:cNvSpPr/>
          <p:nvPr/>
        </p:nvSpPr>
        <p:spPr>
          <a:xfrm>
            <a:off x="877731" y="4158107"/>
            <a:ext cx="4059936" cy="1463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800" dirty="0">
                <a:solidFill>
                  <a:schemeClr val="tx2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p.username, d.user_classification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chemeClr val="tx2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stg_people_history p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chemeClr val="tx2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 </a:t>
            </a:r>
            <a:r>
              <a:rPr lang="en-US" sz="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tb_ddi d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00" dirty="0">
                <a:solidFill>
                  <a:schemeClr val="tx2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r>
              <a:rPr lang="en-US" sz="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p.username = d.username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r>
              <a:rPr lang="en-US" sz="800" dirty="0">
                <a:solidFill>
                  <a:schemeClr val="tx2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r>
              <a:rPr lang="en-US" sz="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d.date_month = </a:t>
            </a:r>
            <a:r>
              <a:rPr lang="en-US" sz="8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'2025-06-01'</a:t>
            </a:r>
            <a:endParaRPr lang="en-US" sz="8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r>
              <a:rPr lang="en-US" sz="800" dirty="0">
                <a:solidFill>
                  <a:schemeClr val="tx2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r>
              <a:rPr lang="en-US" sz="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d.user_classification = </a:t>
            </a:r>
            <a:r>
              <a:rPr lang="en-US" sz="8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'Beginner'</a:t>
            </a:r>
            <a:r>
              <a:rPr lang="en-US" sz="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chemeClr val="accent6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Usuários sem DDI Beginner no mês: user_classification = NULL</a:t>
            </a:r>
            <a:endParaRPr lang="en-US" sz="800"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800" dirty="0">
                <a:solidFill>
                  <a:schemeClr val="accent6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Usuários com DDI Beginner: user_classification = 'Beginner'</a:t>
            </a:r>
            <a:endParaRPr lang="en-US" sz="800"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800" dirty="0">
                <a:solidFill>
                  <a:schemeClr val="accent6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TODOS aparecem — o LEFT JOIN é preservado</a:t>
            </a:r>
            <a:endParaRPr lang="en-US" sz="8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CC16A26D-DC45-C68C-AC46-E1502B0AAF23}"/>
              </a:ext>
            </a:extLst>
          </p:cNvPr>
          <p:cNvSpPr txBox="1"/>
          <p:nvPr/>
        </p:nvSpPr>
        <p:spPr>
          <a:xfrm>
            <a:off x="804579" y="1122422"/>
            <a:ext cx="31293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WHERE</a:t>
            </a:r>
            <a:r>
              <a:rPr lang="pt-BR" dirty="0"/>
              <a:t> vs. </a:t>
            </a:r>
            <a:r>
              <a:rPr lang="pt-BR" b="1" dirty="0"/>
              <a:t>ON</a:t>
            </a:r>
            <a:r>
              <a:rPr lang="pt-BR" dirty="0"/>
              <a:t> em </a:t>
            </a:r>
            <a:r>
              <a:rPr lang="pt-BR" b="1" dirty="0"/>
              <a:t>LEFT JOIN</a:t>
            </a:r>
          </a:p>
        </p:txBody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07B73319-0B5F-4EC1-AAD2-26108F5FC191}"/>
              </a:ext>
            </a:extLst>
          </p:cNvPr>
          <p:cNvSpPr/>
          <p:nvPr/>
        </p:nvSpPr>
        <p:spPr>
          <a:xfrm>
            <a:off x="5772788" y="1021493"/>
            <a:ext cx="5710590" cy="5588569"/>
          </a:xfrm>
          <a:prstGeom prst="rect">
            <a:avLst/>
          </a:prstGeom>
          <a:solidFill>
            <a:srgbClr val="F0F4FA"/>
          </a:solidFill>
          <a:ln w="12700">
            <a:solidFill>
              <a:srgbClr val="D8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3">
            <a:extLst>
              <a:ext uri="{FF2B5EF4-FFF2-40B4-BE49-F238E27FC236}">
                <a16:creationId xmlns:a16="http://schemas.microsoft.com/office/drawing/2014/main" id="{9170B78E-11C2-6C6B-7673-E9D8091C7E8F}"/>
              </a:ext>
            </a:extLst>
          </p:cNvPr>
          <p:cNvSpPr/>
          <p:nvPr/>
        </p:nvSpPr>
        <p:spPr>
          <a:xfrm>
            <a:off x="5772788" y="1021494"/>
            <a:ext cx="5710590" cy="427074"/>
          </a:xfrm>
          <a:prstGeom prst="rect">
            <a:avLst/>
          </a:prstGeom>
          <a:solidFill>
            <a:srgbClr val="333333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4">
            <a:extLst>
              <a:ext uri="{FF2B5EF4-FFF2-40B4-BE49-F238E27FC236}">
                <a16:creationId xmlns:a16="http://schemas.microsoft.com/office/drawing/2014/main" id="{063F708D-C0F7-55F2-2BE8-3BD4EFB2AE9E}"/>
              </a:ext>
            </a:extLst>
          </p:cNvPr>
          <p:cNvSpPr/>
          <p:nvPr/>
        </p:nvSpPr>
        <p:spPr>
          <a:xfrm>
            <a:off x="5827651" y="1021494"/>
            <a:ext cx="5564165" cy="427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 e casos de uso</a:t>
            </a:r>
            <a:endParaRPr lang="en-US" sz="1000" dirty="0"/>
          </a:p>
        </p:txBody>
      </p:sp>
      <p:sp>
        <p:nvSpPr>
          <p:cNvPr id="22" name="Shape 15">
            <a:extLst>
              <a:ext uri="{FF2B5EF4-FFF2-40B4-BE49-F238E27FC236}">
                <a16:creationId xmlns:a16="http://schemas.microsoft.com/office/drawing/2014/main" id="{D17177AC-146C-8D8E-D6A1-3F08C7CF7750}"/>
              </a:ext>
            </a:extLst>
          </p:cNvPr>
          <p:cNvSpPr/>
          <p:nvPr/>
        </p:nvSpPr>
        <p:spPr>
          <a:xfrm>
            <a:off x="5827651" y="1544794"/>
            <a:ext cx="73213" cy="1159206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15BCC08E-E324-DA2B-C167-CBBB48E2DD97}"/>
              </a:ext>
            </a:extLst>
          </p:cNvPr>
          <p:cNvSpPr/>
          <p:nvPr/>
        </p:nvSpPr>
        <p:spPr>
          <a:xfrm>
            <a:off x="5955667" y="1590513"/>
            <a:ext cx="5344527" cy="305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no lado direito</a:t>
            </a:r>
            <a:endParaRPr lang="en-US" sz="1600" dirty="0"/>
          </a:p>
        </p:txBody>
      </p:sp>
      <p:sp>
        <p:nvSpPr>
          <p:cNvPr id="24" name="Text 17">
            <a:extLst>
              <a:ext uri="{FF2B5EF4-FFF2-40B4-BE49-F238E27FC236}">
                <a16:creationId xmlns:a16="http://schemas.microsoft.com/office/drawing/2014/main" id="{D09037CE-3100-6D14-EC92-984085C23A60}"/>
              </a:ext>
            </a:extLst>
          </p:cNvPr>
          <p:cNvSpPr/>
          <p:nvPr/>
        </p:nvSpPr>
        <p:spPr>
          <a:xfrm>
            <a:off x="5955667" y="1819113"/>
            <a:ext cx="5344527" cy="732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APENAS quando você quer excluir as linhas que não fizeram match (= comportamento INNER). Ex: quero apenas colaboradores que TÊM DDI naquele mês.</a:t>
            </a:r>
            <a:endParaRPr lang="en-US" sz="1050" dirty="0"/>
          </a:p>
        </p:txBody>
      </p:sp>
      <p:sp>
        <p:nvSpPr>
          <p:cNvPr id="25" name="Shape 18">
            <a:extLst>
              <a:ext uri="{FF2B5EF4-FFF2-40B4-BE49-F238E27FC236}">
                <a16:creationId xmlns:a16="http://schemas.microsoft.com/office/drawing/2014/main" id="{B0548FEE-A804-69DD-61F6-06AC06C51E3B}"/>
              </a:ext>
            </a:extLst>
          </p:cNvPr>
          <p:cNvSpPr/>
          <p:nvPr/>
        </p:nvSpPr>
        <p:spPr>
          <a:xfrm>
            <a:off x="5827651" y="2792556"/>
            <a:ext cx="73213" cy="1159206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19">
            <a:extLst>
              <a:ext uri="{FF2B5EF4-FFF2-40B4-BE49-F238E27FC236}">
                <a16:creationId xmlns:a16="http://schemas.microsoft.com/office/drawing/2014/main" id="{A8C11612-5B47-A701-4E14-00C3EC7CFB64}"/>
              </a:ext>
            </a:extLst>
          </p:cNvPr>
          <p:cNvSpPr/>
          <p:nvPr/>
        </p:nvSpPr>
        <p:spPr>
          <a:xfrm>
            <a:off x="5955667" y="2838275"/>
            <a:ext cx="5344527" cy="305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no ON</a:t>
            </a:r>
            <a:endParaRPr lang="en-US" sz="1600" dirty="0"/>
          </a:p>
        </p:txBody>
      </p:sp>
      <p:sp>
        <p:nvSpPr>
          <p:cNvPr id="27" name="Text 20">
            <a:extLst>
              <a:ext uri="{FF2B5EF4-FFF2-40B4-BE49-F238E27FC236}">
                <a16:creationId xmlns:a16="http://schemas.microsoft.com/office/drawing/2014/main" id="{3C9FB0F4-74C2-02B9-812B-C168CAAFFBEB}"/>
              </a:ext>
            </a:extLst>
          </p:cNvPr>
          <p:cNvSpPr/>
          <p:nvPr/>
        </p:nvSpPr>
        <p:spPr>
          <a:xfrm>
            <a:off x="5955667" y="3066875"/>
            <a:ext cx="5344527" cy="732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quando quer restringir os dados da tabela direita MAS ainda assim preservar todos os registros da tabela esquerda. </a:t>
            </a:r>
            <a:br>
              <a:rPr lang="en-US" sz="1050" dirty="0">
                <a:solidFill>
                  <a:srgbClr val="4B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50" dirty="0">
                <a:solidFill>
                  <a:srgbClr val="4B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quero todos os colaboradores, mostrando NULL para os sem DDI Beginner.</a:t>
            </a:r>
            <a:endParaRPr lang="en-US" sz="1050" dirty="0"/>
          </a:p>
        </p:txBody>
      </p:sp>
      <p:sp>
        <p:nvSpPr>
          <p:cNvPr id="28" name="Shape 21">
            <a:extLst>
              <a:ext uri="{FF2B5EF4-FFF2-40B4-BE49-F238E27FC236}">
                <a16:creationId xmlns:a16="http://schemas.microsoft.com/office/drawing/2014/main" id="{0601776B-3146-F2BF-15F2-FEE4DD4620DE}"/>
              </a:ext>
            </a:extLst>
          </p:cNvPr>
          <p:cNvSpPr/>
          <p:nvPr/>
        </p:nvSpPr>
        <p:spPr>
          <a:xfrm>
            <a:off x="5827651" y="4040317"/>
            <a:ext cx="73213" cy="115920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2">
            <a:extLst>
              <a:ext uri="{FF2B5EF4-FFF2-40B4-BE49-F238E27FC236}">
                <a16:creationId xmlns:a16="http://schemas.microsoft.com/office/drawing/2014/main" id="{6EB66726-A195-B3CE-B84D-DD423FDE9CC3}"/>
              </a:ext>
            </a:extLst>
          </p:cNvPr>
          <p:cNvSpPr/>
          <p:nvPr/>
        </p:nvSpPr>
        <p:spPr>
          <a:xfrm>
            <a:off x="5955667" y="4086036"/>
            <a:ext cx="5344527" cy="305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DDI: coverage_rate</a:t>
            </a:r>
            <a:endParaRPr lang="en-US" sz="1600" dirty="0"/>
          </a:p>
        </p:txBody>
      </p:sp>
      <p:sp>
        <p:nvSpPr>
          <p:cNvPr id="30" name="Text 23">
            <a:extLst>
              <a:ext uri="{FF2B5EF4-FFF2-40B4-BE49-F238E27FC236}">
                <a16:creationId xmlns:a16="http://schemas.microsoft.com/office/drawing/2014/main" id="{C9A6E9EE-6820-9D4A-E4B7-C82BEA1D4886}"/>
              </a:ext>
            </a:extLst>
          </p:cNvPr>
          <p:cNvSpPr/>
          <p:nvPr/>
        </p:nvSpPr>
        <p:spPr>
          <a:xfrm>
            <a:off x="5955667" y="4314636"/>
            <a:ext cx="5344527" cy="732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calcular coverage_rate precisamos de TODOS os ativos no denominador, inclusive os sem DDI. O join com tb_ddi deve colocar o filtro de mês no ON, não no WHERE.</a:t>
            </a:r>
            <a:endParaRPr lang="en-US" sz="1050" dirty="0"/>
          </a:p>
        </p:txBody>
      </p:sp>
      <p:sp>
        <p:nvSpPr>
          <p:cNvPr id="31" name="Shape 24">
            <a:extLst>
              <a:ext uri="{FF2B5EF4-FFF2-40B4-BE49-F238E27FC236}">
                <a16:creationId xmlns:a16="http://schemas.microsoft.com/office/drawing/2014/main" id="{47370C8E-5CAA-1FDE-6F43-212457C3239C}"/>
              </a:ext>
            </a:extLst>
          </p:cNvPr>
          <p:cNvSpPr/>
          <p:nvPr/>
        </p:nvSpPr>
        <p:spPr>
          <a:xfrm>
            <a:off x="5827651" y="5297359"/>
            <a:ext cx="73213" cy="115920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25">
            <a:extLst>
              <a:ext uri="{FF2B5EF4-FFF2-40B4-BE49-F238E27FC236}">
                <a16:creationId xmlns:a16="http://schemas.microsoft.com/office/drawing/2014/main" id="{E8E8C5D1-83B6-4CD1-8B78-90C457C4EE44}"/>
              </a:ext>
            </a:extLst>
          </p:cNvPr>
          <p:cNvSpPr/>
          <p:nvPr/>
        </p:nvSpPr>
        <p:spPr>
          <a:xfrm>
            <a:off x="5955667" y="5343078"/>
            <a:ext cx="5344527" cy="305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 prática</a:t>
            </a:r>
            <a:endParaRPr lang="en-US" sz="1600" dirty="0"/>
          </a:p>
        </p:txBody>
      </p:sp>
      <p:sp>
        <p:nvSpPr>
          <p:cNvPr id="33" name="Text 26">
            <a:extLst>
              <a:ext uri="{FF2B5EF4-FFF2-40B4-BE49-F238E27FC236}">
                <a16:creationId xmlns:a16="http://schemas.microsoft.com/office/drawing/2014/main" id="{A4020CA8-7526-5037-F41E-BC707366FCA3}"/>
              </a:ext>
            </a:extLst>
          </p:cNvPr>
          <p:cNvSpPr/>
          <p:nvPr/>
        </p:nvSpPr>
        <p:spPr>
          <a:xfrm>
            <a:off x="5955667" y="5571678"/>
            <a:ext cx="5344527" cy="732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não tem certeza: sempre coloque filtros de atributo da tabela direita no ON. O WHERE final deve filtrar apenas colunas da tabela esquerda ou condições que você quer realmente excluir.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8958146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8DF92-63DC-0E8C-2B0D-B319AFB2D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Agrupar 13">
            <a:extLst>
              <a:ext uri="{FF2B5EF4-FFF2-40B4-BE49-F238E27FC236}">
                <a16:creationId xmlns:a16="http://schemas.microsoft.com/office/drawing/2014/main" id="{ED99DBD7-B6C1-AAA2-3F05-ABA171CED2CF}"/>
              </a:ext>
            </a:extLst>
          </p:cNvPr>
          <p:cNvGrpSpPr/>
          <p:nvPr/>
        </p:nvGrpSpPr>
        <p:grpSpPr>
          <a:xfrm>
            <a:off x="0" y="-2"/>
            <a:ext cx="12192000" cy="787791"/>
            <a:chOff x="0" y="-1"/>
            <a:chExt cx="12192000" cy="787791"/>
          </a:xfrm>
        </p:grpSpPr>
        <p:grpSp>
          <p:nvGrpSpPr>
            <p:cNvPr id="15" name="Agrupar 14">
              <a:extLst>
                <a:ext uri="{FF2B5EF4-FFF2-40B4-BE49-F238E27FC236}">
                  <a16:creationId xmlns:a16="http://schemas.microsoft.com/office/drawing/2014/main" id="{E90E366A-3AAF-2919-944E-10E85DB92668}"/>
                </a:ext>
              </a:extLst>
            </p:cNvPr>
            <p:cNvGrpSpPr/>
            <p:nvPr/>
          </p:nvGrpSpPr>
          <p:grpSpPr>
            <a:xfrm>
              <a:off x="0" y="-1"/>
              <a:ext cx="12192000" cy="787791"/>
              <a:chOff x="0" y="-1"/>
              <a:chExt cx="12192000" cy="787791"/>
            </a:xfrm>
          </p:grpSpPr>
          <p:sp>
            <p:nvSpPr>
              <p:cNvPr id="17" name="Shape 0">
                <a:extLst>
                  <a:ext uri="{FF2B5EF4-FFF2-40B4-BE49-F238E27FC236}">
                    <a16:creationId xmlns:a16="http://schemas.microsoft.com/office/drawing/2014/main" id="{FB10A815-BA6D-A0C3-5B4E-F95BCBF9D984}"/>
                  </a:ext>
                </a:extLst>
              </p:cNvPr>
              <p:cNvSpPr/>
              <p:nvPr/>
            </p:nvSpPr>
            <p:spPr>
              <a:xfrm>
                <a:off x="0" y="-1"/>
                <a:ext cx="12192000" cy="787791"/>
              </a:xfrm>
              <a:prstGeom prst="rect">
                <a:avLst/>
              </a:prstGeom>
              <a:solidFill>
                <a:srgbClr val="333333"/>
              </a:solidFill>
              <a:ln w="12700">
                <a:solidFill>
                  <a:srgbClr val="333333"/>
                </a:solidFill>
                <a:prstDash val="solid"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8" name="Retângulo: Cantos Arredondados 17">
                <a:extLst>
                  <a:ext uri="{FF2B5EF4-FFF2-40B4-BE49-F238E27FC236}">
                    <a16:creationId xmlns:a16="http://schemas.microsoft.com/office/drawing/2014/main" id="{50E494C8-C7BF-F5BC-39B5-E9AD34FB9D54}"/>
                  </a:ext>
                </a:extLst>
              </p:cNvPr>
              <p:cNvSpPr/>
              <p:nvPr/>
            </p:nvSpPr>
            <p:spPr>
              <a:xfrm>
                <a:off x="9835375" y="306443"/>
                <a:ext cx="1987681" cy="175290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23000">
                    <a:srgbClr val="84B9EB"/>
                  </a:gs>
                  <a:gs pos="54000">
                    <a:srgbClr val="F5EB3F"/>
                  </a:gs>
                </a:gsLst>
                <a:lin ang="0" scaled="1"/>
                <a:tileRect/>
              </a:gradFill>
              <a:ln>
                <a:solidFill>
                  <a:srgbClr val="3333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pic>
          <p:nvPicPr>
            <p:cNvPr id="16" name="Imagem 15">
              <a:extLst>
                <a:ext uri="{FF2B5EF4-FFF2-40B4-BE49-F238E27FC236}">
                  <a16:creationId xmlns:a16="http://schemas.microsoft.com/office/drawing/2014/main" id="{7C8138C9-2E61-99F9-A72A-7845275610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7756" y="213902"/>
              <a:ext cx="1279943" cy="359984"/>
            </a:xfrm>
            <a:prstGeom prst="rect">
              <a:avLst/>
            </a:prstGeom>
          </p:spPr>
        </p:pic>
      </p:grpSp>
      <p:sp>
        <p:nvSpPr>
          <p:cNvPr id="19" name="Título 1">
            <a:extLst>
              <a:ext uri="{FF2B5EF4-FFF2-40B4-BE49-F238E27FC236}">
                <a16:creationId xmlns:a16="http://schemas.microsoft.com/office/drawing/2014/main" id="{5B20ABAF-9EBD-5FA1-21B9-58B02FC14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4635" y="72739"/>
            <a:ext cx="7821795" cy="642310"/>
          </a:xfrm>
        </p:spPr>
        <p:txBody>
          <a:bodyPr anchor="t">
            <a:normAutofit fontScale="90000"/>
          </a:bodyPr>
          <a:lstStyle/>
          <a:p>
            <a:r>
              <a:rPr lang="pt-BR" dirty="0">
                <a:solidFill>
                  <a:schemeClr val="bg1"/>
                </a:solidFill>
              </a:rPr>
              <a:t>| </a:t>
            </a:r>
            <a:r>
              <a:rPr lang="pt-BR" sz="3100" dirty="0">
                <a:solidFill>
                  <a:schemeClr val="bg1"/>
                </a:solidFill>
              </a:rPr>
              <a:t>Aplicação em SQL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ECC71F48-B5AF-0824-F03B-8955DEF26202}"/>
              </a:ext>
            </a:extLst>
          </p:cNvPr>
          <p:cNvSpPr/>
          <p:nvPr/>
        </p:nvSpPr>
        <p:spPr>
          <a:xfrm>
            <a:off x="0" y="0"/>
            <a:ext cx="61913" cy="787789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694F471C-32CD-3632-BDE4-B7753B43101D}"/>
              </a:ext>
            </a:extLst>
          </p:cNvPr>
          <p:cNvSpPr/>
          <p:nvPr/>
        </p:nvSpPr>
        <p:spPr>
          <a:xfrm>
            <a:off x="707105" y="1951711"/>
            <a:ext cx="5029200" cy="21031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27700FDB-B4D8-2B31-994C-E4C69C9C851E}"/>
              </a:ext>
            </a:extLst>
          </p:cNvPr>
          <p:cNvSpPr/>
          <p:nvPr/>
        </p:nvSpPr>
        <p:spPr>
          <a:xfrm>
            <a:off x="780257" y="1997431"/>
            <a:ext cx="4882896" cy="2011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850" dirty="0">
                <a:solidFill>
                  <a:schemeClr val="tx2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DISTINCT ON </a:t>
            </a: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(username)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username,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date_month,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user_classification,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is_data_user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chemeClr val="tx2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tb_ddi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chemeClr val="tx2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user_classification = </a:t>
            </a:r>
            <a:r>
              <a:rPr lang="en-US" sz="85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'Beginner'</a:t>
            </a:r>
            <a:endParaRPr lang="en-US" sz="85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tx2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</a:t>
            </a: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username, date_month </a:t>
            </a:r>
            <a:r>
              <a:rPr lang="en-US" sz="850" dirty="0">
                <a:solidFill>
                  <a:schemeClr val="tx2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</a:t>
            </a: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chemeClr val="accent6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DISTINCT ON (username): mantém somente 1 linha por username</a:t>
            </a:r>
            <a:endParaRPr lang="en-US" sz="850"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accent6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ORDER BY username, date_month DESC: a 1ª linha que aparece</a:t>
            </a:r>
            <a:endParaRPr lang="en-US" sz="850"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accent6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  para cada username é a de date_month mais recente</a:t>
            </a:r>
            <a:endParaRPr lang="en-US" sz="850"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accent6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WHERE filtra antes: só considera meses com classif 'Beginner'</a:t>
            </a:r>
            <a:endParaRPr lang="en-US" sz="85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3B544BAD-3562-117B-DEEE-35ECDE4EBBE8}"/>
              </a:ext>
            </a:extLst>
          </p:cNvPr>
          <p:cNvSpPr/>
          <p:nvPr/>
        </p:nvSpPr>
        <p:spPr>
          <a:xfrm>
            <a:off x="707105" y="4127983"/>
            <a:ext cx="5029200" cy="320040"/>
          </a:xfrm>
          <a:prstGeom prst="rect">
            <a:avLst/>
          </a:prstGeom>
          <a:solidFill>
            <a:srgbClr val="1659A8"/>
          </a:solidFill>
          <a:ln w="12700">
            <a:solidFill>
              <a:srgbClr val="1659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8CD17A1C-DB49-1E74-6329-226FD5C86855}"/>
              </a:ext>
            </a:extLst>
          </p:cNvPr>
          <p:cNvSpPr/>
          <p:nvPr/>
        </p:nvSpPr>
        <p:spPr>
          <a:xfrm>
            <a:off x="761969" y="4127983"/>
            <a:ext cx="4919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com dados sintéticos</a:t>
            </a:r>
            <a:endParaRPr lang="en-US" sz="950" dirty="0"/>
          </a:p>
        </p:txBody>
      </p:sp>
      <p:sp>
        <p:nvSpPr>
          <p:cNvPr id="7" name="Shape 8">
            <a:extLst>
              <a:ext uri="{FF2B5EF4-FFF2-40B4-BE49-F238E27FC236}">
                <a16:creationId xmlns:a16="http://schemas.microsoft.com/office/drawing/2014/main" id="{B28E6801-7845-C060-EFAF-86CE91064458}"/>
              </a:ext>
            </a:extLst>
          </p:cNvPr>
          <p:cNvSpPr/>
          <p:nvPr/>
        </p:nvSpPr>
        <p:spPr>
          <a:xfrm>
            <a:off x="707105" y="4475455"/>
            <a:ext cx="5029200" cy="157276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8523BD74-86C0-FF72-A980-4ADC950F7CFB}"/>
              </a:ext>
            </a:extLst>
          </p:cNvPr>
          <p:cNvSpPr/>
          <p:nvPr/>
        </p:nvSpPr>
        <p:spPr>
          <a:xfrm>
            <a:off x="780257" y="4521175"/>
            <a:ext cx="4882896" cy="14813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850" dirty="0">
                <a:solidFill>
                  <a:schemeClr val="accent6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Entrada (todas as linhas Beginner de user_0042):</a:t>
            </a:r>
            <a:endParaRPr lang="en-US" sz="850"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accent6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user_0042 | 2025-02-01 | Beginner | TRUE</a:t>
            </a:r>
            <a:endParaRPr lang="en-US" sz="850"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accent6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user_0042 | 2025-05-01 | Beginner | TRUE</a:t>
            </a:r>
            <a:endParaRPr lang="en-US" sz="850"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accent6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user_0042 | 2025-09-01 | Beginner | FALSE</a:t>
            </a:r>
            <a:endParaRPr lang="en-US" sz="850"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sz="850"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accent6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Resultado com DISTINCT ON:</a:t>
            </a:r>
            <a:endParaRPr lang="en-US" sz="850"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accent6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user_0042 | 2025-09-01 | Beginner | FALSE  ← mais recente</a:t>
            </a:r>
            <a:endParaRPr lang="en-US" sz="85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9" name="Shape 10">
            <a:extLst>
              <a:ext uri="{FF2B5EF4-FFF2-40B4-BE49-F238E27FC236}">
                <a16:creationId xmlns:a16="http://schemas.microsoft.com/office/drawing/2014/main" id="{049E2214-6497-D242-FBAA-9D3AB2D9761C}"/>
              </a:ext>
            </a:extLst>
          </p:cNvPr>
          <p:cNvSpPr/>
          <p:nvPr/>
        </p:nvSpPr>
        <p:spPr>
          <a:xfrm>
            <a:off x="6095999" y="1120859"/>
            <a:ext cx="5452362" cy="5537474"/>
          </a:xfrm>
          <a:prstGeom prst="rect">
            <a:avLst/>
          </a:prstGeom>
          <a:solidFill>
            <a:srgbClr val="F0F4FA"/>
          </a:solidFill>
          <a:ln w="12700">
            <a:solidFill>
              <a:srgbClr val="D8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8F21D085-55BB-3BBC-2B0A-6BBFAB6B25E3}"/>
              </a:ext>
            </a:extLst>
          </p:cNvPr>
          <p:cNvSpPr/>
          <p:nvPr/>
        </p:nvSpPr>
        <p:spPr>
          <a:xfrm>
            <a:off x="6095999" y="1120858"/>
            <a:ext cx="5452362" cy="423169"/>
          </a:xfrm>
          <a:prstGeom prst="rect">
            <a:avLst/>
          </a:prstGeom>
          <a:solidFill>
            <a:srgbClr val="333333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2">
            <a:extLst>
              <a:ext uri="{FF2B5EF4-FFF2-40B4-BE49-F238E27FC236}">
                <a16:creationId xmlns:a16="http://schemas.microsoft.com/office/drawing/2014/main" id="{BC9B1429-37AD-E5C4-A8D6-CA9F33AF28E4}"/>
              </a:ext>
            </a:extLst>
          </p:cNvPr>
          <p:cNvSpPr/>
          <p:nvPr/>
        </p:nvSpPr>
        <p:spPr>
          <a:xfrm>
            <a:off x="6150864" y="1120858"/>
            <a:ext cx="5283732" cy="423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DISTINCT ON funciona</a:t>
            </a:r>
            <a:endParaRPr lang="en-US" sz="1000" dirty="0"/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3A04A73A-99F8-3DEA-29B7-38B3E4909E6C}"/>
              </a:ext>
            </a:extLst>
          </p:cNvPr>
          <p:cNvSpPr/>
          <p:nvPr/>
        </p:nvSpPr>
        <p:spPr>
          <a:xfrm>
            <a:off x="6150863" y="1653451"/>
            <a:ext cx="84314" cy="1112326"/>
          </a:xfrm>
          <a:prstGeom prst="rect">
            <a:avLst/>
          </a:prstGeom>
          <a:solidFill>
            <a:srgbClr val="1659A8"/>
          </a:solidFill>
          <a:ln w="12700">
            <a:solidFill>
              <a:srgbClr val="1659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E65D207E-2AE4-C229-0321-6C9FDE577189}"/>
              </a:ext>
            </a:extLst>
          </p:cNvPr>
          <p:cNvSpPr/>
          <p:nvPr/>
        </p:nvSpPr>
        <p:spPr>
          <a:xfrm>
            <a:off x="6278879" y="1690027"/>
            <a:ext cx="5058892" cy="314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Sintaxe exclusiva do PostgreSQL</a:t>
            </a:r>
            <a:endParaRPr lang="en-US" sz="1400" dirty="0"/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0E58CD80-1EBE-B93D-B962-61ED18A0F6FE}"/>
              </a:ext>
            </a:extLst>
          </p:cNvPr>
          <p:cNvSpPr/>
          <p:nvPr/>
        </p:nvSpPr>
        <p:spPr>
          <a:xfrm>
            <a:off x="6278879" y="1927771"/>
            <a:ext cx="5058892" cy="701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ON não existe no SQL padrão. Em outros bancos usa-se ROW_NUMBER() OVER (PARTITION BY username ORDER BY date_month DESC) = 1.</a:t>
            </a:r>
            <a:endParaRPr lang="en-US" sz="1050" dirty="0"/>
          </a:p>
        </p:txBody>
      </p:sp>
      <p:sp>
        <p:nvSpPr>
          <p:cNvPr id="22" name="Shape 16">
            <a:extLst>
              <a:ext uri="{FF2B5EF4-FFF2-40B4-BE49-F238E27FC236}">
                <a16:creationId xmlns:a16="http://schemas.microsoft.com/office/drawing/2014/main" id="{534AB1E1-0ED8-F068-A5F1-076D6F36ABAF}"/>
              </a:ext>
            </a:extLst>
          </p:cNvPr>
          <p:cNvSpPr/>
          <p:nvPr/>
        </p:nvSpPr>
        <p:spPr>
          <a:xfrm>
            <a:off x="6150863" y="2855078"/>
            <a:ext cx="84314" cy="1112326"/>
          </a:xfrm>
          <a:prstGeom prst="rect">
            <a:avLst/>
          </a:prstGeom>
          <a:solidFill>
            <a:srgbClr val="1659A8"/>
          </a:solidFill>
          <a:ln w="12700">
            <a:solidFill>
              <a:srgbClr val="1659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A1B4D670-3504-DD09-E0A1-BE01F50E6C98}"/>
              </a:ext>
            </a:extLst>
          </p:cNvPr>
          <p:cNvSpPr/>
          <p:nvPr/>
        </p:nvSpPr>
        <p:spPr>
          <a:xfrm>
            <a:off x="6278879" y="2891654"/>
            <a:ext cx="5058892" cy="314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BY deve começar com a coluna do DISTINCT ON</a:t>
            </a:r>
            <a:endParaRPr lang="en-US" sz="1400" dirty="0"/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D6977123-B806-5021-5736-FC55FB736BB3}"/>
              </a:ext>
            </a:extLst>
          </p:cNvPr>
          <p:cNvSpPr/>
          <p:nvPr/>
        </p:nvSpPr>
        <p:spPr>
          <a:xfrm>
            <a:off x="6278879" y="3129398"/>
            <a:ext cx="5058892" cy="701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ORDER BY precisa ter username primeiro (mesmo grupo) e date_month DESC em seguida (critério de seleção). Sem isso, o PostgreSQL retorna erro.</a:t>
            </a:r>
            <a:endParaRPr lang="en-US" sz="1050" dirty="0"/>
          </a:p>
        </p:txBody>
      </p:sp>
      <p:sp>
        <p:nvSpPr>
          <p:cNvPr id="25" name="Shape 19">
            <a:extLst>
              <a:ext uri="{FF2B5EF4-FFF2-40B4-BE49-F238E27FC236}">
                <a16:creationId xmlns:a16="http://schemas.microsoft.com/office/drawing/2014/main" id="{B20694AE-0889-69D9-EFC1-5266DB5CB55C}"/>
              </a:ext>
            </a:extLst>
          </p:cNvPr>
          <p:cNvSpPr/>
          <p:nvPr/>
        </p:nvSpPr>
        <p:spPr>
          <a:xfrm>
            <a:off x="6150863" y="4065986"/>
            <a:ext cx="84314" cy="1112326"/>
          </a:xfrm>
          <a:prstGeom prst="rect">
            <a:avLst/>
          </a:prstGeom>
          <a:solidFill>
            <a:srgbClr val="1659A8"/>
          </a:solidFill>
          <a:ln w="12700">
            <a:solidFill>
              <a:srgbClr val="1659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0">
            <a:extLst>
              <a:ext uri="{FF2B5EF4-FFF2-40B4-BE49-F238E27FC236}">
                <a16:creationId xmlns:a16="http://schemas.microsoft.com/office/drawing/2014/main" id="{EE4D518D-3036-A5CE-B70F-95F3E24F44F8}"/>
              </a:ext>
            </a:extLst>
          </p:cNvPr>
          <p:cNvSpPr/>
          <p:nvPr/>
        </p:nvSpPr>
        <p:spPr>
          <a:xfrm>
            <a:off x="6278879" y="4102562"/>
            <a:ext cx="5058892" cy="314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antes do DISTINCT</a:t>
            </a:r>
            <a:endParaRPr lang="en-US" sz="1400" dirty="0"/>
          </a:p>
        </p:txBody>
      </p:sp>
      <p:sp>
        <p:nvSpPr>
          <p:cNvPr id="27" name="Text 21">
            <a:extLst>
              <a:ext uri="{FF2B5EF4-FFF2-40B4-BE49-F238E27FC236}">
                <a16:creationId xmlns:a16="http://schemas.microsoft.com/office/drawing/2014/main" id="{19D83556-F1C0-2CA0-754B-17E4A81F8626}"/>
              </a:ext>
            </a:extLst>
          </p:cNvPr>
          <p:cNvSpPr/>
          <p:nvPr/>
        </p:nvSpPr>
        <p:spPr>
          <a:xfrm>
            <a:off x="6278879" y="4340306"/>
            <a:ext cx="5058892" cy="701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WHERE user_classification = 'Beginner' filtra ANTES da deduplicação. Só as linhas Beginner são consideradas para encontrar a mais recente.</a:t>
            </a:r>
            <a:endParaRPr lang="en-US" sz="1050" dirty="0"/>
          </a:p>
        </p:txBody>
      </p:sp>
      <p:sp>
        <p:nvSpPr>
          <p:cNvPr id="28" name="Shape 22">
            <a:extLst>
              <a:ext uri="{FF2B5EF4-FFF2-40B4-BE49-F238E27FC236}">
                <a16:creationId xmlns:a16="http://schemas.microsoft.com/office/drawing/2014/main" id="{51FFC2F4-1D65-0D43-D3CF-28C3E29F077F}"/>
              </a:ext>
            </a:extLst>
          </p:cNvPr>
          <p:cNvSpPr/>
          <p:nvPr/>
        </p:nvSpPr>
        <p:spPr>
          <a:xfrm>
            <a:off x="6150863" y="5272256"/>
            <a:ext cx="84314" cy="1112326"/>
          </a:xfrm>
          <a:prstGeom prst="rect">
            <a:avLst/>
          </a:prstGeom>
          <a:solidFill>
            <a:srgbClr val="1659A8"/>
          </a:solidFill>
          <a:ln w="12700">
            <a:solidFill>
              <a:srgbClr val="1659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5E683495-0B9C-B3EC-88C6-A49C76B586B2}"/>
              </a:ext>
            </a:extLst>
          </p:cNvPr>
          <p:cNvSpPr/>
          <p:nvPr/>
        </p:nvSpPr>
        <p:spPr>
          <a:xfrm>
            <a:off x="6278879" y="5308832"/>
            <a:ext cx="5058892" cy="314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 com ROW_NUMBER (portável)</a:t>
            </a:r>
            <a:endParaRPr lang="en-US" sz="1400" dirty="0"/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8582C46D-7ACB-1EE5-812D-FF2CA6E133BD}"/>
              </a:ext>
            </a:extLst>
          </p:cNvPr>
          <p:cNvSpPr/>
          <p:nvPr/>
        </p:nvSpPr>
        <p:spPr>
          <a:xfrm>
            <a:off x="6278879" y="5546576"/>
            <a:ext cx="5058892" cy="701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* FROM (SELECT *, ROW_NUMBER() OVER (PARTITION BY username ORDER BY date_month DESC) rn FROM tb_ddi WHERE user_classification = 'Beginner') t WHERE rn = 1</a:t>
            </a:r>
            <a:endParaRPr lang="en-US" sz="1050" dirty="0"/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13504A4E-99F3-4E85-0702-5640CD12063A}"/>
              </a:ext>
            </a:extLst>
          </p:cNvPr>
          <p:cNvSpPr txBox="1"/>
          <p:nvPr/>
        </p:nvSpPr>
        <p:spPr>
          <a:xfrm>
            <a:off x="458320" y="1284119"/>
            <a:ext cx="5526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Registro mais recente ‘</a:t>
            </a:r>
            <a:r>
              <a:rPr lang="pt-BR" b="1" dirty="0"/>
              <a:t>Beginner</a:t>
            </a:r>
            <a:r>
              <a:rPr lang="pt-BR" dirty="0"/>
              <a:t>’ por usuário </a:t>
            </a:r>
            <a:r>
              <a:rPr lang="pt-BR" sz="1000" dirty="0"/>
              <a:t>(1 por usuário)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232467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33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5A1E78-E068-16AE-1015-A8E38844A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Agrupar 13">
            <a:extLst>
              <a:ext uri="{FF2B5EF4-FFF2-40B4-BE49-F238E27FC236}">
                <a16:creationId xmlns:a16="http://schemas.microsoft.com/office/drawing/2014/main" id="{8C0FC2F5-E8EA-4EDB-95A6-9B9796D4CBF2}"/>
              </a:ext>
            </a:extLst>
          </p:cNvPr>
          <p:cNvGrpSpPr/>
          <p:nvPr/>
        </p:nvGrpSpPr>
        <p:grpSpPr>
          <a:xfrm>
            <a:off x="347756" y="213901"/>
            <a:ext cx="11475300" cy="359984"/>
            <a:chOff x="347756" y="213902"/>
            <a:chExt cx="11475300" cy="359984"/>
          </a:xfrm>
        </p:grpSpPr>
        <p:sp>
          <p:nvSpPr>
            <p:cNvPr id="18" name="Retângulo: Cantos Arredondados 17">
              <a:extLst>
                <a:ext uri="{FF2B5EF4-FFF2-40B4-BE49-F238E27FC236}">
                  <a16:creationId xmlns:a16="http://schemas.microsoft.com/office/drawing/2014/main" id="{E91ADC02-DACF-DA83-7690-65B88A2F0F38}"/>
                </a:ext>
              </a:extLst>
            </p:cNvPr>
            <p:cNvSpPr/>
            <p:nvPr/>
          </p:nvSpPr>
          <p:spPr>
            <a:xfrm>
              <a:off x="9835375" y="306443"/>
              <a:ext cx="1987681" cy="17529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23000">
                  <a:srgbClr val="84B9EB"/>
                </a:gs>
                <a:gs pos="54000">
                  <a:srgbClr val="F5EB3F"/>
                </a:gs>
              </a:gsLst>
              <a:lin ang="0" scaled="1"/>
              <a:tileRect/>
            </a:gradFill>
            <a:ln>
              <a:solidFill>
                <a:srgbClr val="3333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16" name="Imagem 15">
              <a:extLst>
                <a:ext uri="{FF2B5EF4-FFF2-40B4-BE49-F238E27FC236}">
                  <a16:creationId xmlns:a16="http://schemas.microsoft.com/office/drawing/2014/main" id="{7986BE8B-06E7-84F3-7220-7CCA196825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7756" y="213902"/>
              <a:ext cx="1279943" cy="359984"/>
            </a:xfrm>
            <a:prstGeom prst="rect">
              <a:avLst/>
            </a:prstGeom>
          </p:spPr>
        </p:pic>
      </p:grpSp>
      <p:sp>
        <p:nvSpPr>
          <p:cNvPr id="19" name="Título 1">
            <a:extLst>
              <a:ext uri="{FF2B5EF4-FFF2-40B4-BE49-F238E27FC236}">
                <a16:creationId xmlns:a16="http://schemas.microsoft.com/office/drawing/2014/main" id="{621FF2BC-38E7-A027-0C18-D621B6C5C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756" y="2286794"/>
            <a:ext cx="5509974" cy="1319988"/>
          </a:xfrm>
        </p:spPr>
        <p:txBody>
          <a:bodyPr anchor="t">
            <a:norm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Visualização &amp;</a:t>
            </a:r>
            <a:br>
              <a:rPr lang="pt-BR" b="1" dirty="0">
                <a:solidFill>
                  <a:schemeClr val="bg1"/>
                </a:solidFill>
              </a:rPr>
            </a:br>
            <a:r>
              <a:rPr lang="pt-BR" b="1" dirty="0">
                <a:solidFill>
                  <a:schemeClr val="bg1"/>
                </a:solidFill>
              </a:rPr>
              <a:t>Storytelling</a:t>
            </a:r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611D93E3-87C8-83A6-7256-EE977D83789D}"/>
              </a:ext>
            </a:extLst>
          </p:cNvPr>
          <p:cNvSpPr/>
          <p:nvPr/>
        </p:nvSpPr>
        <p:spPr>
          <a:xfrm>
            <a:off x="0" y="0"/>
            <a:ext cx="120682" cy="6858000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5C06BE2A-E3B4-5557-7C40-0314430E1BF5}"/>
              </a:ext>
            </a:extLst>
          </p:cNvPr>
          <p:cNvSpPr/>
          <p:nvPr/>
        </p:nvSpPr>
        <p:spPr>
          <a:xfrm>
            <a:off x="500930" y="360678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A8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Mockup/ Wireframe • Onde estamos? – O que mudou? – Por que mudou? • Microsoft Power BI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8593005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AC356-2F49-D4CC-EF47-1A9D336E4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Agrupar 13">
            <a:extLst>
              <a:ext uri="{FF2B5EF4-FFF2-40B4-BE49-F238E27FC236}">
                <a16:creationId xmlns:a16="http://schemas.microsoft.com/office/drawing/2014/main" id="{156B1FFD-374A-07B1-37AB-DA893C3CCAFB}"/>
              </a:ext>
            </a:extLst>
          </p:cNvPr>
          <p:cNvGrpSpPr/>
          <p:nvPr/>
        </p:nvGrpSpPr>
        <p:grpSpPr>
          <a:xfrm>
            <a:off x="0" y="-2"/>
            <a:ext cx="12192000" cy="787791"/>
            <a:chOff x="0" y="-1"/>
            <a:chExt cx="12192000" cy="787791"/>
          </a:xfrm>
        </p:grpSpPr>
        <p:grpSp>
          <p:nvGrpSpPr>
            <p:cNvPr id="15" name="Agrupar 14">
              <a:extLst>
                <a:ext uri="{FF2B5EF4-FFF2-40B4-BE49-F238E27FC236}">
                  <a16:creationId xmlns:a16="http://schemas.microsoft.com/office/drawing/2014/main" id="{C144F96E-B20E-C7F9-AE13-7D4A7629DCA7}"/>
                </a:ext>
              </a:extLst>
            </p:cNvPr>
            <p:cNvGrpSpPr/>
            <p:nvPr/>
          </p:nvGrpSpPr>
          <p:grpSpPr>
            <a:xfrm>
              <a:off x="0" y="-1"/>
              <a:ext cx="12192000" cy="787791"/>
              <a:chOff x="0" y="-1"/>
              <a:chExt cx="12192000" cy="787791"/>
            </a:xfrm>
          </p:grpSpPr>
          <p:sp>
            <p:nvSpPr>
              <p:cNvPr id="17" name="Shape 0">
                <a:extLst>
                  <a:ext uri="{FF2B5EF4-FFF2-40B4-BE49-F238E27FC236}">
                    <a16:creationId xmlns:a16="http://schemas.microsoft.com/office/drawing/2014/main" id="{3B3465AE-0EF4-35E3-DA2E-43A410F21C7B}"/>
                  </a:ext>
                </a:extLst>
              </p:cNvPr>
              <p:cNvSpPr/>
              <p:nvPr/>
            </p:nvSpPr>
            <p:spPr>
              <a:xfrm>
                <a:off x="0" y="-1"/>
                <a:ext cx="12192000" cy="787791"/>
              </a:xfrm>
              <a:prstGeom prst="rect">
                <a:avLst/>
              </a:prstGeom>
              <a:solidFill>
                <a:srgbClr val="333333"/>
              </a:solidFill>
              <a:ln w="12700">
                <a:solidFill>
                  <a:srgbClr val="333333"/>
                </a:solidFill>
                <a:prstDash val="solid"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8" name="Retângulo: Cantos Arredondados 17">
                <a:extLst>
                  <a:ext uri="{FF2B5EF4-FFF2-40B4-BE49-F238E27FC236}">
                    <a16:creationId xmlns:a16="http://schemas.microsoft.com/office/drawing/2014/main" id="{1670E1EB-0E66-079E-9DC0-DD446906BED2}"/>
                  </a:ext>
                </a:extLst>
              </p:cNvPr>
              <p:cNvSpPr/>
              <p:nvPr/>
            </p:nvSpPr>
            <p:spPr>
              <a:xfrm>
                <a:off x="9835375" y="306443"/>
                <a:ext cx="1987681" cy="175290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23000">
                    <a:srgbClr val="84B9EB"/>
                  </a:gs>
                  <a:gs pos="54000">
                    <a:srgbClr val="F5EB3F"/>
                  </a:gs>
                </a:gsLst>
                <a:lin ang="0" scaled="1"/>
                <a:tileRect/>
              </a:gradFill>
              <a:ln>
                <a:solidFill>
                  <a:srgbClr val="3333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pic>
          <p:nvPicPr>
            <p:cNvPr id="16" name="Imagem 15">
              <a:extLst>
                <a:ext uri="{FF2B5EF4-FFF2-40B4-BE49-F238E27FC236}">
                  <a16:creationId xmlns:a16="http://schemas.microsoft.com/office/drawing/2014/main" id="{E9949E47-C800-26B3-EF90-EB3D10D4E7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7756" y="213902"/>
              <a:ext cx="1279943" cy="359984"/>
            </a:xfrm>
            <a:prstGeom prst="rect">
              <a:avLst/>
            </a:prstGeom>
          </p:spPr>
        </p:pic>
      </p:grpSp>
      <p:sp>
        <p:nvSpPr>
          <p:cNvPr id="19" name="Título 1">
            <a:extLst>
              <a:ext uri="{FF2B5EF4-FFF2-40B4-BE49-F238E27FC236}">
                <a16:creationId xmlns:a16="http://schemas.microsoft.com/office/drawing/2014/main" id="{45FC100D-4C21-B042-7AEB-EC9A31BB7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4635" y="72739"/>
            <a:ext cx="7821795" cy="642310"/>
          </a:xfrm>
        </p:spPr>
        <p:txBody>
          <a:bodyPr anchor="t">
            <a:normAutofit fontScale="90000"/>
          </a:bodyPr>
          <a:lstStyle/>
          <a:p>
            <a:r>
              <a:rPr lang="pt-BR" dirty="0">
                <a:solidFill>
                  <a:schemeClr val="bg1"/>
                </a:solidFill>
              </a:rPr>
              <a:t>| </a:t>
            </a:r>
            <a:r>
              <a:rPr lang="pt-BR" sz="3100" dirty="0">
                <a:solidFill>
                  <a:schemeClr val="bg1"/>
                </a:solidFill>
              </a:rPr>
              <a:t>Dashboard DDI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C15C12EC-F712-CA3A-9DC1-B23851900558}"/>
              </a:ext>
            </a:extLst>
          </p:cNvPr>
          <p:cNvSpPr/>
          <p:nvPr/>
        </p:nvSpPr>
        <p:spPr>
          <a:xfrm>
            <a:off x="0" y="0"/>
            <a:ext cx="61913" cy="787789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53D3AFFE-59FE-AD0F-ED75-D552F28B6A0D}"/>
              </a:ext>
            </a:extLst>
          </p:cNvPr>
          <p:cNvGrpSpPr/>
          <p:nvPr/>
        </p:nvGrpSpPr>
        <p:grpSpPr>
          <a:xfrm>
            <a:off x="1725168" y="6456033"/>
            <a:ext cx="8741664" cy="256032"/>
            <a:chOff x="1554547" y="6423542"/>
            <a:chExt cx="8741664" cy="256032"/>
          </a:xfrm>
        </p:grpSpPr>
        <p:sp>
          <p:nvSpPr>
            <p:cNvPr id="3" name="Shape 49">
              <a:extLst>
                <a:ext uri="{FF2B5EF4-FFF2-40B4-BE49-F238E27FC236}">
                  <a16:creationId xmlns:a16="http://schemas.microsoft.com/office/drawing/2014/main" id="{7B681988-0628-8BD6-5BB5-CBA7BC2B5D36}"/>
                </a:ext>
              </a:extLst>
            </p:cNvPr>
            <p:cNvSpPr/>
            <p:nvPr/>
          </p:nvSpPr>
          <p:spPr>
            <a:xfrm>
              <a:off x="1554547" y="6423542"/>
              <a:ext cx="8741664" cy="256032"/>
            </a:xfrm>
            <a:prstGeom prst="rect">
              <a:avLst/>
            </a:prstGeom>
            <a:solidFill>
              <a:srgbClr val="EEF3FA"/>
            </a:solidFill>
            <a:ln w="12700">
              <a:solidFill>
                <a:srgbClr val="D8E4F0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 50">
              <a:extLst>
                <a:ext uri="{FF2B5EF4-FFF2-40B4-BE49-F238E27FC236}">
                  <a16:creationId xmlns:a16="http://schemas.microsoft.com/office/drawing/2014/main" id="{1BAC857B-E708-02E7-CEB4-32ECC04B83AB}"/>
                </a:ext>
              </a:extLst>
            </p:cNvPr>
            <p:cNvSpPr/>
            <p:nvPr/>
          </p:nvSpPr>
          <p:spPr>
            <a:xfrm>
              <a:off x="1627699" y="6423542"/>
              <a:ext cx="8577072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i="1" dirty="0">
                  <a:solidFill>
                    <a:srgbClr val="4B5F7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Princípios: hierarquia visual (KPI → tendência → causa) · máximo 4 interações para qualquer insight · codificação de cor consistente entre páginas · benchmark sempre visível</a:t>
              </a:r>
              <a:endParaRPr lang="en-US" sz="850" dirty="0"/>
            </a:p>
          </p:txBody>
        </p:sp>
      </p:grpSp>
      <p:sp>
        <p:nvSpPr>
          <p:cNvPr id="6" name="Shape 4">
            <a:extLst>
              <a:ext uri="{FF2B5EF4-FFF2-40B4-BE49-F238E27FC236}">
                <a16:creationId xmlns:a16="http://schemas.microsoft.com/office/drawing/2014/main" id="{AB480765-EE60-FDCD-9848-FE3D29EB9782}"/>
              </a:ext>
            </a:extLst>
          </p:cNvPr>
          <p:cNvSpPr/>
          <p:nvPr/>
        </p:nvSpPr>
        <p:spPr>
          <a:xfrm>
            <a:off x="1798320" y="1537079"/>
            <a:ext cx="2834640" cy="365760"/>
          </a:xfrm>
          <a:prstGeom prst="rect">
            <a:avLst/>
          </a:prstGeom>
          <a:solidFill>
            <a:srgbClr val="1659A8"/>
          </a:solidFill>
          <a:ln w="12700">
            <a:solidFill>
              <a:srgbClr val="1659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02F6FB8-01E0-5C9C-18CA-9B33F3396B48}"/>
              </a:ext>
            </a:extLst>
          </p:cNvPr>
          <p:cNvSpPr/>
          <p:nvPr/>
        </p:nvSpPr>
        <p:spPr>
          <a:xfrm>
            <a:off x="1798320" y="1537079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estamos?</a:t>
            </a:r>
            <a:endParaRPr lang="en-US" sz="11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536BE411-F295-1FA1-0683-5E9CD6142434}"/>
              </a:ext>
            </a:extLst>
          </p:cNvPr>
          <p:cNvSpPr/>
          <p:nvPr/>
        </p:nvSpPr>
        <p:spPr>
          <a:xfrm>
            <a:off x="1798320" y="1921127"/>
            <a:ext cx="2834640" cy="274320"/>
          </a:xfrm>
          <a:prstGeom prst="rect">
            <a:avLst/>
          </a:prstGeom>
          <a:solidFill>
            <a:srgbClr val="EEF3FA"/>
          </a:solidFill>
          <a:ln w="1270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A6D2833-3E3D-9FF7-5A1C-D4E941DA86D6}"/>
              </a:ext>
            </a:extLst>
          </p:cNvPr>
          <p:cNvSpPr/>
          <p:nvPr/>
        </p:nvSpPr>
        <p:spPr>
          <a:xfrm>
            <a:off x="1798320" y="1921127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5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1 — Overview</a:t>
            </a:r>
            <a:endParaRPr lang="en-US" sz="9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8F0ADB4D-7368-C6A4-460C-44C67C4B3D23}"/>
              </a:ext>
            </a:extLst>
          </p:cNvPr>
          <p:cNvSpPr/>
          <p:nvPr/>
        </p:nvSpPr>
        <p:spPr>
          <a:xfrm>
            <a:off x="1798320" y="2213735"/>
            <a:ext cx="2834640" cy="3493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B12B8760-CFCA-74AC-E86C-D39B5624582F}"/>
              </a:ext>
            </a:extLst>
          </p:cNvPr>
          <p:cNvSpPr/>
          <p:nvPr/>
        </p:nvSpPr>
        <p:spPr>
          <a:xfrm>
            <a:off x="1889760" y="2414903"/>
            <a:ext cx="146304" cy="146304"/>
          </a:xfrm>
          <a:prstGeom prst="ellipse">
            <a:avLst/>
          </a:prstGeom>
          <a:solidFill>
            <a:srgbClr val="1659A8"/>
          </a:solidFill>
          <a:ln w="12700">
            <a:solidFill>
              <a:srgbClr val="1659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0BE624FD-219D-8665-8189-1B5FEF794D30}"/>
              </a:ext>
            </a:extLst>
          </p:cNvPr>
          <p:cNvSpPr/>
          <p:nvPr/>
        </p:nvSpPr>
        <p:spPr>
          <a:xfrm>
            <a:off x="2090928" y="2286887"/>
            <a:ext cx="24871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B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no topo: Site ▾ · Divisão ▾ · Mês ▾ · Departamento ▾</a:t>
            </a:r>
            <a:endParaRPr lang="en-US" sz="85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10022C28-18DB-FA39-6DB8-C348DC4C23DA}"/>
              </a:ext>
            </a:extLst>
          </p:cNvPr>
          <p:cNvSpPr/>
          <p:nvPr/>
        </p:nvSpPr>
        <p:spPr>
          <a:xfrm>
            <a:off x="1889760" y="3054983"/>
            <a:ext cx="146304" cy="146304"/>
          </a:xfrm>
          <a:prstGeom prst="ellipse">
            <a:avLst/>
          </a:prstGeom>
          <a:solidFill>
            <a:srgbClr val="1659A8"/>
          </a:solidFill>
          <a:ln w="12700">
            <a:solidFill>
              <a:srgbClr val="1659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56505295-3B42-E01A-7A13-BB81C8CB4BE1}"/>
              </a:ext>
            </a:extLst>
          </p:cNvPr>
          <p:cNvSpPr/>
          <p:nvPr/>
        </p:nvSpPr>
        <p:spPr>
          <a:xfrm>
            <a:off x="2090928" y="2926967"/>
            <a:ext cx="24871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B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KPI cards: Colaboradores Ativos · Potenciais · Data-Driven Users · Coverage Rate</a:t>
            </a:r>
            <a:endParaRPr lang="en-US" sz="850" dirty="0"/>
          </a:p>
        </p:txBody>
      </p:sp>
      <p:sp>
        <p:nvSpPr>
          <p:cNvPr id="21" name="Shape 13">
            <a:extLst>
              <a:ext uri="{FF2B5EF4-FFF2-40B4-BE49-F238E27FC236}">
                <a16:creationId xmlns:a16="http://schemas.microsoft.com/office/drawing/2014/main" id="{D2FBE1D0-8828-5FF4-1401-2CCF78FBFBAB}"/>
              </a:ext>
            </a:extLst>
          </p:cNvPr>
          <p:cNvSpPr/>
          <p:nvPr/>
        </p:nvSpPr>
        <p:spPr>
          <a:xfrm>
            <a:off x="1889760" y="3695063"/>
            <a:ext cx="146304" cy="146304"/>
          </a:xfrm>
          <a:prstGeom prst="ellipse">
            <a:avLst/>
          </a:prstGeom>
          <a:solidFill>
            <a:srgbClr val="1659A8"/>
          </a:solidFill>
          <a:ln w="12700">
            <a:solidFill>
              <a:srgbClr val="1659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14">
            <a:extLst>
              <a:ext uri="{FF2B5EF4-FFF2-40B4-BE49-F238E27FC236}">
                <a16:creationId xmlns:a16="http://schemas.microsoft.com/office/drawing/2014/main" id="{C9F3322A-153F-94D9-877D-75221963567E}"/>
              </a:ext>
            </a:extLst>
          </p:cNvPr>
          <p:cNvSpPr/>
          <p:nvPr/>
        </p:nvSpPr>
        <p:spPr>
          <a:xfrm>
            <a:off x="2090928" y="3567047"/>
            <a:ext cx="24871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B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 horizontal por classificação DDI (Basic, Beginner … Champion, No Use, Sleeper)</a:t>
            </a:r>
            <a:endParaRPr lang="en-US" sz="850" dirty="0"/>
          </a:p>
        </p:txBody>
      </p:sp>
      <p:sp>
        <p:nvSpPr>
          <p:cNvPr id="23" name="Shape 15">
            <a:extLst>
              <a:ext uri="{FF2B5EF4-FFF2-40B4-BE49-F238E27FC236}">
                <a16:creationId xmlns:a16="http://schemas.microsoft.com/office/drawing/2014/main" id="{7385E023-981E-331D-6A7E-3CF12E6BF99D}"/>
              </a:ext>
            </a:extLst>
          </p:cNvPr>
          <p:cNvSpPr/>
          <p:nvPr/>
        </p:nvSpPr>
        <p:spPr>
          <a:xfrm>
            <a:off x="1889760" y="4335143"/>
            <a:ext cx="146304" cy="146304"/>
          </a:xfrm>
          <a:prstGeom prst="ellipse">
            <a:avLst/>
          </a:prstGeom>
          <a:solidFill>
            <a:srgbClr val="1659A8"/>
          </a:solidFill>
          <a:ln w="12700">
            <a:solidFill>
              <a:srgbClr val="1659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16">
            <a:extLst>
              <a:ext uri="{FF2B5EF4-FFF2-40B4-BE49-F238E27FC236}">
                <a16:creationId xmlns:a16="http://schemas.microsoft.com/office/drawing/2014/main" id="{892F3A90-C06C-63AC-84E7-8E37646A11DA}"/>
              </a:ext>
            </a:extLst>
          </p:cNvPr>
          <p:cNvSpPr/>
          <p:nvPr/>
        </p:nvSpPr>
        <p:spPr>
          <a:xfrm>
            <a:off x="2090928" y="4207127"/>
            <a:ext cx="24871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B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Mini-tabela de DDI% por Site com codificação verde/laranja/vermelho</a:t>
            </a:r>
            <a:endParaRPr lang="en-US" sz="850" dirty="0"/>
          </a:p>
        </p:txBody>
      </p:sp>
      <p:sp>
        <p:nvSpPr>
          <p:cNvPr id="25" name="Shape 17">
            <a:extLst>
              <a:ext uri="{FF2B5EF4-FFF2-40B4-BE49-F238E27FC236}">
                <a16:creationId xmlns:a16="http://schemas.microsoft.com/office/drawing/2014/main" id="{DBCB454C-0478-901D-E8CA-524900826D69}"/>
              </a:ext>
            </a:extLst>
          </p:cNvPr>
          <p:cNvSpPr/>
          <p:nvPr/>
        </p:nvSpPr>
        <p:spPr>
          <a:xfrm>
            <a:off x="1889760" y="4975223"/>
            <a:ext cx="146304" cy="146304"/>
          </a:xfrm>
          <a:prstGeom prst="ellipse">
            <a:avLst/>
          </a:prstGeom>
          <a:solidFill>
            <a:srgbClr val="1659A8"/>
          </a:solidFill>
          <a:ln w="12700">
            <a:solidFill>
              <a:srgbClr val="1659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18">
            <a:extLst>
              <a:ext uri="{FF2B5EF4-FFF2-40B4-BE49-F238E27FC236}">
                <a16:creationId xmlns:a16="http://schemas.microsoft.com/office/drawing/2014/main" id="{2C514FC0-8D93-3684-C4E8-914FAD63C0AF}"/>
              </a:ext>
            </a:extLst>
          </p:cNvPr>
          <p:cNvSpPr/>
          <p:nvPr/>
        </p:nvSpPr>
        <p:spPr>
          <a:xfrm>
            <a:off x="2090928" y="4847207"/>
            <a:ext cx="24871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B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Drill: clicar em site filtra toda a página para aquele site</a:t>
            </a:r>
            <a:endParaRPr lang="en-US" sz="850" dirty="0"/>
          </a:p>
        </p:txBody>
      </p:sp>
      <p:sp>
        <p:nvSpPr>
          <p:cNvPr id="27" name="Shape 19">
            <a:extLst>
              <a:ext uri="{FF2B5EF4-FFF2-40B4-BE49-F238E27FC236}">
                <a16:creationId xmlns:a16="http://schemas.microsoft.com/office/drawing/2014/main" id="{A1A79049-365A-2DEC-26EF-115F59FF4BD0}"/>
              </a:ext>
            </a:extLst>
          </p:cNvPr>
          <p:cNvSpPr/>
          <p:nvPr/>
        </p:nvSpPr>
        <p:spPr>
          <a:xfrm>
            <a:off x="4742688" y="1537079"/>
            <a:ext cx="283464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0">
            <a:extLst>
              <a:ext uri="{FF2B5EF4-FFF2-40B4-BE49-F238E27FC236}">
                <a16:creationId xmlns:a16="http://schemas.microsoft.com/office/drawing/2014/main" id="{42665378-2F49-D7E7-ED69-9851CD4AED91}"/>
              </a:ext>
            </a:extLst>
          </p:cNvPr>
          <p:cNvSpPr/>
          <p:nvPr/>
        </p:nvSpPr>
        <p:spPr>
          <a:xfrm>
            <a:off x="4742688" y="1537079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mudou?</a:t>
            </a:r>
            <a:endParaRPr lang="en-US" sz="1100" dirty="0"/>
          </a:p>
        </p:txBody>
      </p:sp>
      <p:sp>
        <p:nvSpPr>
          <p:cNvPr id="29" name="Shape 21">
            <a:extLst>
              <a:ext uri="{FF2B5EF4-FFF2-40B4-BE49-F238E27FC236}">
                <a16:creationId xmlns:a16="http://schemas.microsoft.com/office/drawing/2014/main" id="{0964CF31-0B8F-FB4E-C7D2-0E9FCA9D921D}"/>
              </a:ext>
            </a:extLst>
          </p:cNvPr>
          <p:cNvSpPr/>
          <p:nvPr/>
        </p:nvSpPr>
        <p:spPr>
          <a:xfrm>
            <a:off x="4742688" y="1921127"/>
            <a:ext cx="2834640" cy="274320"/>
          </a:xfrm>
          <a:prstGeom prst="rect">
            <a:avLst/>
          </a:prstGeom>
          <a:solidFill>
            <a:srgbClr val="EEF3FA"/>
          </a:solidFill>
          <a:ln w="1270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2">
            <a:extLst>
              <a:ext uri="{FF2B5EF4-FFF2-40B4-BE49-F238E27FC236}">
                <a16:creationId xmlns:a16="http://schemas.microsoft.com/office/drawing/2014/main" id="{C4D8A022-5FE6-32E3-5287-D26BC5980DA5}"/>
              </a:ext>
            </a:extLst>
          </p:cNvPr>
          <p:cNvSpPr/>
          <p:nvPr/>
        </p:nvSpPr>
        <p:spPr>
          <a:xfrm>
            <a:off x="4742688" y="1921127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2 — Evolução</a:t>
            </a:r>
            <a:endParaRPr lang="en-US" sz="900" dirty="0"/>
          </a:p>
        </p:txBody>
      </p:sp>
      <p:sp>
        <p:nvSpPr>
          <p:cNvPr id="31" name="Shape 23">
            <a:extLst>
              <a:ext uri="{FF2B5EF4-FFF2-40B4-BE49-F238E27FC236}">
                <a16:creationId xmlns:a16="http://schemas.microsoft.com/office/drawing/2014/main" id="{AD99B1D4-28BF-ABF3-D39B-C32603E2A6DB}"/>
              </a:ext>
            </a:extLst>
          </p:cNvPr>
          <p:cNvSpPr/>
          <p:nvPr/>
        </p:nvSpPr>
        <p:spPr>
          <a:xfrm>
            <a:off x="4742688" y="2213735"/>
            <a:ext cx="2834640" cy="3493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2" name="Shape 24">
            <a:extLst>
              <a:ext uri="{FF2B5EF4-FFF2-40B4-BE49-F238E27FC236}">
                <a16:creationId xmlns:a16="http://schemas.microsoft.com/office/drawing/2014/main" id="{C60C1F67-BD37-C029-AAB3-9A6A7D996052}"/>
              </a:ext>
            </a:extLst>
          </p:cNvPr>
          <p:cNvSpPr/>
          <p:nvPr/>
        </p:nvSpPr>
        <p:spPr>
          <a:xfrm>
            <a:off x="4834128" y="2414903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25">
            <a:extLst>
              <a:ext uri="{FF2B5EF4-FFF2-40B4-BE49-F238E27FC236}">
                <a16:creationId xmlns:a16="http://schemas.microsoft.com/office/drawing/2014/main" id="{23425B33-BE44-4246-ABED-A5AFBF108580}"/>
              </a:ext>
            </a:extLst>
          </p:cNvPr>
          <p:cNvSpPr/>
          <p:nvPr/>
        </p:nvSpPr>
        <p:spPr>
          <a:xfrm>
            <a:off x="5035296" y="2286887"/>
            <a:ext cx="24871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B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delta cards: Δ MoM de Potenciais · D-Users · Coverage Rate · Δ acumulado 3M</a:t>
            </a:r>
            <a:endParaRPr lang="en-US" sz="850" dirty="0"/>
          </a:p>
        </p:txBody>
      </p:sp>
      <p:sp>
        <p:nvSpPr>
          <p:cNvPr id="34" name="Shape 26">
            <a:extLst>
              <a:ext uri="{FF2B5EF4-FFF2-40B4-BE49-F238E27FC236}">
                <a16:creationId xmlns:a16="http://schemas.microsoft.com/office/drawing/2014/main" id="{B79C391A-EC15-B5A8-448F-ABF4316B4A86}"/>
              </a:ext>
            </a:extLst>
          </p:cNvPr>
          <p:cNvSpPr/>
          <p:nvPr/>
        </p:nvSpPr>
        <p:spPr>
          <a:xfrm>
            <a:off x="4834128" y="3054983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27">
            <a:extLst>
              <a:ext uri="{FF2B5EF4-FFF2-40B4-BE49-F238E27FC236}">
                <a16:creationId xmlns:a16="http://schemas.microsoft.com/office/drawing/2014/main" id="{0CEAA602-D735-408F-66E3-26A1B041A95C}"/>
              </a:ext>
            </a:extLst>
          </p:cNvPr>
          <p:cNvSpPr/>
          <p:nvPr/>
        </p:nvSpPr>
        <p:spPr>
          <a:xfrm>
            <a:off x="5035296" y="2926967"/>
            <a:ext cx="24871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B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 de linha: Potenciais + Data-Driven Users Jan–Dez com marcadores mensais</a:t>
            </a:r>
            <a:endParaRPr lang="en-US" sz="850" dirty="0"/>
          </a:p>
        </p:txBody>
      </p:sp>
      <p:sp>
        <p:nvSpPr>
          <p:cNvPr id="36" name="Shape 28">
            <a:extLst>
              <a:ext uri="{FF2B5EF4-FFF2-40B4-BE49-F238E27FC236}">
                <a16:creationId xmlns:a16="http://schemas.microsoft.com/office/drawing/2014/main" id="{AECA23A1-042D-9608-9170-6E84ED726CF7}"/>
              </a:ext>
            </a:extLst>
          </p:cNvPr>
          <p:cNvSpPr/>
          <p:nvPr/>
        </p:nvSpPr>
        <p:spPr>
          <a:xfrm>
            <a:off x="4834128" y="3695063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Text 29">
            <a:extLst>
              <a:ext uri="{FF2B5EF4-FFF2-40B4-BE49-F238E27FC236}">
                <a16:creationId xmlns:a16="http://schemas.microsoft.com/office/drawing/2014/main" id="{C35A78CD-35DA-6551-3A01-ED722BA67BD2}"/>
              </a:ext>
            </a:extLst>
          </p:cNvPr>
          <p:cNvSpPr/>
          <p:nvPr/>
        </p:nvSpPr>
        <p:spPr>
          <a:xfrm>
            <a:off x="5035296" y="3567047"/>
            <a:ext cx="24871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B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lateral: Mês | Potenciais | D-Users | Δ MoM (colorido)</a:t>
            </a:r>
            <a:endParaRPr lang="en-US" sz="850" dirty="0"/>
          </a:p>
        </p:txBody>
      </p:sp>
      <p:sp>
        <p:nvSpPr>
          <p:cNvPr id="38" name="Shape 30">
            <a:extLst>
              <a:ext uri="{FF2B5EF4-FFF2-40B4-BE49-F238E27FC236}">
                <a16:creationId xmlns:a16="http://schemas.microsoft.com/office/drawing/2014/main" id="{7BA0791B-1B76-AB36-B250-E38C3FAE300F}"/>
              </a:ext>
            </a:extLst>
          </p:cNvPr>
          <p:cNvSpPr/>
          <p:nvPr/>
        </p:nvSpPr>
        <p:spPr>
          <a:xfrm>
            <a:off x="4834128" y="4335143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Text 31">
            <a:extLst>
              <a:ext uri="{FF2B5EF4-FFF2-40B4-BE49-F238E27FC236}">
                <a16:creationId xmlns:a16="http://schemas.microsoft.com/office/drawing/2014/main" id="{9DC60DC8-54CA-4E5B-4486-C2CC1B4A72E1}"/>
              </a:ext>
            </a:extLst>
          </p:cNvPr>
          <p:cNvSpPr/>
          <p:nvPr/>
        </p:nvSpPr>
        <p:spPr>
          <a:xfrm>
            <a:off x="5035296" y="4207127"/>
            <a:ext cx="24871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B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de horizonte: MoM · 3M · 6M · 12M para o gráfico de linha</a:t>
            </a:r>
            <a:endParaRPr lang="en-US" sz="850" dirty="0"/>
          </a:p>
        </p:txBody>
      </p:sp>
      <p:sp>
        <p:nvSpPr>
          <p:cNvPr id="40" name="Shape 32">
            <a:extLst>
              <a:ext uri="{FF2B5EF4-FFF2-40B4-BE49-F238E27FC236}">
                <a16:creationId xmlns:a16="http://schemas.microsoft.com/office/drawing/2014/main" id="{F6A70427-B177-B8EE-C2DE-41A632019F2C}"/>
              </a:ext>
            </a:extLst>
          </p:cNvPr>
          <p:cNvSpPr/>
          <p:nvPr/>
        </p:nvSpPr>
        <p:spPr>
          <a:xfrm>
            <a:off x="4834128" y="4975223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Text 33">
            <a:extLst>
              <a:ext uri="{FF2B5EF4-FFF2-40B4-BE49-F238E27FC236}">
                <a16:creationId xmlns:a16="http://schemas.microsoft.com/office/drawing/2014/main" id="{0B457295-C0D9-2139-9599-EFAE3436F5CC}"/>
              </a:ext>
            </a:extLst>
          </p:cNvPr>
          <p:cNvSpPr/>
          <p:nvPr/>
        </p:nvSpPr>
        <p:spPr>
          <a:xfrm>
            <a:off x="5035296" y="4847207"/>
            <a:ext cx="24871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B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automático: destaque do mês de pico e do mês atual</a:t>
            </a:r>
            <a:endParaRPr lang="en-US" sz="850" dirty="0"/>
          </a:p>
        </p:txBody>
      </p:sp>
      <p:sp>
        <p:nvSpPr>
          <p:cNvPr id="42" name="Shape 34">
            <a:extLst>
              <a:ext uri="{FF2B5EF4-FFF2-40B4-BE49-F238E27FC236}">
                <a16:creationId xmlns:a16="http://schemas.microsoft.com/office/drawing/2014/main" id="{E80BCE50-7099-3A8B-ECDB-C476C06038AF}"/>
              </a:ext>
            </a:extLst>
          </p:cNvPr>
          <p:cNvSpPr/>
          <p:nvPr/>
        </p:nvSpPr>
        <p:spPr>
          <a:xfrm>
            <a:off x="7687056" y="1537079"/>
            <a:ext cx="2834640" cy="3657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" name="Text 35">
            <a:extLst>
              <a:ext uri="{FF2B5EF4-FFF2-40B4-BE49-F238E27FC236}">
                <a16:creationId xmlns:a16="http://schemas.microsoft.com/office/drawing/2014/main" id="{8C001A17-9B2A-8956-81FE-54ACB6EB6A1D}"/>
              </a:ext>
            </a:extLst>
          </p:cNvPr>
          <p:cNvSpPr/>
          <p:nvPr/>
        </p:nvSpPr>
        <p:spPr>
          <a:xfrm>
            <a:off x="7687056" y="1537079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mudou?</a:t>
            </a:r>
            <a:endParaRPr lang="en-US" sz="1100" dirty="0"/>
          </a:p>
        </p:txBody>
      </p:sp>
      <p:sp>
        <p:nvSpPr>
          <p:cNvPr id="44" name="Shape 36">
            <a:extLst>
              <a:ext uri="{FF2B5EF4-FFF2-40B4-BE49-F238E27FC236}">
                <a16:creationId xmlns:a16="http://schemas.microsoft.com/office/drawing/2014/main" id="{71DBE915-1352-1AB5-7119-049C1E053F55}"/>
              </a:ext>
            </a:extLst>
          </p:cNvPr>
          <p:cNvSpPr/>
          <p:nvPr/>
        </p:nvSpPr>
        <p:spPr>
          <a:xfrm>
            <a:off x="7687056" y="1921127"/>
            <a:ext cx="2834640" cy="274320"/>
          </a:xfrm>
          <a:prstGeom prst="rect">
            <a:avLst/>
          </a:prstGeom>
          <a:solidFill>
            <a:srgbClr val="EEF3FA"/>
          </a:solidFill>
          <a:ln w="1270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5" name="Text 37">
            <a:extLst>
              <a:ext uri="{FF2B5EF4-FFF2-40B4-BE49-F238E27FC236}">
                <a16:creationId xmlns:a16="http://schemas.microsoft.com/office/drawing/2014/main" id="{F06BE1AF-DB7A-5333-7E5F-2DD609395D8B}"/>
              </a:ext>
            </a:extLst>
          </p:cNvPr>
          <p:cNvSpPr/>
          <p:nvPr/>
        </p:nvSpPr>
        <p:spPr>
          <a:xfrm>
            <a:off x="7687056" y="1921127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3 — Diagnóstico</a:t>
            </a:r>
            <a:endParaRPr lang="en-US" sz="900" dirty="0"/>
          </a:p>
        </p:txBody>
      </p:sp>
      <p:sp>
        <p:nvSpPr>
          <p:cNvPr id="46" name="Shape 38">
            <a:extLst>
              <a:ext uri="{FF2B5EF4-FFF2-40B4-BE49-F238E27FC236}">
                <a16:creationId xmlns:a16="http://schemas.microsoft.com/office/drawing/2014/main" id="{F5FA1102-FC1C-0347-9D7D-54844D51B409}"/>
              </a:ext>
            </a:extLst>
          </p:cNvPr>
          <p:cNvSpPr/>
          <p:nvPr/>
        </p:nvSpPr>
        <p:spPr>
          <a:xfrm>
            <a:off x="7687056" y="2213735"/>
            <a:ext cx="2834640" cy="3493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7" name="Shape 39">
            <a:extLst>
              <a:ext uri="{FF2B5EF4-FFF2-40B4-BE49-F238E27FC236}">
                <a16:creationId xmlns:a16="http://schemas.microsoft.com/office/drawing/2014/main" id="{045F1EB3-AB35-2C47-CD9F-A9522EA610A6}"/>
              </a:ext>
            </a:extLst>
          </p:cNvPr>
          <p:cNvSpPr/>
          <p:nvPr/>
        </p:nvSpPr>
        <p:spPr>
          <a:xfrm>
            <a:off x="7778496" y="2414903"/>
            <a:ext cx="146304" cy="14630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8" name="Text 40">
            <a:extLst>
              <a:ext uri="{FF2B5EF4-FFF2-40B4-BE49-F238E27FC236}">
                <a16:creationId xmlns:a16="http://schemas.microsoft.com/office/drawing/2014/main" id="{46841373-5835-F46F-FA4C-97303E56F157}"/>
              </a:ext>
            </a:extLst>
          </p:cNvPr>
          <p:cNvSpPr/>
          <p:nvPr/>
        </p:nvSpPr>
        <p:spPr>
          <a:xfrm>
            <a:off x="7979664" y="2286887"/>
            <a:ext cx="24871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B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 de barras horizontais: Potenciais por Divisão (ordenado decrescente)</a:t>
            </a:r>
            <a:endParaRPr lang="en-US" sz="850" dirty="0"/>
          </a:p>
        </p:txBody>
      </p:sp>
      <p:sp>
        <p:nvSpPr>
          <p:cNvPr id="49" name="Shape 41">
            <a:extLst>
              <a:ext uri="{FF2B5EF4-FFF2-40B4-BE49-F238E27FC236}">
                <a16:creationId xmlns:a16="http://schemas.microsoft.com/office/drawing/2014/main" id="{22B5041D-7B99-7942-E823-359EA52E4B23}"/>
              </a:ext>
            </a:extLst>
          </p:cNvPr>
          <p:cNvSpPr/>
          <p:nvPr/>
        </p:nvSpPr>
        <p:spPr>
          <a:xfrm>
            <a:off x="7778496" y="3054983"/>
            <a:ext cx="146304" cy="14630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0" name="Text 42">
            <a:extLst>
              <a:ext uri="{FF2B5EF4-FFF2-40B4-BE49-F238E27FC236}">
                <a16:creationId xmlns:a16="http://schemas.microsoft.com/office/drawing/2014/main" id="{D726B208-242D-0611-092C-8CBFCE314526}"/>
              </a:ext>
            </a:extLst>
          </p:cNvPr>
          <p:cNvSpPr/>
          <p:nvPr/>
        </p:nvSpPr>
        <p:spPr>
          <a:xfrm>
            <a:off x="7979664" y="2926967"/>
            <a:ext cx="24871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B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gap_to_target: Divisão · Δ vs mediana · Classificação que mais impulsionou</a:t>
            </a:r>
            <a:endParaRPr lang="en-US" sz="850" dirty="0"/>
          </a:p>
        </p:txBody>
      </p:sp>
      <p:sp>
        <p:nvSpPr>
          <p:cNvPr id="51" name="Shape 43">
            <a:extLst>
              <a:ext uri="{FF2B5EF4-FFF2-40B4-BE49-F238E27FC236}">
                <a16:creationId xmlns:a16="http://schemas.microsoft.com/office/drawing/2014/main" id="{4E659B38-F16D-DC81-3197-677FF495B0CB}"/>
              </a:ext>
            </a:extLst>
          </p:cNvPr>
          <p:cNvSpPr/>
          <p:nvPr/>
        </p:nvSpPr>
        <p:spPr>
          <a:xfrm>
            <a:off x="7778496" y="3695063"/>
            <a:ext cx="146304" cy="14630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2" name="Text 44">
            <a:extLst>
              <a:ext uri="{FF2B5EF4-FFF2-40B4-BE49-F238E27FC236}">
                <a16:creationId xmlns:a16="http://schemas.microsoft.com/office/drawing/2014/main" id="{6F998380-6CCD-B492-99D2-15309E839D7A}"/>
              </a:ext>
            </a:extLst>
          </p:cNvPr>
          <p:cNvSpPr/>
          <p:nvPr/>
        </p:nvSpPr>
        <p:spPr>
          <a:xfrm>
            <a:off x="7979664" y="3567047"/>
            <a:ext cx="24871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B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site × classificação: intensidade = share_per_ddi_classification</a:t>
            </a:r>
            <a:endParaRPr lang="en-US" sz="850" dirty="0"/>
          </a:p>
        </p:txBody>
      </p:sp>
      <p:sp>
        <p:nvSpPr>
          <p:cNvPr id="53" name="Shape 45">
            <a:extLst>
              <a:ext uri="{FF2B5EF4-FFF2-40B4-BE49-F238E27FC236}">
                <a16:creationId xmlns:a16="http://schemas.microsoft.com/office/drawing/2014/main" id="{72734147-F14C-8A94-2AAE-1F32AFCA6BD9}"/>
              </a:ext>
            </a:extLst>
          </p:cNvPr>
          <p:cNvSpPr/>
          <p:nvPr/>
        </p:nvSpPr>
        <p:spPr>
          <a:xfrm>
            <a:off x="7778496" y="4335143"/>
            <a:ext cx="146304" cy="14630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4" name="Text 46">
            <a:extLst>
              <a:ext uri="{FF2B5EF4-FFF2-40B4-BE49-F238E27FC236}">
                <a16:creationId xmlns:a16="http://schemas.microsoft.com/office/drawing/2014/main" id="{503CD3FB-019F-711A-2E94-5B6FE131089F}"/>
              </a:ext>
            </a:extLst>
          </p:cNvPr>
          <p:cNvSpPr/>
          <p:nvPr/>
        </p:nvSpPr>
        <p:spPr>
          <a:xfrm>
            <a:off x="7979664" y="4207127"/>
            <a:ext cx="24871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B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Decomposição: clicar em divisão expande departamentos com transition_rate MoM</a:t>
            </a:r>
            <a:endParaRPr lang="en-US" sz="850" dirty="0"/>
          </a:p>
        </p:txBody>
      </p:sp>
      <p:sp>
        <p:nvSpPr>
          <p:cNvPr id="55" name="Shape 47">
            <a:extLst>
              <a:ext uri="{FF2B5EF4-FFF2-40B4-BE49-F238E27FC236}">
                <a16:creationId xmlns:a16="http://schemas.microsoft.com/office/drawing/2014/main" id="{0DA0AC52-1671-14F8-122F-C7E5FCCD929A}"/>
              </a:ext>
            </a:extLst>
          </p:cNvPr>
          <p:cNvSpPr/>
          <p:nvPr/>
        </p:nvSpPr>
        <p:spPr>
          <a:xfrm>
            <a:off x="7778496" y="4975223"/>
            <a:ext cx="146304" cy="14630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6" name="Text 48">
            <a:extLst>
              <a:ext uri="{FF2B5EF4-FFF2-40B4-BE49-F238E27FC236}">
                <a16:creationId xmlns:a16="http://schemas.microsoft.com/office/drawing/2014/main" id="{DB9FBF3A-3B9C-BF6C-BC38-89F3E54DB847}"/>
              </a:ext>
            </a:extLst>
          </p:cNvPr>
          <p:cNvSpPr/>
          <p:nvPr/>
        </p:nvSpPr>
        <p:spPr>
          <a:xfrm>
            <a:off x="7979664" y="4847207"/>
            <a:ext cx="24871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B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 automática: divisões que mais contribuíram para a variação do mês</a:t>
            </a:r>
            <a:endParaRPr lang="en-US" sz="850" dirty="0"/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EB6DA4E9-709E-834C-D81B-A877BC01F1DB}"/>
              </a:ext>
            </a:extLst>
          </p:cNvPr>
          <p:cNvSpPr txBox="1"/>
          <p:nvPr/>
        </p:nvSpPr>
        <p:spPr>
          <a:xfrm>
            <a:off x="745893" y="966579"/>
            <a:ext cx="3832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Estrutura Narrativa e Decisões de UX</a:t>
            </a:r>
          </a:p>
        </p:txBody>
      </p:sp>
    </p:spTree>
    <p:extLst>
      <p:ext uri="{BB962C8B-B14F-4D97-AF65-F5344CB8AC3E}">
        <p14:creationId xmlns:p14="http://schemas.microsoft.com/office/powerpoint/2010/main" val="5527094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50074-72CA-A4E7-B380-86B4C21AE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Agrupar 13">
            <a:extLst>
              <a:ext uri="{FF2B5EF4-FFF2-40B4-BE49-F238E27FC236}">
                <a16:creationId xmlns:a16="http://schemas.microsoft.com/office/drawing/2014/main" id="{9710EE44-9CA2-1E12-809B-7C40EDCC5E48}"/>
              </a:ext>
            </a:extLst>
          </p:cNvPr>
          <p:cNvGrpSpPr/>
          <p:nvPr/>
        </p:nvGrpSpPr>
        <p:grpSpPr>
          <a:xfrm>
            <a:off x="0" y="-2"/>
            <a:ext cx="12192000" cy="787791"/>
            <a:chOff x="0" y="-1"/>
            <a:chExt cx="12192000" cy="787791"/>
          </a:xfrm>
        </p:grpSpPr>
        <p:grpSp>
          <p:nvGrpSpPr>
            <p:cNvPr id="15" name="Agrupar 14">
              <a:extLst>
                <a:ext uri="{FF2B5EF4-FFF2-40B4-BE49-F238E27FC236}">
                  <a16:creationId xmlns:a16="http://schemas.microsoft.com/office/drawing/2014/main" id="{A2235709-E728-B29C-C610-D73050CC564A}"/>
                </a:ext>
              </a:extLst>
            </p:cNvPr>
            <p:cNvGrpSpPr/>
            <p:nvPr/>
          </p:nvGrpSpPr>
          <p:grpSpPr>
            <a:xfrm>
              <a:off x="0" y="-1"/>
              <a:ext cx="12192000" cy="787791"/>
              <a:chOff x="0" y="-1"/>
              <a:chExt cx="12192000" cy="787791"/>
            </a:xfrm>
          </p:grpSpPr>
          <p:sp>
            <p:nvSpPr>
              <p:cNvPr id="17" name="Shape 0">
                <a:extLst>
                  <a:ext uri="{FF2B5EF4-FFF2-40B4-BE49-F238E27FC236}">
                    <a16:creationId xmlns:a16="http://schemas.microsoft.com/office/drawing/2014/main" id="{5B568EEF-B07F-4857-FB50-19B9FC665B3B}"/>
                  </a:ext>
                </a:extLst>
              </p:cNvPr>
              <p:cNvSpPr/>
              <p:nvPr/>
            </p:nvSpPr>
            <p:spPr>
              <a:xfrm>
                <a:off x="0" y="-1"/>
                <a:ext cx="12192000" cy="787791"/>
              </a:xfrm>
              <a:prstGeom prst="rect">
                <a:avLst/>
              </a:prstGeom>
              <a:solidFill>
                <a:srgbClr val="333333"/>
              </a:solidFill>
              <a:ln w="12700">
                <a:solidFill>
                  <a:srgbClr val="333333"/>
                </a:solidFill>
                <a:prstDash val="solid"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8" name="Retângulo: Cantos Arredondados 17">
                <a:extLst>
                  <a:ext uri="{FF2B5EF4-FFF2-40B4-BE49-F238E27FC236}">
                    <a16:creationId xmlns:a16="http://schemas.microsoft.com/office/drawing/2014/main" id="{ECA4321B-5EEC-03B8-9308-500ABEE787DD}"/>
                  </a:ext>
                </a:extLst>
              </p:cNvPr>
              <p:cNvSpPr/>
              <p:nvPr/>
            </p:nvSpPr>
            <p:spPr>
              <a:xfrm>
                <a:off x="9835375" y="306443"/>
                <a:ext cx="1987681" cy="175290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23000">
                    <a:srgbClr val="84B9EB"/>
                  </a:gs>
                  <a:gs pos="54000">
                    <a:srgbClr val="F5EB3F"/>
                  </a:gs>
                </a:gsLst>
                <a:lin ang="0" scaled="1"/>
                <a:tileRect/>
              </a:gradFill>
              <a:ln>
                <a:solidFill>
                  <a:srgbClr val="3333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pic>
          <p:nvPicPr>
            <p:cNvPr id="16" name="Imagem 15">
              <a:extLst>
                <a:ext uri="{FF2B5EF4-FFF2-40B4-BE49-F238E27FC236}">
                  <a16:creationId xmlns:a16="http://schemas.microsoft.com/office/drawing/2014/main" id="{BFFE1A81-0D85-0779-BB4E-E5D692D504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7756" y="213902"/>
              <a:ext cx="1279943" cy="359984"/>
            </a:xfrm>
            <a:prstGeom prst="rect">
              <a:avLst/>
            </a:prstGeom>
          </p:spPr>
        </p:pic>
      </p:grpSp>
      <p:sp>
        <p:nvSpPr>
          <p:cNvPr id="19" name="Título 1">
            <a:extLst>
              <a:ext uri="{FF2B5EF4-FFF2-40B4-BE49-F238E27FC236}">
                <a16:creationId xmlns:a16="http://schemas.microsoft.com/office/drawing/2014/main" id="{DFE5023E-3D7E-4699-8BCC-74F774571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4635" y="72739"/>
            <a:ext cx="7821795" cy="642310"/>
          </a:xfrm>
        </p:spPr>
        <p:txBody>
          <a:bodyPr anchor="t">
            <a:normAutofit fontScale="90000"/>
          </a:bodyPr>
          <a:lstStyle/>
          <a:p>
            <a:r>
              <a:rPr lang="pt-BR" dirty="0">
                <a:solidFill>
                  <a:schemeClr val="bg1"/>
                </a:solidFill>
              </a:rPr>
              <a:t>| </a:t>
            </a:r>
            <a:r>
              <a:rPr lang="pt-BR" sz="3100" dirty="0">
                <a:solidFill>
                  <a:schemeClr val="bg1"/>
                </a:solidFill>
              </a:rPr>
              <a:t>UX &amp; Storytelling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2C4AD926-566B-FFAA-0CF5-BA3BCA1FCB43}"/>
              </a:ext>
            </a:extLst>
          </p:cNvPr>
          <p:cNvSpPr/>
          <p:nvPr/>
        </p:nvSpPr>
        <p:spPr>
          <a:xfrm>
            <a:off x="0" y="0"/>
            <a:ext cx="61913" cy="787789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28">
            <a:extLst>
              <a:ext uri="{FF2B5EF4-FFF2-40B4-BE49-F238E27FC236}">
                <a16:creationId xmlns:a16="http://schemas.microsoft.com/office/drawing/2014/main" id="{5F54B84B-5B28-CDB5-B341-12989863A9E7}"/>
              </a:ext>
            </a:extLst>
          </p:cNvPr>
          <p:cNvSpPr/>
          <p:nvPr/>
        </p:nvSpPr>
        <p:spPr>
          <a:xfrm>
            <a:off x="347756" y="6516083"/>
            <a:ext cx="8741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59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Implementação de referência: serving/streamlit/pages/  ·  Power BI: serving/powerbi/Data_Driven_Index_DDI.pbix</a:t>
            </a:r>
            <a:endParaRPr lang="en-US" sz="900" dirty="0"/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7C598F28-FFFC-3153-FD5A-B4AAE0C4BB93}"/>
              </a:ext>
            </a:extLst>
          </p:cNvPr>
          <p:cNvSpPr/>
          <p:nvPr/>
        </p:nvSpPr>
        <p:spPr>
          <a:xfrm>
            <a:off x="1644636" y="2346248"/>
            <a:ext cx="4187952" cy="1024128"/>
          </a:xfrm>
          <a:prstGeom prst="rect">
            <a:avLst/>
          </a:prstGeom>
          <a:solidFill>
            <a:srgbClr val="F0F4FA"/>
          </a:solidFill>
          <a:ln w="12700">
            <a:solidFill>
              <a:srgbClr val="D8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ABA23584-7D44-E2DD-3737-F76735F56674}"/>
              </a:ext>
            </a:extLst>
          </p:cNvPr>
          <p:cNvSpPr/>
          <p:nvPr/>
        </p:nvSpPr>
        <p:spPr>
          <a:xfrm>
            <a:off x="1644636" y="2346248"/>
            <a:ext cx="54864" cy="1024128"/>
          </a:xfrm>
          <a:prstGeom prst="rect">
            <a:avLst/>
          </a:prstGeom>
          <a:solidFill>
            <a:srgbClr val="1659A8"/>
          </a:solidFill>
          <a:ln w="12700">
            <a:solidFill>
              <a:srgbClr val="1659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E88CF475-7F59-7BAA-355E-19E1FE7912A6}"/>
              </a:ext>
            </a:extLst>
          </p:cNvPr>
          <p:cNvSpPr/>
          <p:nvPr/>
        </p:nvSpPr>
        <p:spPr>
          <a:xfrm>
            <a:off x="1772652" y="2419400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Contexto antes de detalhe</a:t>
            </a:r>
            <a:endParaRPr lang="en-US" sz="1000" dirty="0"/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CA8377DA-A84F-D1EE-2969-A66D5446A4A5}"/>
              </a:ext>
            </a:extLst>
          </p:cNvPr>
          <p:cNvSpPr/>
          <p:nvPr/>
        </p:nvSpPr>
        <p:spPr>
          <a:xfrm>
            <a:off x="1772652" y="2693720"/>
            <a:ext cx="40050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B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usuário vê primeiro o KPI geral da empresa. Só então drilla para site → divisão → departamento. Cada nível adiciona contexto, nunca substitui o anterior.</a:t>
            </a:r>
            <a:endParaRPr lang="en-US" sz="880" dirty="0"/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B9F53F5C-95B5-1C55-A799-6BDBB25C22C9}"/>
              </a:ext>
            </a:extLst>
          </p:cNvPr>
          <p:cNvSpPr/>
          <p:nvPr/>
        </p:nvSpPr>
        <p:spPr>
          <a:xfrm>
            <a:off x="5997180" y="2346248"/>
            <a:ext cx="4187952" cy="1024128"/>
          </a:xfrm>
          <a:prstGeom prst="rect">
            <a:avLst/>
          </a:prstGeom>
          <a:solidFill>
            <a:srgbClr val="F0F4FA"/>
          </a:solidFill>
          <a:ln w="12700">
            <a:solidFill>
              <a:srgbClr val="D8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DE75D706-41E5-FB84-C94A-1D6A0F30AF74}"/>
              </a:ext>
            </a:extLst>
          </p:cNvPr>
          <p:cNvSpPr/>
          <p:nvPr/>
        </p:nvSpPr>
        <p:spPr>
          <a:xfrm>
            <a:off x="5997180" y="2346248"/>
            <a:ext cx="54864" cy="1024128"/>
          </a:xfrm>
          <a:prstGeom prst="rect">
            <a:avLst/>
          </a:prstGeom>
          <a:solidFill>
            <a:srgbClr val="1659A8"/>
          </a:solidFill>
          <a:ln w="12700">
            <a:solidFill>
              <a:srgbClr val="1659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2E8ED19A-2538-58A0-F73D-6EAB5F754DF4}"/>
              </a:ext>
            </a:extLst>
          </p:cNvPr>
          <p:cNvSpPr/>
          <p:nvPr/>
        </p:nvSpPr>
        <p:spPr>
          <a:xfrm>
            <a:off x="6125196" y="2419400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Benchmark sempre visível</a:t>
            </a:r>
            <a:endParaRPr lang="en-US" sz="1000" dirty="0"/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F62B608F-CBF3-6DE1-D0EE-D441E0A58175}"/>
              </a:ext>
            </a:extLst>
          </p:cNvPr>
          <p:cNvSpPr/>
          <p:nvPr/>
        </p:nvSpPr>
        <p:spPr>
          <a:xfrm>
            <a:off x="6125196" y="2693720"/>
            <a:ext cx="40050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B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gap_to_target mostra a diferença vs. mediana da divisão em todos os níveis. O usuário nunca precisa perguntar 'isso é bom ou ruim?' — a resposta está no slide.</a:t>
            </a:r>
            <a:endParaRPr lang="en-US" sz="880" dirty="0"/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F102268B-26C6-BBA0-F982-497425455B9F}"/>
              </a:ext>
            </a:extLst>
          </p:cNvPr>
          <p:cNvSpPr/>
          <p:nvPr/>
        </p:nvSpPr>
        <p:spPr>
          <a:xfrm>
            <a:off x="1644636" y="3461816"/>
            <a:ext cx="4187952" cy="1024128"/>
          </a:xfrm>
          <a:prstGeom prst="rect">
            <a:avLst/>
          </a:prstGeom>
          <a:solidFill>
            <a:srgbClr val="F0F4FA"/>
          </a:solidFill>
          <a:ln w="12700">
            <a:solidFill>
              <a:srgbClr val="D8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43007EDF-0211-6F70-5945-FBA824F216BD}"/>
              </a:ext>
            </a:extLst>
          </p:cNvPr>
          <p:cNvSpPr/>
          <p:nvPr/>
        </p:nvSpPr>
        <p:spPr>
          <a:xfrm>
            <a:off x="1644636" y="3461816"/>
            <a:ext cx="54864" cy="10241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627C5024-BE43-5402-815C-444607F488F3}"/>
              </a:ext>
            </a:extLst>
          </p:cNvPr>
          <p:cNvSpPr/>
          <p:nvPr/>
        </p:nvSpPr>
        <p:spPr>
          <a:xfrm>
            <a:off x="1772652" y="3534968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Variação MoM explícita</a:t>
            </a:r>
            <a:endParaRPr lang="en-US" sz="1000" dirty="0"/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72063E8E-D868-133C-1477-0B2129428788}"/>
              </a:ext>
            </a:extLst>
          </p:cNvPr>
          <p:cNvSpPr/>
          <p:nvPr/>
        </p:nvSpPr>
        <p:spPr>
          <a:xfrm>
            <a:off x="1772652" y="3809288"/>
            <a:ext cx="40050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B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MoM e Δ 3M são exibidos como cards de destaque, não calculados pelo usuário. Cor verde/vermelho comunica direção instantaneamente sem leitura de tabela.</a:t>
            </a:r>
            <a:endParaRPr lang="en-US" sz="880" dirty="0"/>
          </a:p>
        </p:txBody>
      </p:sp>
      <p:sp>
        <p:nvSpPr>
          <p:cNvPr id="22" name="Shape 16">
            <a:extLst>
              <a:ext uri="{FF2B5EF4-FFF2-40B4-BE49-F238E27FC236}">
                <a16:creationId xmlns:a16="http://schemas.microsoft.com/office/drawing/2014/main" id="{46A9632E-9679-1D39-931B-B85984ABFF16}"/>
              </a:ext>
            </a:extLst>
          </p:cNvPr>
          <p:cNvSpPr/>
          <p:nvPr/>
        </p:nvSpPr>
        <p:spPr>
          <a:xfrm>
            <a:off x="5997180" y="3461816"/>
            <a:ext cx="4187952" cy="1024128"/>
          </a:xfrm>
          <a:prstGeom prst="rect">
            <a:avLst/>
          </a:prstGeom>
          <a:solidFill>
            <a:srgbClr val="F0F4FA"/>
          </a:solidFill>
          <a:ln w="12700">
            <a:solidFill>
              <a:srgbClr val="D8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3" name="Shape 17">
            <a:extLst>
              <a:ext uri="{FF2B5EF4-FFF2-40B4-BE49-F238E27FC236}">
                <a16:creationId xmlns:a16="http://schemas.microsoft.com/office/drawing/2014/main" id="{9A89A961-A23F-959D-0D70-011ACA3B4FD1}"/>
              </a:ext>
            </a:extLst>
          </p:cNvPr>
          <p:cNvSpPr/>
          <p:nvPr/>
        </p:nvSpPr>
        <p:spPr>
          <a:xfrm>
            <a:off x="5997180" y="3461816"/>
            <a:ext cx="54864" cy="10241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D004FBF6-D5A5-3EA6-216C-1BC3CE691902}"/>
              </a:ext>
            </a:extLst>
          </p:cNvPr>
          <p:cNvSpPr/>
          <p:nvPr/>
        </p:nvSpPr>
        <p:spPr>
          <a:xfrm>
            <a:off x="6125196" y="3534968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 Classificações em inglês (como na fonte)</a:t>
            </a:r>
            <a:endParaRPr lang="en-US" sz="1000" dirty="0"/>
          </a:p>
        </p:txBody>
      </p:sp>
      <p:sp>
        <p:nvSpPr>
          <p:cNvPr id="25" name="Text 19">
            <a:extLst>
              <a:ext uri="{FF2B5EF4-FFF2-40B4-BE49-F238E27FC236}">
                <a16:creationId xmlns:a16="http://schemas.microsoft.com/office/drawing/2014/main" id="{20000CAC-642F-5842-2DBA-ACB2F930AFAF}"/>
              </a:ext>
            </a:extLst>
          </p:cNvPr>
          <p:cNvSpPr/>
          <p:nvPr/>
        </p:nvSpPr>
        <p:spPr>
          <a:xfrm>
            <a:off x="6125196" y="3809288"/>
            <a:ext cx="40050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B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Manter Champion, Advanced, Intermediate, Basic, Beginner, Sleeper, No Use evita ambiguidade de tradução e facilita cruzamento com outros relatórios do Meli.</a:t>
            </a:r>
            <a:endParaRPr lang="en-US" sz="880" dirty="0"/>
          </a:p>
        </p:txBody>
      </p:sp>
      <p:sp>
        <p:nvSpPr>
          <p:cNvPr id="26" name="Shape 20">
            <a:extLst>
              <a:ext uri="{FF2B5EF4-FFF2-40B4-BE49-F238E27FC236}">
                <a16:creationId xmlns:a16="http://schemas.microsoft.com/office/drawing/2014/main" id="{3B275156-700D-06A1-4E20-B40D2BBDAC65}"/>
              </a:ext>
            </a:extLst>
          </p:cNvPr>
          <p:cNvSpPr/>
          <p:nvPr/>
        </p:nvSpPr>
        <p:spPr>
          <a:xfrm>
            <a:off x="1644636" y="4577384"/>
            <a:ext cx="4187952" cy="1024128"/>
          </a:xfrm>
          <a:prstGeom prst="rect">
            <a:avLst/>
          </a:prstGeom>
          <a:solidFill>
            <a:srgbClr val="F0F4FA"/>
          </a:solidFill>
          <a:ln w="12700">
            <a:solidFill>
              <a:srgbClr val="D8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7" name="Shape 21">
            <a:extLst>
              <a:ext uri="{FF2B5EF4-FFF2-40B4-BE49-F238E27FC236}">
                <a16:creationId xmlns:a16="http://schemas.microsoft.com/office/drawing/2014/main" id="{EBF2C85D-A1A2-AF1E-CA78-29E8FCCD9DA6}"/>
              </a:ext>
            </a:extLst>
          </p:cNvPr>
          <p:cNvSpPr/>
          <p:nvPr/>
        </p:nvSpPr>
        <p:spPr>
          <a:xfrm>
            <a:off x="1644636" y="4577384"/>
            <a:ext cx="54864" cy="10241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2">
            <a:extLst>
              <a:ext uri="{FF2B5EF4-FFF2-40B4-BE49-F238E27FC236}">
                <a16:creationId xmlns:a16="http://schemas.microsoft.com/office/drawing/2014/main" id="{EA0BFDB9-AE5D-5E72-8D83-F08EC3A2276B}"/>
              </a:ext>
            </a:extLst>
          </p:cNvPr>
          <p:cNvSpPr/>
          <p:nvPr/>
        </p:nvSpPr>
        <p:spPr>
          <a:xfrm>
            <a:off x="1772652" y="4650536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Poucas interações para qualquer resposta</a:t>
            </a:r>
            <a:endParaRPr lang="en-US" sz="1000" dirty="0"/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04B7CCCB-FFF0-541C-3430-16533EAC416F}"/>
              </a:ext>
            </a:extLst>
          </p:cNvPr>
          <p:cNvSpPr/>
          <p:nvPr/>
        </p:nvSpPr>
        <p:spPr>
          <a:xfrm>
            <a:off x="1772652" y="4924856"/>
            <a:ext cx="40050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B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pergunta de negócio deve ser respondida em ≤ 4 cliques: ① Escolher mês → ② Escolher site → ③ Ver divisão → ④ Ver departamento. Sem menus escondidos.</a:t>
            </a:r>
            <a:endParaRPr lang="en-US" sz="880" dirty="0"/>
          </a:p>
        </p:txBody>
      </p:sp>
      <p:sp>
        <p:nvSpPr>
          <p:cNvPr id="30" name="Shape 24">
            <a:extLst>
              <a:ext uri="{FF2B5EF4-FFF2-40B4-BE49-F238E27FC236}">
                <a16:creationId xmlns:a16="http://schemas.microsoft.com/office/drawing/2014/main" id="{F8A88E72-A42D-55EB-43D2-0CE17D96B49A}"/>
              </a:ext>
            </a:extLst>
          </p:cNvPr>
          <p:cNvSpPr/>
          <p:nvPr/>
        </p:nvSpPr>
        <p:spPr>
          <a:xfrm>
            <a:off x="5997180" y="4577384"/>
            <a:ext cx="4187952" cy="1024128"/>
          </a:xfrm>
          <a:prstGeom prst="rect">
            <a:avLst/>
          </a:prstGeom>
          <a:solidFill>
            <a:srgbClr val="F0F4FA"/>
          </a:solidFill>
          <a:ln w="12700">
            <a:solidFill>
              <a:srgbClr val="D8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1" name="Shape 25">
            <a:extLst>
              <a:ext uri="{FF2B5EF4-FFF2-40B4-BE49-F238E27FC236}">
                <a16:creationId xmlns:a16="http://schemas.microsoft.com/office/drawing/2014/main" id="{E199B1C4-8B8C-5585-C5A9-1782EFC950E3}"/>
              </a:ext>
            </a:extLst>
          </p:cNvPr>
          <p:cNvSpPr/>
          <p:nvPr/>
        </p:nvSpPr>
        <p:spPr>
          <a:xfrm>
            <a:off x="5997180" y="4577384"/>
            <a:ext cx="54864" cy="10241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26">
            <a:extLst>
              <a:ext uri="{FF2B5EF4-FFF2-40B4-BE49-F238E27FC236}">
                <a16:creationId xmlns:a16="http://schemas.microsoft.com/office/drawing/2014/main" id="{3CFB86E8-CF56-6959-EF5D-35F32EDA6C26}"/>
              </a:ext>
            </a:extLst>
          </p:cNvPr>
          <p:cNvSpPr/>
          <p:nvPr/>
        </p:nvSpPr>
        <p:spPr>
          <a:xfrm>
            <a:off x="6125196" y="4650536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Annotation automática nos gráficos</a:t>
            </a:r>
            <a:endParaRPr lang="en-US" sz="1000" dirty="0"/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0E3E2E3B-BD35-FDEA-59F6-E36487236010}"/>
              </a:ext>
            </a:extLst>
          </p:cNvPr>
          <p:cNvSpPr/>
          <p:nvPr/>
        </p:nvSpPr>
        <p:spPr>
          <a:xfrm>
            <a:off x="6125196" y="4924856"/>
            <a:ext cx="40050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B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maior outlier (divisão com maior Δ MoM positivo/negativo) é automaticamente anotado no gráfico de linha. Elimina o trabalho de interpretação básica do analista.</a:t>
            </a:r>
            <a:endParaRPr lang="en-US" sz="880" dirty="0"/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09D1480B-D9DD-9313-21BD-1B60D74BDB71}"/>
              </a:ext>
            </a:extLst>
          </p:cNvPr>
          <p:cNvSpPr txBox="1"/>
          <p:nvPr/>
        </p:nvSpPr>
        <p:spPr>
          <a:xfrm>
            <a:off x="739399" y="1382352"/>
            <a:ext cx="50931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Boas práticas de UX &amp; Data Storytelling Aplicadas</a:t>
            </a:r>
          </a:p>
        </p:txBody>
      </p:sp>
    </p:spTree>
    <p:extLst>
      <p:ext uri="{BB962C8B-B14F-4D97-AF65-F5344CB8AC3E}">
        <p14:creationId xmlns:p14="http://schemas.microsoft.com/office/powerpoint/2010/main" val="3818821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736F4-2985-7317-E2A5-44AD59AB5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Agrupar 13">
            <a:extLst>
              <a:ext uri="{FF2B5EF4-FFF2-40B4-BE49-F238E27FC236}">
                <a16:creationId xmlns:a16="http://schemas.microsoft.com/office/drawing/2014/main" id="{D5CC40C0-5A0F-529A-9E70-AD3CA6772CEA}"/>
              </a:ext>
            </a:extLst>
          </p:cNvPr>
          <p:cNvGrpSpPr/>
          <p:nvPr/>
        </p:nvGrpSpPr>
        <p:grpSpPr>
          <a:xfrm>
            <a:off x="0" y="-2"/>
            <a:ext cx="12192000" cy="787791"/>
            <a:chOff x="0" y="-1"/>
            <a:chExt cx="12192000" cy="787791"/>
          </a:xfrm>
        </p:grpSpPr>
        <p:grpSp>
          <p:nvGrpSpPr>
            <p:cNvPr id="15" name="Agrupar 14">
              <a:extLst>
                <a:ext uri="{FF2B5EF4-FFF2-40B4-BE49-F238E27FC236}">
                  <a16:creationId xmlns:a16="http://schemas.microsoft.com/office/drawing/2014/main" id="{26195900-2B77-3910-8523-DF962805F1D7}"/>
                </a:ext>
              </a:extLst>
            </p:cNvPr>
            <p:cNvGrpSpPr/>
            <p:nvPr/>
          </p:nvGrpSpPr>
          <p:grpSpPr>
            <a:xfrm>
              <a:off x="0" y="-1"/>
              <a:ext cx="12192000" cy="787791"/>
              <a:chOff x="0" y="-1"/>
              <a:chExt cx="12192000" cy="787791"/>
            </a:xfrm>
          </p:grpSpPr>
          <p:sp>
            <p:nvSpPr>
              <p:cNvPr id="17" name="Shape 0">
                <a:extLst>
                  <a:ext uri="{FF2B5EF4-FFF2-40B4-BE49-F238E27FC236}">
                    <a16:creationId xmlns:a16="http://schemas.microsoft.com/office/drawing/2014/main" id="{585AD85B-28FB-A3A2-617C-FDF00C5E8D18}"/>
                  </a:ext>
                </a:extLst>
              </p:cNvPr>
              <p:cNvSpPr/>
              <p:nvPr/>
            </p:nvSpPr>
            <p:spPr>
              <a:xfrm>
                <a:off x="0" y="-1"/>
                <a:ext cx="12192000" cy="787791"/>
              </a:xfrm>
              <a:prstGeom prst="rect">
                <a:avLst/>
              </a:prstGeom>
              <a:solidFill>
                <a:srgbClr val="333333"/>
              </a:solidFill>
              <a:ln w="12700">
                <a:solidFill>
                  <a:srgbClr val="333333"/>
                </a:solidFill>
                <a:prstDash val="solid"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8" name="Retângulo: Cantos Arredondados 17">
                <a:extLst>
                  <a:ext uri="{FF2B5EF4-FFF2-40B4-BE49-F238E27FC236}">
                    <a16:creationId xmlns:a16="http://schemas.microsoft.com/office/drawing/2014/main" id="{9BB705EE-11AB-3FA0-EC4F-380FE8D77B38}"/>
                  </a:ext>
                </a:extLst>
              </p:cNvPr>
              <p:cNvSpPr/>
              <p:nvPr/>
            </p:nvSpPr>
            <p:spPr>
              <a:xfrm>
                <a:off x="9835375" y="306443"/>
                <a:ext cx="1987681" cy="175290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23000">
                    <a:srgbClr val="84B9EB"/>
                  </a:gs>
                  <a:gs pos="54000">
                    <a:srgbClr val="F5EB3F"/>
                  </a:gs>
                </a:gsLst>
                <a:lin ang="0" scaled="1"/>
                <a:tileRect/>
              </a:gradFill>
              <a:ln>
                <a:solidFill>
                  <a:srgbClr val="3333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pic>
          <p:nvPicPr>
            <p:cNvPr id="16" name="Imagem 15">
              <a:extLst>
                <a:ext uri="{FF2B5EF4-FFF2-40B4-BE49-F238E27FC236}">
                  <a16:creationId xmlns:a16="http://schemas.microsoft.com/office/drawing/2014/main" id="{12D31417-5F00-CA4D-041A-CE11E1CB21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7756" y="213902"/>
              <a:ext cx="1279943" cy="359984"/>
            </a:xfrm>
            <a:prstGeom prst="rect">
              <a:avLst/>
            </a:prstGeom>
          </p:spPr>
        </p:pic>
      </p:grpSp>
      <p:sp>
        <p:nvSpPr>
          <p:cNvPr id="19" name="Título 1">
            <a:extLst>
              <a:ext uri="{FF2B5EF4-FFF2-40B4-BE49-F238E27FC236}">
                <a16:creationId xmlns:a16="http://schemas.microsoft.com/office/drawing/2014/main" id="{73C6D076-4403-9B7B-C17C-1BA5E00B7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4635" y="72739"/>
            <a:ext cx="7821795" cy="642310"/>
          </a:xfrm>
        </p:spPr>
        <p:txBody>
          <a:bodyPr anchor="t">
            <a:normAutofit fontScale="90000"/>
          </a:bodyPr>
          <a:lstStyle/>
          <a:p>
            <a:r>
              <a:rPr lang="pt-BR" dirty="0">
                <a:solidFill>
                  <a:schemeClr val="bg1"/>
                </a:solidFill>
              </a:rPr>
              <a:t>| </a:t>
            </a:r>
            <a:r>
              <a:rPr lang="pt-BR" sz="3100" dirty="0">
                <a:solidFill>
                  <a:schemeClr val="bg1"/>
                </a:solidFill>
              </a:rPr>
              <a:t>Microsoft Power Bi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8FF8DE2F-EA57-48FC-F15D-4AAA544F4D7C}"/>
              </a:ext>
            </a:extLst>
          </p:cNvPr>
          <p:cNvSpPr/>
          <p:nvPr/>
        </p:nvSpPr>
        <p:spPr>
          <a:xfrm>
            <a:off x="0" y="0"/>
            <a:ext cx="61913" cy="787789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B679D3F-9A2F-5940-986B-652E27596C31}"/>
              </a:ext>
            </a:extLst>
          </p:cNvPr>
          <p:cNvSpPr txBox="1"/>
          <p:nvPr/>
        </p:nvSpPr>
        <p:spPr>
          <a:xfrm>
            <a:off x="157868" y="1021493"/>
            <a:ext cx="118762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>
                <a:hlinkClick r:id="rId3"/>
              </a:rPr>
              <a:t>https://app.powerbi.com/view?r=eyJrIjoiZmU4Mjg0M2QtNmM5ZS00MjgyLTg4MzMtYjU4MTJmMzU2YmJlIiwidCI6ImM3M2JkNjAwLTUxNzMtNDAxZC05YmRjLTUzZTg1YTI5NGNiMiJ9</a:t>
            </a:r>
            <a:endParaRPr lang="pt-BR" sz="1200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261DC2C7-B41B-C94B-6408-3E6F1211201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92"/>
          <a:stretch>
            <a:fillRect/>
          </a:stretch>
        </p:blipFill>
        <p:spPr>
          <a:xfrm>
            <a:off x="2028699" y="2045514"/>
            <a:ext cx="3253461" cy="182931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1EF299D8-E447-E109-5EC3-C941BDE2EC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588" y="4385527"/>
            <a:ext cx="3035988" cy="1704522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65B5ACDA-53F2-779A-6A59-8B0F395B03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32715" y="4385527"/>
            <a:ext cx="3112081" cy="1746059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9AB9395F-983E-5C0E-C612-60AE24580C3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00936" y="1605434"/>
            <a:ext cx="4402799" cy="4927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8584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682B6-B13E-3DF5-1329-E94F6C6FA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Agrupar 13">
            <a:extLst>
              <a:ext uri="{FF2B5EF4-FFF2-40B4-BE49-F238E27FC236}">
                <a16:creationId xmlns:a16="http://schemas.microsoft.com/office/drawing/2014/main" id="{213ED46A-60BC-3B23-5630-8B0ED0419AD7}"/>
              </a:ext>
            </a:extLst>
          </p:cNvPr>
          <p:cNvGrpSpPr/>
          <p:nvPr/>
        </p:nvGrpSpPr>
        <p:grpSpPr>
          <a:xfrm>
            <a:off x="0" y="-2"/>
            <a:ext cx="12192000" cy="787791"/>
            <a:chOff x="0" y="-1"/>
            <a:chExt cx="12192000" cy="787791"/>
          </a:xfrm>
        </p:grpSpPr>
        <p:grpSp>
          <p:nvGrpSpPr>
            <p:cNvPr id="15" name="Agrupar 14">
              <a:extLst>
                <a:ext uri="{FF2B5EF4-FFF2-40B4-BE49-F238E27FC236}">
                  <a16:creationId xmlns:a16="http://schemas.microsoft.com/office/drawing/2014/main" id="{35EC8709-8C15-08C9-7AF0-47E274B1DD39}"/>
                </a:ext>
              </a:extLst>
            </p:cNvPr>
            <p:cNvGrpSpPr/>
            <p:nvPr/>
          </p:nvGrpSpPr>
          <p:grpSpPr>
            <a:xfrm>
              <a:off x="0" y="-1"/>
              <a:ext cx="12192000" cy="787791"/>
              <a:chOff x="0" y="-1"/>
              <a:chExt cx="12192000" cy="787791"/>
            </a:xfrm>
          </p:grpSpPr>
          <p:sp>
            <p:nvSpPr>
              <p:cNvPr id="17" name="Shape 0">
                <a:extLst>
                  <a:ext uri="{FF2B5EF4-FFF2-40B4-BE49-F238E27FC236}">
                    <a16:creationId xmlns:a16="http://schemas.microsoft.com/office/drawing/2014/main" id="{F2525B9E-BC12-1DD1-7613-589262591C04}"/>
                  </a:ext>
                </a:extLst>
              </p:cNvPr>
              <p:cNvSpPr/>
              <p:nvPr/>
            </p:nvSpPr>
            <p:spPr>
              <a:xfrm>
                <a:off x="0" y="-1"/>
                <a:ext cx="12192000" cy="787791"/>
              </a:xfrm>
              <a:prstGeom prst="rect">
                <a:avLst/>
              </a:prstGeom>
              <a:solidFill>
                <a:srgbClr val="333333"/>
              </a:solidFill>
              <a:ln w="12700">
                <a:solidFill>
                  <a:srgbClr val="333333"/>
                </a:solidFill>
                <a:prstDash val="solid"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8" name="Retângulo: Cantos Arredondados 17">
                <a:extLst>
                  <a:ext uri="{FF2B5EF4-FFF2-40B4-BE49-F238E27FC236}">
                    <a16:creationId xmlns:a16="http://schemas.microsoft.com/office/drawing/2014/main" id="{6AE1BFA4-0561-AAD9-DE66-A490B843BBD0}"/>
                  </a:ext>
                </a:extLst>
              </p:cNvPr>
              <p:cNvSpPr/>
              <p:nvPr/>
            </p:nvSpPr>
            <p:spPr>
              <a:xfrm>
                <a:off x="9835375" y="306443"/>
                <a:ext cx="1987681" cy="175290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23000">
                    <a:srgbClr val="84B9EB"/>
                  </a:gs>
                  <a:gs pos="54000">
                    <a:srgbClr val="F5EB3F"/>
                  </a:gs>
                </a:gsLst>
                <a:lin ang="0" scaled="1"/>
                <a:tileRect/>
              </a:gradFill>
              <a:ln>
                <a:solidFill>
                  <a:srgbClr val="3333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pic>
          <p:nvPicPr>
            <p:cNvPr id="16" name="Imagem 15">
              <a:extLst>
                <a:ext uri="{FF2B5EF4-FFF2-40B4-BE49-F238E27FC236}">
                  <a16:creationId xmlns:a16="http://schemas.microsoft.com/office/drawing/2014/main" id="{D8784DE0-3288-31E5-B78F-32E320DA18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7756" y="213902"/>
              <a:ext cx="1279943" cy="359984"/>
            </a:xfrm>
            <a:prstGeom prst="rect">
              <a:avLst/>
            </a:prstGeom>
          </p:spPr>
        </p:pic>
      </p:grpSp>
      <p:sp>
        <p:nvSpPr>
          <p:cNvPr id="19" name="Título 1">
            <a:extLst>
              <a:ext uri="{FF2B5EF4-FFF2-40B4-BE49-F238E27FC236}">
                <a16:creationId xmlns:a16="http://schemas.microsoft.com/office/drawing/2014/main" id="{2CD6A439-23BA-01E2-2E2C-DC7E8CAA6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4635" y="72739"/>
            <a:ext cx="7821795" cy="642310"/>
          </a:xfrm>
        </p:spPr>
        <p:txBody>
          <a:bodyPr anchor="t">
            <a:normAutofit fontScale="90000"/>
          </a:bodyPr>
          <a:lstStyle/>
          <a:p>
            <a:r>
              <a:rPr lang="pt-BR" dirty="0">
                <a:solidFill>
                  <a:schemeClr val="bg1"/>
                </a:solidFill>
              </a:rPr>
              <a:t>| </a:t>
            </a:r>
            <a:r>
              <a:rPr lang="pt-BR" sz="3100" dirty="0">
                <a:solidFill>
                  <a:schemeClr val="bg1"/>
                </a:solidFill>
              </a:rPr>
              <a:t>Referência Rápida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D5B2E535-D455-250D-7B67-3E67AC62663C}"/>
              </a:ext>
            </a:extLst>
          </p:cNvPr>
          <p:cNvSpPr/>
          <p:nvPr/>
        </p:nvSpPr>
        <p:spPr>
          <a:xfrm>
            <a:off x="0" y="0"/>
            <a:ext cx="61913" cy="787789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3634A17F-ECCC-121C-EB71-20684B5049F1}"/>
              </a:ext>
            </a:extLst>
          </p:cNvPr>
          <p:cNvSpPr/>
          <p:nvPr/>
        </p:nvSpPr>
        <p:spPr>
          <a:xfrm>
            <a:off x="1627699" y="1984202"/>
            <a:ext cx="8741664" cy="320040"/>
          </a:xfrm>
          <a:prstGeom prst="rect">
            <a:avLst/>
          </a:prstGeom>
          <a:solidFill>
            <a:srgbClr val="F0F4FA"/>
          </a:solidFill>
          <a:ln w="1270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D2A5013D-7B28-95E2-92EE-92210B145D91}"/>
              </a:ext>
            </a:extLst>
          </p:cNvPr>
          <p:cNvSpPr/>
          <p:nvPr/>
        </p:nvSpPr>
        <p:spPr>
          <a:xfrm>
            <a:off x="1664275" y="2084786"/>
            <a:ext cx="118872" cy="118872"/>
          </a:xfrm>
          <a:prstGeom prst="ellipse">
            <a:avLst/>
          </a:prstGeom>
          <a:solidFill>
            <a:srgbClr val="1659A8"/>
          </a:solidFill>
          <a:ln w="12700">
            <a:solidFill>
              <a:srgbClr val="1659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EDDB00DE-EAD2-FF7E-D4BB-21EFDA7B8216}"/>
              </a:ext>
            </a:extLst>
          </p:cNvPr>
          <p:cNvSpPr/>
          <p:nvPr/>
        </p:nvSpPr>
        <p:spPr>
          <a:xfrm>
            <a:off x="1847155" y="1984202"/>
            <a:ext cx="3840480" cy="3200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do dashboard atual</a:t>
            </a:r>
            <a:endParaRPr lang="en-US" sz="900" dirty="0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1DD1493B-57E7-77DE-38D8-33B582C29547}"/>
              </a:ext>
            </a:extLst>
          </p:cNvPr>
          <p:cNvSpPr/>
          <p:nvPr/>
        </p:nvSpPr>
        <p:spPr>
          <a:xfrm>
            <a:off x="5724211" y="1984202"/>
            <a:ext cx="4590288" cy="3200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B5F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docs/Respostas.md · Seção 1.1.1 · Slide 2 da defesa</a:t>
            </a:r>
            <a:endParaRPr lang="en-US" sz="850" dirty="0"/>
          </a:p>
        </p:txBody>
      </p:sp>
      <p:sp>
        <p:nvSpPr>
          <p:cNvPr id="7" name="Shape 8">
            <a:extLst>
              <a:ext uri="{FF2B5EF4-FFF2-40B4-BE49-F238E27FC236}">
                <a16:creationId xmlns:a16="http://schemas.microsoft.com/office/drawing/2014/main" id="{D7BF2BD1-A5EE-F134-FA47-8239BFE65EE0}"/>
              </a:ext>
            </a:extLst>
          </p:cNvPr>
          <p:cNvSpPr/>
          <p:nvPr/>
        </p:nvSpPr>
        <p:spPr>
          <a:xfrm>
            <a:off x="1627699" y="2331674"/>
            <a:ext cx="8741664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9">
            <a:extLst>
              <a:ext uri="{FF2B5EF4-FFF2-40B4-BE49-F238E27FC236}">
                <a16:creationId xmlns:a16="http://schemas.microsoft.com/office/drawing/2014/main" id="{6EB7BBF1-1677-4C1F-A909-9984FB844579}"/>
              </a:ext>
            </a:extLst>
          </p:cNvPr>
          <p:cNvSpPr/>
          <p:nvPr/>
        </p:nvSpPr>
        <p:spPr>
          <a:xfrm>
            <a:off x="1664275" y="2432258"/>
            <a:ext cx="118872" cy="118872"/>
          </a:xfrm>
          <a:prstGeom prst="ellipse">
            <a:avLst/>
          </a:prstGeom>
          <a:solidFill>
            <a:srgbClr val="1659A8"/>
          </a:solidFill>
          <a:ln w="12700">
            <a:solidFill>
              <a:srgbClr val="1659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10">
            <a:extLst>
              <a:ext uri="{FF2B5EF4-FFF2-40B4-BE49-F238E27FC236}">
                <a16:creationId xmlns:a16="http://schemas.microsoft.com/office/drawing/2014/main" id="{013C3366-F2DA-DA4B-F2EB-9EE224FBA777}"/>
              </a:ext>
            </a:extLst>
          </p:cNvPr>
          <p:cNvSpPr/>
          <p:nvPr/>
        </p:nvSpPr>
        <p:spPr>
          <a:xfrm>
            <a:off x="1847155" y="2331674"/>
            <a:ext cx="3840480" cy="3200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Universo, elegibilidade e exclusões</a:t>
            </a:r>
            <a:endParaRPr lang="en-US" sz="900" dirty="0"/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F3DA2B24-939D-CEE7-488B-2E968C4EAA03}"/>
              </a:ext>
            </a:extLst>
          </p:cNvPr>
          <p:cNvSpPr/>
          <p:nvPr/>
        </p:nvSpPr>
        <p:spPr>
          <a:xfrm>
            <a:off x="5724211" y="2331674"/>
            <a:ext cx="4590288" cy="3200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B5F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transformation/dbt_projects/models/intermediate/int_people_monthly.sql</a:t>
            </a:r>
            <a:endParaRPr lang="en-US" sz="850" dirty="0"/>
          </a:p>
        </p:txBody>
      </p:sp>
      <p:sp>
        <p:nvSpPr>
          <p:cNvPr id="11" name="Shape 12">
            <a:extLst>
              <a:ext uri="{FF2B5EF4-FFF2-40B4-BE49-F238E27FC236}">
                <a16:creationId xmlns:a16="http://schemas.microsoft.com/office/drawing/2014/main" id="{6FAC2842-549B-DDF4-99B4-E7B4B0AAF13F}"/>
              </a:ext>
            </a:extLst>
          </p:cNvPr>
          <p:cNvSpPr/>
          <p:nvPr/>
        </p:nvSpPr>
        <p:spPr>
          <a:xfrm>
            <a:off x="1627699" y="2679146"/>
            <a:ext cx="8741664" cy="320040"/>
          </a:xfrm>
          <a:prstGeom prst="rect">
            <a:avLst/>
          </a:prstGeom>
          <a:solidFill>
            <a:srgbClr val="F0F4FA"/>
          </a:solidFill>
          <a:ln w="1270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3">
            <a:extLst>
              <a:ext uri="{FF2B5EF4-FFF2-40B4-BE49-F238E27FC236}">
                <a16:creationId xmlns:a16="http://schemas.microsoft.com/office/drawing/2014/main" id="{C7EE9E68-5648-04BA-6D8B-5CF77A087BE9}"/>
              </a:ext>
            </a:extLst>
          </p:cNvPr>
          <p:cNvSpPr/>
          <p:nvPr/>
        </p:nvSpPr>
        <p:spPr>
          <a:xfrm>
            <a:off x="1664275" y="2779730"/>
            <a:ext cx="118872" cy="118872"/>
          </a:xfrm>
          <a:prstGeom prst="ellipse">
            <a:avLst/>
          </a:prstGeom>
          <a:solidFill>
            <a:srgbClr val="1659A8"/>
          </a:solidFill>
          <a:ln w="12700">
            <a:solidFill>
              <a:srgbClr val="1659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4">
            <a:extLst>
              <a:ext uri="{FF2B5EF4-FFF2-40B4-BE49-F238E27FC236}">
                <a16:creationId xmlns:a16="http://schemas.microsoft.com/office/drawing/2014/main" id="{8E310D0C-5260-B0C4-493B-6CD3D48FD065}"/>
              </a:ext>
            </a:extLst>
          </p:cNvPr>
          <p:cNvSpPr/>
          <p:nvPr/>
        </p:nvSpPr>
        <p:spPr>
          <a:xfrm>
            <a:off x="1847155" y="2679146"/>
            <a:ext cx="3840480" cy="3200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Dicionário de 7 métricas</a:t>
            </a:r>
            <a:endParaRPr lang="en-US" sz="900" dirty="0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78045007-5136-16C0-B920-C31AA3475161}"/>
              </a:ext>
            </a:extLst>
          </p:cNvPr>
          <p:cNvSpPr/>
          <p:nvPr/>
        </p:nvSpPr>
        <p:spPr>
          <a:xfrm>
            <a:off x="5724211" y="2679146"/>
            <a:ext cx="4590288" cy="3200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B5F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docs/metrics_layer.md · agg_ddi_month.sql · Slide 4 da defesa</a:t>
            </a:r>
            <a:endParaRPr lang="en-US" sz="850" dirty="0"/>
          </a:p>
        </p:txBody>
      </p:sp>
      <p:sp>
        <p:nvSpPr>
          <p:cNvPr id="21" name="Shape 16">
            <a:extLst>
              <a:ext uri="{FF2B5EF4-FFF2-40B4-BE49-F238E27FC236}">
                <a16:creationId xmlns:a16="http://schemas.microsoft.com/office/drawing/2014/main" id="{287C8FCA-F703-4315-C408-48D408C42562}"/>
              </a:ext>
            </a:extLst>
          </p:cNvPr>
          <p:cNvSpPr/>
          <p:nvPr/>
        </p:nvSpPr>
        <p:spPr>
          <a:xfrm>
            <a:off x="1627699" y="3026618"/>
            <a:ext cx="8741664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17">
            <a:extLst>
              <a:ext uri="{FF2B5EF4-FFF2-40B4-BE49-F238E27FC236}">
                <a16:creationId xmlns:a16="http://schemas.microsoft.com/office/drawing/2014/main" id="{46B435B0-001B-54CF-7534-5294B820BA88}"/>
              </a:ext>
            </a:extLst>
          </p:cNvPr>
          <p:cNvSpPr/>
          <p:nvPr/>
        </p:nvSpPr>
        <p:spPr>
          <a:xfrm>
            <a:off x="1664275" y="3127202"/>
            <a:ext cx="118872" cy="118872"/>
          </a:xfrm>
          <a:prstGeom prst="ellipse">
            <a:avLst/>
          </a:prstGeom>
          <a:solidFill>
            <a:srgbClr val="1659A8"/>
          </a:solidFill>
          <a:ln w="12700">
            <a:solidFill>
              <a:srgbClr val="1659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204385D7-5305-A969-E14D-8B593B8EAB00}"/>
              </a:ext>
            </a:extLst>
          </p:cNvPr>
          <p:cNvSpPr/>
          <p:nvPr/>
        </p:nvSpPr>
        <p:spPr>
          <a:xfrm>
            <a:off x="1847155" y="3026618"/>
            <a:ext cx="3840480" cy="3200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— 3 meses consecutivos</a:t>
            </a:r>
            <a:endParaRPr lang="en-US" sz="900" dirty="0"/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18029BEC-59CE-E301-9538-D28578769006}"/>
              </a:ext>
            </a:extLst>
          </p:cNvPr>
          <p:cNvSpPr/>
          <p:nvPr/>
        </p:nvSpPr>
        <p:spPr>
          <a:xfrm>
            <a:off x="5724211" y="3026618"/>
            <a:ext cx="4590288" cy="3200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B5F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models/intermediate/int_user_streak.sql · Slide 5 da defesa</a:t>
            </a:r>
            <a:endParaRPr lang="en-US" sz="850" dirty="0"/>
          </a:p>
        </p:txBody>
      </p:sp>
      <p:sp>
        <p:nvSpPr>
          <p:cNvPr id="25" name="Shape 20">
            <a:extLst>
              <a:ext uri="{FF2B5EF4-FFF2-40B4-BE49-F238E27FC236}">
                <a16:creationId xmlns:a16="http://schemas.microsoft.com/office/drawing/2014/main" id="{917FF58A-43D8-D8B4-46AD-63C476FF0930}"/>
              </a:ext>
            </a:extLst>
          </p:cNvPr>
          <p:cNvSpPr/>
          <p:nvPr/>
        </p:nvSpPr>
        <p:spPr>
          <a:xfrm>
            <a:off x="1627699" y="3374090"/>
            <a:ext cx="8741664" cy="320040"/>
          </a:xfrm>
          <a:prstGeom prst="rect">
            <a:avLst/>
          </a:prstGeom>
          <a:solidFill>
            <a:srgbClr val="F0F4FA"/>
          </a:solidFill>
          <a:ln w="1270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1">
            <a:extLst>
              <a:ext uri="{FF2B5EF4-FFF2-40B4-BE49-F238E27FC236}">
                <a16:creationId xmlns:a16="http://schemas.microsoft.com/office/drawing/2014/main" id="{D88EF35E-1A6E-6919-FEE3-1B921E0C9BA6}"/>
              </a:ext>
            </a:extLst>
          </p:cNvPr>
          <p:cNvSpPr/>
          <p:nvPr/>
        </p:nvSpPr>
        <p:spPr>
          <a:xfrm>
            <a:off x="1664275" y="3474674"/>
            <a:ext cx="118872" cy="118872"/>
          </a:xfrm>
          <a:prstGeom prst="ellipse">
            <a:avLst/>
          </a:prstGeom>
          <a:solidFill>
            <a:srgbClr val="1659A8"/>
          </a:solidFill>
          <a:ln w="12700">
            <a:solidFill>
              <a:srgbClr val="1659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2">
            <a:extLst>
              <a:ext uri="{FF2B5EF4-FFF2-40B4-BE49-F238E27FC236}">
                <a16:creationId xmlns:a16="http://schemas.microsoft.com/office/drawing/2014/main" id="{379359B5-1884-B41C-3BA1-1CAC5EC55514}"/>
              </a:ext>
            </a:extLst>
          </p:cNvPr>
          <p:cNvSpPr/>
          <p:nvPr/>
        </p:nvSpPr>
        <p:spPr>
          <a:xfrm>
            <a:off x="1847155" y="3374090"/>
            <a:ext cx="3840480" cy="3200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Camadas Medallion + granularidade Silver/Gold</a:t>
            </a:r>
            <a:endParaRPr lang="en-US" sz="900" dirty="0"/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A5DBF808-E7A4-3B28-99E2-DB599616909C}"/>
              </a:ext>
            </a:extLst>
          </p:cNvPr>
          <p:cNvSpPr/>
          <p:nvPr/>
        </p:nvSpPr>
        <p:spPr>
          <a:xfrm>
            <a:off x="5724211" y="3374090"/>
            <a:ext cx="4590288" cy="3200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B5F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transformation/dbt_projects/models/ · docs/architecture.md</a:t>
            </a:r>
            <a:endParaRPr lang="en-US" sz="850" dirty="0"/>
          </a:p>
        </p:txBody>
      </p:sp>
      <p:sp>
        <p:nvSpPr>
          <p:cNvPr id="29" name="Shape 24">
            <a:extLst>
              <a:ext uri="{FF2B5EF4-FFF2-40B4-BE49-F238E27FC236}">
                <a16:creationId xmlns:a16="http://schemas.microsoft.com/office/drawing/2014/main" id="{9006E6E0-7F1B-B7A0-BD1B-3A65DDFBA349}"/>
              </a:ext>
            </a:extLst>
          </p:cNvPr>
          <p:cNvSpPr/>
          <p:nvPr/>
        </p:nvSpPr>
        <p:spPr>
          <a:xfrm>
            <a:off x="1627699" y="3721562"/>
            <a:ext cx="8741664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Shape 25">
            <a:extLst>
              <a:ext uri="{FF2B5EF4-FFF2-40B4-BE49-F238E27FC236}">
                <a16:creationId xmlns:a16="http://schemas.microsoft.com/office/drawing/2014/main" id="{C7A9717B-5663-DFA2-53BB-266FA0A5D2FE}"/>
              </a:ext>
            </a:extLst>
          </p:cNvPr>
          <p:cNvSpPr/>
          <p:nvPr/>
        </p:nvSpPr>
        <p:spPr>
          <a:xfrm>
            <a:off x="1664275" y="3822146"/>
            <a:ext cx="118872" cy="118872"/>
          </a:xfrm>
          <a:prstGeom prst="ellipse">
            <a:avLst/>
          </a:prstGeom>
          <a:solidFill>
            <a:srgbClr val="1659A8"/>
          </a:solidFill>
          <a:ln w="12700">
            <a:solidFill>
              <a:srgbClr val="1659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6">
            <a:extLst>
              <a:ext uri="{FF2B5EF4-FFF2-40B4-BE49-F238E27FC236}">
                <a16:creationId xmlns:a16="http://schemas.microsoft.com/office/drawing/2014/main" id="{19ECF552-6972-FD42-5935-88419D5EBFB9}"/>
              </a:ext>
            </a:extLst>
          </p:cNvPr>
          <p:cNvSpPr/>
          <p:nvPr/>
        </p:nvSpPr>
        <p:spPr>
          <a:xfrm>
            <a:off x="1847155" y="3721562"/>
            <a:ext cx="3840480" cy="3200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(duplicidade + accepted_values)</a:t>
            </a:r>
            <a:endParaRPr lang="en-US" sz="900" dirty="0"/>
          </a:p>
        </p:txBody>
      </p:sp>
      <p:sp>
        <p:nvSpPr>
          <p:cNvPr id="32" name="Text 27">
            <a:extLst>
              <a:ext uri="{FF2B5EF4-FFF2-40B4-BE49-F238E27FC236}">
                <a16:creationId xmlns:a16="http://schemas.microsoft.com/office/drawing/2014/main" id="{6717372B-DA5B-604F-FFEB-80CC5C1643A8}"/>
              </a:ext>
            </a:extLst>
          </p:cNvPr>
          <p:cNvSpPr/>
          <p:nvPr/>
        </p:nvSpPr>
        <p:spPr>
          <a:xfrm>
            <a:off x="5724211" y="3721562"/>
            <a:ext cx="4590288" cy="3200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B5F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models/**/schema.yml · tests/assert_*.sql · tests/test_warehouse_integration.py</a:t>
            </a:r>
            <a:endParaRPr lang="en-US" sz="850" dirty="0"/>
          </a:p>
        </p:txBody>
      </p:sp>
      <p:sp>
        <p:nvSpPr>
          <p:cNvPr id="33" name="Shape 28">
            <a:extLst>
              <a:ext uri="{FF2B5EF4-FFF2-40B4-BE49-F238E27FC236}">
                <a16:creationId xmlns:a16="http://schemas.microsoft.com/office/drawing/2014/main" id="{3B266C5D-0E7A-78F0-4DA1-2DE1C143EF74}"/>
              </a:ext>
            </a:extLst>
          </p:cNvPr>
          <p:cNvSpPr/>
          <p:nvPr/>
        </p:nvSpPr>
        <p:spPr>
          <a:xfrm>
            <a:off x="1627699" y="4069034"/>
            <a:ext cx="8741664" cy="320040"/>
          </a:xfrm>
          <a:prstGeom prst="rect">
            <a:avLst/>
          </a:prstGeom>
          <a:solidFill>
            <a:srgbClr val="F0F4FA"/>
          </a:solidFill>
          <a:ln w="1270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3F797486-B5FB-F0AA-2B6D-FA5A03E446A9}"/>
              </a:ext>
            </a:extLst>
          </p:cNvPr>
          <p:cNvSpPr/>
          <p:nvPr/>
        </p:nvSpPr>
        <p:spPr>
          <a:xfrm>
            <a:off x="1664275" y="4169618"/>
            <a:ext cx="118872" cy="118872"/>
          </a:xfrm>
          <a:prstGeom prst="ellipse">
            <a:avLst/>
          </a:prstGeom>
          <a:solidFill>
            <a:srgbClr val="1659A8"/>
          </a:solidFill>
          <a:ln w="12700">
            <a:solidFill>
              <a:srgbClr val="1659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30">
            <a:extLst>
              <a:ext uri="{FF2B5EF4-FFF2-40B4-BE49-F238E27FC236}">
                <a16:creationId xmlns:a16="http://schemas.microsoft.com/office/drawing/2014/main" id="{984A7CCF-B6EB-FE74-6C42-1189AA9D42E9}"/>
              </a:ext>
            </a:extLst>
          </p:cNvPr>
          <p:cNvSpPr/>
          <p:nvPr/>
        </p:nvSpPr>
        <p:spPr>
          <a:xfrm>
            <a:off x="1847155" y="4069034"/>
            <a:ext cx="3840480" cy="3200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 boas práticas</a:t>
            </a:r>
            <a:endParaRPr lang="en-US" sz="900" dirty="0"/>
          </a:p>
        </p:txBody>
      </p:sp>
      <p:sp>
        <p:nvSpPr>
          <p:cNvPr id="36" name="Text 31">
            <a:extLst>
              <a:ext uri="{FF2B5EF4-FFF2-40B4-BE49-F238E27FC236}">
                <a16:creationId xmlns:a16="http://schemas.microsoft.com/office/drawing/2014/main" id="{C0E5CADA-5DE7-5775-472E-D18D3971516E}"/>
              </a:ext>
            </a:extLst>
          </p:cNvPr>
          <p:cNvSpPr/>
          <p:nvPr/>
        </p:nvSpPr>
        <p:spPr>
          <a:xfrm>
            <a:off x="5724211" y="4069034"/>
            <a:ext cx="4590288" cy="3200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B5F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docs/decisions.md · docker/sql/bootstrap_ddl.sql (índices)</a:t>
            </a:r>
            <a:endParaRPr lang="en-US" sz="850" dirty="0"/>
          </a:p>
        </p:txBody>
      </p:sp>
      <p:sp>
        <p:nvSpPr>
          <p:cNvPr id="37" name="Shape 32">
            <a:extLst>
              <a:ext uri="{FF2B5EF4-FFF2-40B4-BE49-F238E27FC236}">
                <a16:creationId xmlns:a16="http://schemas.microsoft.com/office/drawing/2014/main" id="{9863E374-BCDB-CA07-010C-CE8C36292C60}"/>
              </a:ext>
            </a:extLst>
          </p:cNvPr>
          <p:cNvSpPr/>
          <p:nvPr/>
        </p:nvSpPr>
        <p:spPr>
          <a:xfrm>
            <a:off x="1627699" y="4416506"/>
            <a:ext cx="8741664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Shape 33">
            <a:extLst>
              <a:ext uri="{FF2B5EF4-FFF2-40B4-BE49-F238E27FC236}">
                <a16:creationId xmlns:a16="http://schemas.microsoft.com/office/drawing/2014/main" id="{480A3511-B5C1-3AD8-CA26-8FF6486C8BF5}"/>
              </a:ext>
            </a:extLst>
          </p:cNvPr>
          <p:cNvSpPr/>
          <p:nvPr/>
        </p:nvSpPr>
        <p:spPr>
          <a:xfrm>
            <a:off x="1664275" y="4517090"/>
            <a:ext cx="118872" cy="118872"/>
          </a:xfrm>
          <a:prstGeom prst="ellipse">
            <a:avLst/>
          </a:prstGeom>
          <a:solidFill>
            <a:srgbClr val="1659A8"/>
          </a:solidFill>
          <a:ln w="12700">
            <a:solidFill>
              <a:srgbClr val="1659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Text 34">
            <a:extLst>
              <a:ext uri="{FF2B5EF4-FFF2-40B4-BE49-F238E27FC236}">
                <a16:creationId xmlns:a16="http://schemas.microsoft.com/office/drawing/2014/main" id="{853829CA-788F-AC69-B31F-8481314E88E2}"/>
              </a:ext>
            </a:extLst>
          </p:cNvPr>
          <p:cNvSpPr/>
          <p:nvPr/>
        </p:nvSpPr>
        <p:spPr>
          <a:xfrm>
            <a:off x="1847155" y="4416506"/>
            <a:ext cx="3840480" cy="3200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3.1.1 tabela agregada com dimensões</a:t>
            </a:r>
            <a:endParaRPr lang="en-US" sz="900" dirty="0"/>
          </a:p>
        </p:txBody>
      </p:sp>
      <p:sp>
        <p:nvSpPr>
          <p:cNvPr id="40" name="Text 35">
            <a:extLst>
              <a:ext uri="{FF2B5EF4-FFF2-40B4-BE49-F238E27FC236}">
                <a16:creationId xmlns:a16="http://schemas.microsoft.com/office/drawing/2014/main" id="{6D6A508D-902B-8F0F-2FE9-58484A04444A}"/>
              </a:ext>
            </a:extLst>
          </p:cNvPr>
          <p:cNvSpPr/>
          <p:nvPr/>
        </p:nvSpPr>
        <p:spPr>
          <a:xfrm>
            <a:off x="5724211" y="4416506"/>
            <a:ext cx="4590288" cy="3200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B5F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models/marts/agg_ddi_month.sql (SELECT das dimensões)</a:t>
            </a:r>
            <a:endParaRPr lang="en-US" sz="850" dirty="0"/>
          </a:p>
        </p:txBody>
      </p:sp>
      <p:sp>
        <p:nvSpPr>
          <p:cNvPr id="41" name="Shape 36">
            <a:extLst>
              <a:ext uri="{FF2B5EF4-FFF2-40B4-BE49-F238E27FC236}">
                <a16:creationId xmlns:a16="http://schemas.microsoft.com/office/drawing/2014/main" id="{81421D9E-242C-EB0C-6F71-B89FCE1422CA}"/>
              </a:ext>
            </a:extLst>
          </p:cNvPr>
          <p:cNvSpPr/>
          <p:nvPr/>
        </p:nvSpPr>
        <p:spPr>
          <a:xfrm>
            <a:off x="1627699" y="4763978"/>
            <a:ext cx="8741664" cy="320040"/>
          </a:xfrm>
          <a:prstGeom prst="rect">
            <a:avLst/>
          </a:prstGeom>
          <a:solidFill>
            <a:srgbClr val="F0F4FA"/>
          </a:solidFill>
          <a:ln w="1270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Shape 37">
            <a:extLst>
              <a:ext uri="{FF2B5EF4-FFF2-40B4-BE49-F238E27FC236}">
                <a16:creationId xmlns:a16="http://schemas.microsoft.com/office/drawing/2014/main" id="{4EE796A2-8C52-13E2-5666-7E7977A37172}"/>
              </a:ext>
            </a:extLst>
          </p:cNvPr>
          <p:cNvSpPr/>
          <p:nvPr/>
        </p:nvSpPr>
        <p:spPr>
          <a:xfrm>
            <a:off x="1664275" y="4864562"/>
            <a:ext cx="118872" cy="118872"/>
          </a:xfrm>
          <a:prstGeom prst="ellipse">
            <a:avLst/>
          </a:prstGeom>
          <a:solidFill>
            <a:srgbClr val="1659A8"/>
          </a:solidFill>
          <a:ln w="12700">
            <a:solidFill>
              <a:srgbClr val="1659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" name="Text 38">
            <a:extLst>
              <a:ext uri="{FF2B5EF4-FFF2-40B4-BE49-F238E27FC236}">
                <a16:creationId xmlns:a16="http://schemas.microsoft.com/office/drawing/2014/main" id="{9D6C062E-4C66-5A93-4DD9-14E712FD107E}"/>
              </a:ext>
            </a:extLst>
          </p:cNvPr>
          <p:cNvSpPr/>
          <p:nvPr/>
        </p:nvSpPr>
        <p:spPr>
          <a:xfrm>
            <a:off x="1847155" y="4763978"/>
            <a:ext cx="3840480" cy="3200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3.1.2 métricas calculadas</a:t>
            </a:r>
            <a:endParaRPr lang="en-US" sz="900" dirty="0"/>
          </a:p>
        </p:txBody>
      </p:sp>
      <p:sp>
        <p:nvSpPr>
          <p:cNvPr id="44" name="Text 39">
            <a:extLst>
              <a:ext uri="{FF2B5EF4-FFF2-40B4-BE49-F238E27FC236}">
                <a16:creationId xmlns:a16="http://schemas.microsoft.com/office/drawing/2014/main" id="{ACCE8F92-2300-4C58-A8AD-209C316AE979}"/>
              </a:ext>
            </a:extLst>
          </p:cNvPr>
          <p:cNvSpPr/>
          <p:nvPr/>
        </p:nvSpPr>
        <p:spPr>
          <a:xfrm>
            <a:off x="5724211" y="4763978"/>
            <a:ext cx="4590288" cy="3200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B5F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models/marts/agg_ddi_month.sql (CTEs com_cov, with_share, final)</a:t>
            </a:r>
            <a:endParaRPr lang="en-US" sz="850" dirty="0"/>
          </a:p>
        </p:txBody>
      </p:sp>
      <p:sp>
        <p:nvSpPr>
          <p:cNvPr id="45" name="Shape 40">
            <a:extLst>
              <a:ext uri="{FF2B5EF4-FFF2-40B4-BE49-F238E27FC236}">
                <a16:creationId xmlns:a16="http://schemas.microsoft.com/office/drawing/2014/main" id="{ACAE78C3-CEBF-5992-635F-330616618343}"/>
              </a:ext>
            </a:extLst>
          </p:cNvPr>
          <p:cNvSpPr/>
          <p:nvPr/>
        </p:nvSpPr>
        <p:spPr>
          <a:xfrm>
            <a:off x="1627699" y="5111450"/>
            <a:ext cx="8741664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6" name="Shape 41">
            <a:extLst>
              <a:ext uri="{FF2B5EF4-FFF2-40B4-BE49-F238E27FC236}">
                <a16:creationId xmlns:a16="http://schemas.microsoft.com/office/drawing/2014/main" id="{BA9978B3-D818-ACCE-2879-9DAEA2F0CC14}"/>
              </a:ext>
            </a:extLst>
          </p:cNvPr>
          <p:cNvSpPr/>
          <p:nvPr/>
        </p:nvSpPr>
        <p:spPr>
          <a:xfrm>
            <a:off x="1664275" y="5212034"/>
            <a:ext cx="118872" cy="118872"/>
          </a:xfrm>
          <a:prstGeom prst="ellipse">
            <a:avLst/>
          </a:prstGeom>
          <a:solidFill>
            <a:srgbClr val="1659A8"/>
          </a:solidFill>
          <a:ln w="12700">
            <a:solidFill>
              <a:srgbClr val="1659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7" name="Text 42">
            <a:extLst>
              <a:ext uri="{FF2B5EF4-FFF2-40B4-BE49-F238E27FC236}">
                <a16:creationId xmlns:a16="http://schemas.microsoft.com/office/drawing/2014/main" id="{32A601FB-9E98-1DB4-8EA2-F79B162655DF}"/>
              </a:ext>
            </a:extLst>
          </p:cNvPr>
          <p:cNvSpPr/>
          <p:nvPr/>
        </p:nvSpPr>
        <p:spPr>
          <a:xfrm>
            <a:off x="1847155" y="5111450"/>
            <a:ext cx="3840480" cy="3200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/ Duplicidade / WHERE vs ON / DISTINCT ON</a:t>
            </a:r>
            <a:endParaRPr lang="en-US" sz="900" dirty="0"/>
          </a:p>
        </p:txBody>
      </p:sp>
      <p:sp>
        <p:nvSpPr>
          <p:cNvPr id="48" name="Text 43">
            <a:extLst>
              <a:ext uri="{FF2B5EF4-FFF2-40B4-BE49-F238E27FC236}">
                <a16:creationId xmlns:a16="http://schemas.microsoft.com/office/drawing/2014/main" id="{DC441E74-E161-C065-201B-E05A28BC6200}"/>
              </a:ext>
            </a:extLst>
          </p:cNvPr>
          <p:cNvSpPr/>
          <p:nvPr/>
        </p:nvSpPr>
        <p:spPr>
          <a:xfrm>
            <a:off x="5724211" y="5111450"/>
            <a:ext cx="4590288" cy="3200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B5F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docs/Respostas.md · Seção 3.2 · Slides 9–11 da defesa</a:t>
            </a:r>
            <a:endParaRPr lang="en-US" sz="850" dirty="0"/>
          </a:p>
        </p:txBody>
      </p:sp>
      <p:sp>
        <p:nvSpPr>
          <p:cNvPr id="49" name="Shape 44">
            <a:extLst>
              <a:ext uri="{FF2B5EF4-FFF2-40B4-BE49-F238E27FC236}">
                <a16:creationId xmlns:a16="http://schemas.microsoft.com/office/drawing/2014/main" id="{D85EA0A8-9933-734E-4D54-D8818A1FF3E4}"/>
              </a:ext>
            </a:extLst>
          </p:cNvPr>
          <p:cNvSpPr/>
          <p:nvPr/>
        </p:nvSpPr>
        <p:spPr>
          <a:xfrm>
            <a:off x="1627699" y="5458922"/>
            <a:ext cx="8741664" cy="320040"/>
          </a:xfrm>
          <a:prstGeom prst="rect">
            <a:avLst/>
          </a:prstGeom>
          <a:solidFill>
            <a:srgbClr val="F0F4FA"/>
          </a:solidFill>
          <a:ln w="1270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0" name="Shape 45">
            <a:extLst>
              <a:ext uri="{FF2B5EF4-FFF2-40B4-BE49-F238E27FC236}">
                <a16:creationId xmlns:a16="http://schemas.microsoft.com/office/drawing/2014/main" id="{4A08F315-FCB0-2711-C6D1-FE5509828DB0}"/>
              </a:ext>
            </a:extLst>
          </p:cNvPr>
          <p:cNvSpPr/>
          <p:nvPr/>
        </p:nvSpPr>
        <p:spPr>
          <a:xfrm>
            <a:off x="1664275" y="5559506"/>
            <a:ext cx="118872" cy="118872"/>
          </a:xfrm>
          <a:prstGeom prst="ellipse">
            <a:avLst/>
          </a:prstGeom>
          <a:solidFill>
            <a:srgbClr val="1659A8"/>
          </a:solidFill>
          <a:ln w="12700">
            <a:solidFill>
              <a:srgbClr val="1659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1" name="Text 46">
            <a:extLst>
              <a:ext uri="{FF2B5EF4-FFF2-40B4-BE49-F238E27FC236}">
                <a16:creationId xmlns:a16="http://schemas.microsoft.com/office/drawing/2014/main" id="{D11C689D-E791-90D5-3469-C00931B07D59}"/>
              </a:ext>
            </a:extLst>
          </p:cNvPr>
          <p:cNvSpPr/>
          <p:nvPr/>
        </p:nvSpPr>
        <p:spPr>
          <a:xfrm>
            <a:off x="1847155" y="5458922"/>
            <a:ext cx="3840480" cy="3200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Mockup / wireframe do dashboard</a:t>
            </a:r>
            <a:endParaRPr lang="en-US" sz="900" dirty="0"/>
          </a:p>
        </p:txBody>
      </p:sp>
      <p:sp>
        <p:nvSpPr>
          <p:cNvPr id="52" name="Text 47">
            <a:extLst>
              <a:ext uri="{FF2B5EF4-FFF2-40B4-BE49-F238E27FC236}">
                <a16:creationId xmlns:a16="http://schemas.microsoft.com/office/drawing/2014/main" id="{773E9C01-0E19-F406-4C31-BCB8C5913CE9}"/>
              </a:ext>
            </a:extLst>
          </p:cNvPr>
          <p:cNvSpPr/>
          <p:nvPr/>
        </p:nvSpPr>
        <p:spPr>
          <a:xfrm>
            <a:off x="5724211" y="5458922"/>
            <a:ext cx="4590288" cy="3200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B5F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serving/streamlit/pages/ · serving/powerbi/ · Slides 10–12 da defesa</a:t>
            </a:r>
            <a:endParaRPr lang="en-US" sz="850" dirty="0"/>
          </a:p>
        </p:txBody>
      </p:sp>
      <p:sp>
        <p:nvSpPr>
          <p:cNvPr id="53" name="Shape 48">
            <a:extLst>
              <a:ext uri="{FF2B5EF4-FFF2-40B4-BE49-F238E27FC236}">
                <a16:creationId xmlns:a16="http://schemas.microsoft.com/office/drawing/2014/main" id="{26E44950-0781-7DE5-97C1-DBFFFF1D0040}"/>
              </a:ext>
            </a:extLst>
          </p:cNvPr>
          <p:cNvSpPr/>
          <p:nvPr/>
        </p:nvSpPr>
        <p:spPr>
          <a:xfrm>
            <a:off x="1627699" y="5806394"/>
            <a:ext cx="8741664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4" name="Shape 49">
            <a:extLst>
              <a:ext uri="{FF2B5EF4-FFF2-40B4-BE49-F238E27FC236}">
                <a16:creationId xmlns:a16="http://schemas.microsoft.com/office/drawing/2014/main" id="{7B47A585-EEEF-20DE-83BF-B7FF5C3618A4}"/>
              </a:ext>
            </a:extLst>
          </p:cNvPr>
          <p:cNvSpPr/>
          <p:nvPr/>
        </p:nvSpPr>
        <p:spPr>
          <a:xfrm>
            <a:off x="1664275" y="5906978"/>
            <a:ext cx="118872" cy="118872"/>
          </a:xfrm>
          <a:prstGeom prst="ellipse">
            <a:avLst/>
          </a:prstGeom>
          <a:solidFill>
            <a:srgbClr val="1659A8"/>
          </a:solidFill>
          <a:ln w="12700">
            <a:solidFill>
              <a:srgbClr val="1659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5" name="Text 50">
            <a:extLst>
              <a:ext uri="{FF2B5EF4-FFF2-40B4-BE49-F238E27FC236}">
                <a16:creationId xmlns:a16="http://schemas.microsoft.com/office/drawing/2014/main" id="{6057DEC9-7CD1-240A-FC77-513900F8FA4A}"/>
              </a:ext>
            </a:extLst>
          </p:cNvPr>
          <p:cNvSpPr/>
          <p:nvPr/>
        </p:nvSpPr>
        <p:spPr>
          <a:xfrm>
            <a:off x="1847155" y="5806394"/>
            <a:ext cx="3840480" cy="3200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Orquestração mensal</a:t>
            </a:r>
            <a:endParaRPr lang="en-US" sz="900" dirty="0"/>
          </a:p>
        </p:txBody>
      </p:sp>
      <p:sp>
        <p:nvSpPr>
          <p:cNvPr id="56" name="Text 51">
            <a:extLst>
              <a:ext uri="{FF2B5EF4-FFF2-40B4-BE49-F238E27FC236}">
                <a16:creationId xmlns:a16="http://schemas.microsoft.com/office/drawing/2014/main" id="{B227F364-5933-FB28-A790-FC9E62287A6E}"/>
              </a:ext>
            </a:extLst>
          </p:cNvPr>
          <p:cNvSpPr/>
          <p:nvPr/>
        </p:nvSpPr>
        <p:spPr>
          <a:xfrm>
            <a:off x="5724211" y="5806394"/>
            <a:ext cx="4590288" cy="3200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B5F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orchestration/airflow/dags/ddi_pipeline.py · docker/docker-compose.yml</a:t>
            </a:r>
            <a:endParaRPr lang="en-US" sz="850" dirty="0"/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33D3BAFF-5B77-0613-A5AA-606025764721}"/>
              </a:ext>
            </a:extLst>
          </p:cNvPr>
          <p:cNvSpPr txBox="1"/>
          <p:nvPr/>
        </p:nvSpPr>
        <p:spPr>
          <a:xfrm>
            <a:off x="705527" y="1155764"/>
            <a:ext cx="43428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Mapeamento de Entregáveis x Repositório</a:t>
            </a:r>
          </a:p>
        </p:txBody>
      </p:sp>
    </p:spTree>
    <p:extLst>
      <p:ext uri="{BB962C8B-B14F-4D97-AF65-F5344CB8AC3E}">
        <p14:creationId xmlns:p14="http://schemas.microsoft.com/office/powerpoint/2010/main" val="26786338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33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93405B-B75C-09FC-5164-D48F62C9F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AF81B46B-1373-9917-82EF-0B81ED585DB1}"/>
              </a:ext>
            </a:extLst>
          </p:cNvPr>
          <p:cNvSpPr/>
          <p:nvPr/>
        </p:nvSpPr>
        <p:spPr>
          <a:xfrm>
            <a:off x="215018" y="1074479"/>
            <a:ext cx="3024836" cy="17490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23000">
                <a:srgbClr val="84B9EB"/>
              </a:gs>
              <a:gs pos="54000">
                <a:srgbClr val="F5EB3F"/>
              </a:gs>
            </a:gsLst>
            <a:lin ang="0" scaled="1"/>
            <a:tileRect/>
          </a:gradFill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30DF2EC-469B-1461-2F68-B2E29B63A1C2}"/>
              </a:ext>
            </a:extLst>
          </p:cNvPr>
          <p:cNvSpPr txBox="1"/>
          <p:nvPr/>
        </p:nvSpPr>
        <p:spPr>
          <a:xfrm>
            <a:off x="1801235" y="1957568"/>
            <a:ext cx="429476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chemeClr val="bg1"/>
                </a:solidFill>
              </a:rPr>
              <a:t>Respostas Completas</a:t>
            </a: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C63271D9-6DE8-D374-EF7F-28E7A0F60D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018" y="171631"/>
            <a:ext cx="2843932" cy="799856"/>
          </a:xfrm>
          <a:prstGeom prst="rect">
            <a:avLst/>
          </a:prstGeom>
        </p:spPr>
      </p:pic>
      <p:sp>
        <p:nvSpPr>
          <p:cNvPr id="16" name="Shape 1">
            <a:extLst>
              <a:ext uri="{FF2B5EF4-FFF2-40B4-BE49-F238E27FC236}">
                <a16:creationId xmlns:a16="http://schemas.microsoft.com/office/drawing/2014/main" id="{90FD917E-9F55-E2F8-9FB5-DE8061520CBA}"/>
              </a:ext>
            </a:extLst>
          </p:cNvPr>
          <p:cNvSpPr/>
          <p:nvPr/>
        </p:nvSpPr>
        <p:spPr>
          <a:xfrm>
            <a:off x="6814348" y="3847800"/>
            <a:ext cx="5818850" cy="5818850"/>
          </a:xfrm>
          <a:prstGeom prst="ellipse">
            <a:avLst/>
          </a:prstGeom>
          <a:solidFill>
            <a:srgbClr val="F5EB3F">
              <a:alpha val="45000"/>
            </a:srgbClr>
          </a:solidFill>
          <a:ln w="12700">
            <a:solidFill>
              <a:srgbClr val="1659A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7" name="Shape 2">
            <a:extLst>
              <a:ext uri="{FF2B5EF4-FFF2-40B4-BE49-F238E27FC236}">
                <a16:creationId xmlns:a16="http://schemas.microsoft.com/office/drawing/2014/main" id="{ABB5320B-FF2D-A0F0-8EC7-F82B78F7C2BA}"/>
              </a:ext>
            </a:extLst>
          </p:cNvPr>
          <p:cNvSpPr/>
          <p:nvPr/>
        </p:nvSpPr>
        <p:spPr>
          <a:xfrm>
            <a:off x="8836137" y="1810599"/>
            <a:ext cx="5174634" cy="5174634"/>
          </a:xfrm>
          <a:prstGeom prst="ellipse">
            <a:avLst/>
          </a:prstGeom>
          <a:solidFill>
            <a:srgbClr val="84B9EB">
              <a:alpha val="50000"/>
            </a:srgbClr>
          </a:solidFill>
          <a:ln w="12700">
            <a:solidFill>
              <a:srgbClr val="FFE60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A0464ACB-87D1-C579-B410-717368DF4F6D}"/>
              </a:ext>
            </a:extLst>
          </p:cNvPr>
          <p:cNvSpPr/>
          <p:nvPr/>
        </p:nvSpPr>
        <p:spPr>
          <a:xfrm>
            <a:off x="2566398" y="2360033"/>
            <a:ext cx="250469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500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DRIVEN INDEX</a:t>
            </a:r>
            <a:endParaRPr lang="en-US" sz="1300" dirty="0"/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FD941040-326F-1B4E-AE6F-0A727F4BEFE5}"/>
              </a:ext>
            </a:extLst>
          </p:cNvPr>
          <p:cNvSpPr/>
          <p:nvPr/>
        </p:nvSpPr>
        <p:spPr>
          <a:xfrm>
            <a:off x="168601" y="6529626"/>
            <a:ext cx="6561753" cy="2275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6A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Repositório: </a:t>
            </a:r>
            <a:r>
              <a:rPr lang="en-US" sz="1000" dirty="0">
                <a:solidFill>
                  <a:srgbClr val="6A85A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https://github.com/ersjunior/case_meli_ddi</a:t>
            </a:r>
            <a:r>
              <a:rPr lang="en-US" sz="1000" dirty="0">
                <a:solidFill>
                  <a:srgbClr val="6A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Dúvidas à disposição</a:t>
            </a:r>
            <a:endParaRPr lang="en-US" sz="1000" dirty="0"/>
          </a:p>
        </p:txBody>
      </p:sp>
      <p:sp>
        <p:nvSpPr>
          <p:cNvPr id="21" name="Shape 0">
            <a:extLst>
              <a:ext uri="{FF2B5EF4-FFF2-40B4-BE49-F238E27FC236}">
                <a16:creationId xmlns:a16="http://schemas.microsoft.com/office/drawing/2014/main" id="{9DCA8AE0-CBC7-D25D-9262-FA26F0A0DCC1}"/>
              </a:ext>
            </a:extLst>
          </p:cNvPr>
          <p:cNvSpPr/>
          <p:nvPr/>
        </p:nvSpPr>
        <p:spPr>
          <a:xfrm>
            <a:off x="0" y="0"/>
            <a:ext cx="49065" cy="6858000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56E78A14-8096-9D92-3288-4E43F1451630}"/>
              </a:ext>
            </a:extLst>
          </p:cNvPr>
          <p:cNvSpPr/>
          <p:nvPr/>
        </p:nvSpPr>
        <p:spPr>
          <a:xfrm>
            <a:off x="215018" y="3059181"/>
            <a:ext cx="2194560" cy="47548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B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seções respondidas</a:t>
            </a:r>
            <a:endParaRPr lang="en-US" sz="1000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CFCC5EB3-C0D8-41E0-C3D7-55EF5FE92CFB}"/>
              </a:ext>
            </a:extLst>
          </p:cNvPr>
          <p:cNvSpPr/>
          <p:nvPr/>
        </p:nvSpPr>
        <p:spPr>
          <a:xfrm>
            <a:off x="2638178" y="3059181"/>
            <a:ext cx="2194560" cy="47548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B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questões cobertas</a:t>
            </a:r>
            <a:endParaRPr lang="en-US" sz="100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5623871B-FF0F-DDE5-F4AB-844C2A0B714A}"/>
              </a:ext>
            </a:extLst>
          </p:cNvPr>
          <p:cNvSpPr/>
          <p:nvPr/>
        </p:nvSpPr>
        <p:spPr>
          <a:xfrm>
            <a:off x="5061338" y="3059181"/>
            <a:ext cx="2194560" cy="47548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B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métricas especificadas</a:t>
            </a:r>
            <a:endParaRPr lang="en-US" sz="1000" dirty="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A384D313-F99B-88FC-F09F-AABB84181284}"/>
              </a:ext>
            </a:extLst>
          </p:cNvPr>
          <p:cNvSpPr/>
          <p:nvPr/>
        </p:nvSpPr>
        <p:spPr>
          <a:xfrm>
            <a:off x="215018" y="3626109"/>
            <a:ext cx="2194560" cy="47548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B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SQLs implementados</a:t>
            </a:r>
            <a:endParaRPr lang="en-US" sz="1000" dirty="0"/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ED1FF6AB-DF35-7A92-BBC5-5654477C58FA}"/>
              </a:ext>
            </a:extLst>
          </p:cNvPr>
          <p:cNvSpPr/>
          <p:nvPr/>
        </p:nvSpPr>
        <p:spPr>
          <a:xfrm>
            <a:off x="2638178" y="3626109"/>
            <a:ext cx="2194560" cy="47548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B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páginas de dashboard</a:t>
            </a:r>
            <a:endParaRPr lang="en-US" sz="1000" dirty="0"/>
          </a:p>
        </p:txBody>
      </p:sp>
      <p:sp>
        <p:nvSpPr>
          <p:cNvPr id="22" name="Text 15">
            <a:extLst>
              <a:ext uri="{FF2B5EF4-FFF2-40B4-BE49-F238E27FC236}">
                <a16:creationId xmlns:a16="http://schemas.microsoft.com/office/drawing/2014/main" id="{76DF4AC9-AE3E-7DCC-EEEF-0225AFDBB94C}"/>
              </a:ext>
            </a:extLst>
          </p:cNvPr>
          <p:cNvSpPr/>
          <p:nvPr/>
        </p:nvSpPr>
        <p:spPr>
          <a:xfrm>
            <a:off x="5061338" y="3626109"/>
            <a:ext cx="2194560" cy="47548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B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+ Airflow + Docker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9432806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542</TotalTime>
  <Words>4479</Words>
  <Application>Microsoft Office PowerPoint</Application>
  <PresentationFormat>Widescreen</PresentationFormat>
  <Paragraphs>443</Paragraphs>
  <Slides>24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24</vt:i4>
      </vt:variant>
    </vt:vector>
  </HeadingPairs>
  <TitlesOfParts>
    <vt:vector size="30" baseType="lpstr">
      <vt:lpstr>Aptos</vt:lpstr>
      <vt:lpstr>Aptos Display</vt:lpstr>
      <vt:lpstr>Arial</vt:lpstr>
      <vt:lpstr>Calibri</vt:lpstr>
      <vt:lpstr>Consolas</vt:lpstr>
      <vt:lpstr>Tema do Office</vt:lpstr>
      <vt:lpstr>Apresentação do PowerPoint</vt:lpstr>
      <vt:lpstr>| Agenda</vt:lpstr>
      <vt:lpstr>Apresentação do PowerPoint</vt:lpstr>
      <vt:lpstr>| Introdução</vt:lpstr>
      <vt:lpstr>| Produto</vt:lpstr>
      <vt:lpstr>| Dicionário de métricas</vt:lpstr>
      <vt:lpstr>| Governança</vt:lpstr>
      <vt:lpstr>| Diagnóstico – Decisões que o dashboard atual não suporta</vt:lpstr>
      <vt:lpstr>Modelagem</vt:lpstr>
      <vt:lpstr>| Modelagem</vt:lpstr>
      <vt:lpstr>| Validação Mensal - Duplicidade + Classificação)</vt:lpstr>
      <vt:lpstr>| Práticas para Eficiência e Baixo Custo</vt:lpstr>
      <vt:lpstr>SQL</vt:lpstr>
      <vt:lpstr>| SQL</vt:lpstr>
      <vt:lpstr>| Exemplos com TB_DDI</vt:lpstr>
      <vt:lpstr>| Efeito, Detecção e Correção</vt:lpstr>
      <vt:lpstr>| Efeito e Exemplos</vt:lpstr>
      <vt:lpstr>| Aplicação em SQL</vt:lpstr>
      <vt:lpstr>Visualização &amp; Storytelling</vt:lpstr>
      <vt:lpstr>| Dashboard DDI</vt:lpstr>
      <vt:lpstr>| UX &amp; Storytelling</vt:lpstr>
      <vt:lpstr>| Microsoft Power Bi</vt:lpstr>
      <vt:lpstr>| Referência Rápida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Eliézer Ramos Silveira Junior</dc:creator>
  <cp:lastModifiedBy>Eliézer Ramos Silveira Junior</cp:lastModifiedBy>
  <cp:revision>2</cp:revision>
  <dcterms:created xsi:type="dcterms:W3CDTF">2026-04-21T13:57:20Z</dcterms:created>
  <dcterms:modified xsi:type="dcterms:W3CDTF">2026-04-21T23:00:10Z</dcterms:modified>
</cp:coreProperties>
</file>